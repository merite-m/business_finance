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314" r:id="rId2"/>
    <p:sldId id="258" r:id="rId3"/>
    <p:sldId id="257" r:id="rId4"/>
    <p:sldId id="261" r:id="rId5"/>
    <p:sldId id="263" r:id="rId6"/>
    <p:sldId id="262" r:id="rId7"/>
    <p:sldId id="264" r:id="rId8"/>
    <p:sldId id="265" r:id="rId9"/>
    <p:sldId id="266" r:id="rId10"/>
    <p:sldId id="276" r:id="rId11"/>
    <p:sldId id="268" r:id="rId12"/>
    <p:sldId id="271" r:id="rId13"/>
    <p:sldId id="269" r:id="rId14"/>
    <p:sldId id="272" r:id="rId15"/>
    <p:sldId id="273" r:id="rId16"/>
    <p:sldId id="274" r:id="rId17"/>
    <p:sldId id="275" r:id="rId18"/>
    <p:sldId id="277" r:id="rId19"/>
    <p:sldId id="278" r:id="rId20"/>
    <p:sldId id="279" r:id="rId21"/>
    <p:sldId id="281" r:id="rId22"/>
    <p:sldId id="319" r:id="rId23"/>
    <p:sldId id="320" r:id="rId24"/>
    <p:sldId id="283" r:id="rId25"/>
    <p:sldId id="284" r:id="rId26"/>
    <p:sldId id="285" r:id="rId27"/>
    <p:sldId id="286" r:id="rId28"/>
    <p:sldId id="308" r:id="rId29"/>
    <p:sldId id="307" r:id="rId30"/>
    <p:sldId id="287" r:id="rId31"/>
    <p:sldId id="288" r:id="rId32"/>
    <p:sldId id="289" r:id="rId33"/>
    <p:sldId id="310" r:id="rId34"/>
    <p:sldId id="312" r:id="rId35"/>
    <p:sldId id="311" r:id="rId36"/>
    <p:sldId id="306" r:id="rId37"/>
    <p:sldId id="313" r:id="rId38"/>
    <p:sldId id="290" r:id="rId39"/>
    <p:sldId id="291" r:id="rId40"/>
    <p:sldId id="292" r:id="rId41"/>
    <p:sldId id="293" r:id="rId42"/>
    <p:sldId id="294" r:id="rId43"/>
    <p:sldId id="295" r:id="rId44"/>
    <p:sldId id="296" r:id="rId45"/>
    <p:sldId id="297" r:id="rId46"/>
    <p:sldId id="298" r:id="rId47"/>
    <p:sldId id="299" r:id="rId48"/>
    <p:sldId id="301" r:id="rId49"/>
    <p:sldId id="315" r:id="rId50"/>
    <p:sldId id="316" r:id="rId51"/>
    <p:sldId id="318" r:id="rId52"/>
    <p:sldId id="303" r:id="rId53"/>
    <p:sldId id="302" r:id="rId54"/>
    <p:sldId id="322" r:id="rId55"/>
    <p:sldId id="321" r:id="rId56"/>
    <p:sldId id="323" r:id="rId57"/>
    <p:sldId id="325" r:id="rId58"/>
    <p:sldId id="304" r:id="rId59"/>
    <p:sldId id="305" r:id="rId60"/>
    <p:sldId id="329" r:id="rId61"/>
    <p:sldId id="326" r:id="rId62"/>
    <p:sldId id="327" r:id="rId63"/>
    <p:sldId id="328" r:id="rId64"/>
    <p:sldId id="330" r:id="rId65"/>
    <p:sldId id="331" r:id="rId66"/>
    <p:sldId id="332" r:id="rId67"/>
    <p:sldId id="333" r:id="rId68"/>
    <p:sldId id="334" r:id="rId69"/>
    <p:sldId id="336" r:id="rId70"/>
    <p:sldId id="337" r:id="rId71"/>
    <p:sldId id="338" r:id="rId72"/>
    <p:sldId id="340" r:id="rId73"/>
    <p:sldId id="341" r:id="rId74"/>
    <p:sldId id="342" r:id="rId75"/>
    <p:sldId id="343" r:id="rId76"/>
    <p:sldId id="344" r:id="rId77"/>
    <p:sldId id="345" r:id="rId78"/>
    <p:sldId id="346" r:id="rId79"/>
    <p:sldId id="347" r:id="rId80"/>
    <p:sldId id="348" r:id="rId81"/>
    <p:sldId id="349" r:id="rId82"/>
    <p:sldId id="350" r:id="rId83"/>
    <p:sldId id="351" r:id="rId84"/>
    <p:sldId id="352" r:id="rId85"/>
    <p:sldId id="353" r:id="rId86"/>
  </p:sldIdLst>
  <p:sldSz cx="9144000" cy="6858000" type="screen4x3"/>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6600"/>
    <a:srgbClr val="FF9900"/>
    <a:srgbClr val="FFCCFF"/>
    <a:srgbClr val="66FF33"/>
    <a:srgbClr val="FF66FF"/>
    <a:srgbClr val="00FFFF"/>
    <a:srgbClr val="008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36" y="19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en-MY"/>
          </a:p>
        </p:txBody>
      </p:sp>
      <p:sp>
        <p:nvSpPr>
          <p:cNvPr id="3" name="Date Placeholder 2"/>
          <p:cNvSpPr>
            <a:spLocks noGrp="1"/>
          </p:cNvSpPr>
          <p:nvPr>
            <p:ph type="dt" sz="quarter" idx="1"/>
          </p:nvPr>
        </p:nvSpPr>
        <p:spPr>
          <a:xfrm>
            <a:off x="3901698" y="0"/>
            <a:ext cx="2984871" cy="501015"/>
          </a:xfrm>
          <a:prstGeom prst="rect">
            <a:avLst/>
          </a:prstGeom>
        </p:spPr>
        <p:txBody>
          <a:bodyPr vert="horz" lIns="96616" tIns="48308" rIns="96616" bIns="48308" rtlCol="0"/>
          <a:lstStyle>
            <a:lvl1pPr algn="r">
              <a:defRPr sz="1300"/>
            </a:lvl1pPr>
          </a:lstStyle>
          <a:p>
            <a:fld id="{381125AA-C750-4EE3-89AD-90D2F2B7BDD5}" type="datetimeFigureOut">
              <a:rPr lang="en-MY" smtClean="0"/>
              <a:pPr/>
              <a:t>27/10/2014</a:t>
            </a:fld>
            <a:endParaRPr lang="en-MY"/>
          </a:p>
        </p:txBody>
      </p:sp>
      <p:sp>
        <p:nvSpPr>
          <p:cNvPr id="4" name="Footer Placeholder 3"/>
          <p:cNvSpPr>
            <a:spLocks noGrp="1"/>
          </p:cNvSpPr>
          <p:nvPr>
            <p:ph type="ftr" sz="quarter" idx="2"/>
          </p:nvPr>
        </p:nvSpPr>
        <p:spPr>
          <a:xfrm>
            <a:off x="0" y="9517546"/>
            <a:ext cx="2984871" cy="501015"/>
          </a:xfrm>
          <a:prstGeom prst="rect">
            <a:avLst/>
          </a:prstGeom>
        </p:spPr>
        <p:txBody>
          <a:bodyPr vert="horz" lIns="96616" tIns="48308" rIns="96616" bIns="48308" rtlCol="0" anchor="b"/>
          <a:lstStyle>
            <a:lvl1pPr algn="l">
              <a:defRPr sz="1300"/>
            </a:lvl1pPr>
          </a:lstStyle>
          <a:p>
            <a:endParaRPr lang="en-MY"/>
          </a:p>
        </p:txBody>
      </p:sp>
      <p:sp>
        <p:nvSpPr>
          <p:cNvPr id="5" name="Slide Number Placeholder 4"/>
          <p:cNvSpPr>
            <a:spLocks noGrp="1"/>
          </p:cNvSpPr>
          <p:nvPr>
            <p:ph type="sldNum" sz="quarter" idx="3"/>
          </p:nvPr>
        </p:nvSpPr>
        <p:spPr>
          <a:xfrm>
            <a:off x="3901698" y="9517546"/>
            <a:ext cx="2984871" cy="501015"/>
          </a:xfrm>
          <a:prstGeom prst="rect">
            <a:avLst/>
          </a:prstGeom>
        </p:spPr>
        <p:txBody>
          <a:bodyPr vert="horz" lIns="96616" tIns="48308" rIns="96616" bIns="48308" rtlCol="0" anchor="b"/>
          <a:lstStyle>
            <a:lvl1pPr algn="r">
              <a:defRPr sz="1300"/>
            </a:lvl1pPr>
          </a:lstStyle>
          <a:p>
            <a:fld id="{DE1129BD-BA20-4D79-9B6A-EF7F27A46F40}" type="slidenum">
              <a:rPr lang="en-MY" smtClean="0"/>
              <a:pPr/>
              <a:t>‹#›</a:t>
            </a:fld>
            <a:endParaRPr lang="en-MY"/>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en-MY"/>
          </a:p>
        </p:txBody>
      </p:sp>
      <p:sp>
        <p:nvSpPr>
          <p:cNvPr id="3" name="Date Placeholder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F9DA15C4-C54B-4AC5-8C8D-65079EC69662}" type="datetimeFigureOut">
              <a:rPr lang="en-MY" smtClean="0"/>
              <a:pPr/>
              <a:t>27/10/2014</a:t>
            </a:fld>
            <a:endParaRPr lang="en-MY"/>
          </a:p>
        </p:txBody>
      </p:sp>
      <p:sp>
        <p:nvSpPr>
          <p:cNvPr id="4" name="Slide Image Placeholder 3"/>
          <p:cNvSpPr>
            <a:spLocks noGrp="1" noRot="1" noChangeAspect="1"/>
          </p:cNvSpPr>
          <p:nvPr>
            <p:ph type="sldImg" idx="2"/>
          </p:nvPr>
        </p:nvSpPr>
        <p:spPr>
          <a:xfrm>
            <a:off x="939800" y="750888"/>
            <a:ext cx="5008563" cy="3757612"/>
          </a:xfrm>
          <a:prstGeom prst="rect">
            <a:avLst/>
          </a:prstGeom>
          <a:noFill/>
          <a:ln w="12700">
            <a:solidFill>
              <a:prstClr val="black"/>
            </a:solidFill>
          </a:ln>
        </p:spPr>
        <p:txBody>
          <a:bodyPr vert="horz" lIns="96616" tIns="48308" rIns="96616" bIns="48308" rtlCol="0" anchor="ctr"/>
          <a:lstStyle/>
          <a:p>
            <a:endParaRPr lang="en-MY"/>
          </a:p>
        </p:txBody>
      </p:sp>
      <p:sp>
        <p:nvSpPr>
          <p:cNvPr id="5" name="Notes Placeholder 4"/>
          <p:cNvSpPr>
            <a:spLocks noGrp="1"/>
          </p:cNvSpPr>
          <p:nvPr>
            <p:ph type="body" sz="quarter" idx="3"/>
          </p:nvPr>
        </p:nvSpPr>
        <p:spPr>
          <a:xfrm>
            <a:off x="688817" y="4759643"/>
            <a:ext cx="5510530" cy="4509135"/>
          </a:xfrm>
          <a:prstGeom prst="rect">
            <a:avLst/>
          </a:prstGeom>
        </p:spPr>
        <p:txBody>
          <a:bodyPr vert="horz" lIns="96616" tIns="48308" rIns="96616" bIns="4830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6" name="Footer Placeholder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en-MY"/>
          </a:p>
        </p:txBody>
      </p:sp>
      <p:sp>
        <p:nvSpPr>
          <p:cNvPr id="7" name="Slide Number Placeholder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8EB45D44-4F30-4CF0-87C1-33D008371DB1}" type="slidenum">
              <a:rPr lang="en-MY" smtClean="0"/>
              <a:pPr/>
              <a:t>‹#›</a:t>
            </a:fld>
            <a:endParaRPr lang="en-MY"/>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p:txBody>
          <a:bodyPr/>
          <a:lstStyle/>
          <a:p>
            <a:pPr>
              <a:defRPr/>
            </a:pPr>
            <a:fld id="{194C9F4B-084B-447C-A5DD-611F29E9C111}" type="slidenum">
              <a:rPr lang="en-US" smtClean="0"/>
              <a:pPr>
                <a:defRPr/>
              </a:pPr>
              <a:t>11</a:t>
            </a:fld>
            <a:endParaRPr lang="en-US" smtClean="0"/>
          </a:p>
        </p:txBody>
      </p:sp>
      <p:sp>
        <p:nvSpPr>
          <p:cNvPr id="532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3252"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4"/>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2"/>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1BB4133-2366-4CBF-BD7D-4323E1DDCA3F}" type="datetimeFigureOut">
              <a:rPr lang="en-MY" smtClean="0"/>
              <a:pPr/>
              <a:t>27/10/2014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7FB1D9AA-9A14-4204-9CC0-658B76157FFF}" type="slidenum">
              <a:rPr lang="en-MY" smtClean="0"/>
              <a:pPr/>
              <a:t>‹#›</a:t>
            </a:fld>
            <a:endParaRPr lang="en-MY"/>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MY"/>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B4133-2366-4CBF-BD7D-4323E1DDCA3F}" type="datetimeFigureOut">
              <a:rPr lang="en-MY" smtClean="0"/>
              <a:pPr/>
              <a:t>27/10/2014</a:t>
            </a:fld>
            <a:endParaRPr lang="en-MY"/>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B1D9AA-9A14-4204-9CC0-658B76157FFF}" type="slidenum">
              <a:rPr lang="en-MY" smtClean="0"/>
              <a:pPr/>
              <a:t>‹#›</a:t>
            </a:fld>
            <a:endParaRPr lang="en-MY"/>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rgbClr val="FFC000"/>
          </a:solidFill>
        </p:spPr>
        <p:txBody>
          <a:bodyPr>
            <a:normAutofit fontScale="90000"/>
          </a:bodyPr>
          <a:lstStyle/>
          <a:p>
            <a:r>
              <a:rPr lang="en-US" b="1" cap="all" dirty="0" smtClean="0"/>
              <a:t>Chapter 6: Time Value of Money</a:t>
            </a:r>
            <a:endParaRPr lang="en-MY" b="1" dirty="0"/>
          </a:p>
        </p:txBody>
      </p:sp>
      <p:sp>
        <p:nvSpPr>
          <p:cNvPr id="4" name="Content Placeholder 3"/>
          <p:cNvSpPr>
            <a:spLocks noGrp="1"/>
          </p:cNvSpPr>
          <p:nvPr>
            <p:ph sz="half" idx="1"/>
          </p:nvPr>
        </p:nvSpPr>
        <p:spPr>
          <a:xfrm>
            <a:off x="251520" y="1628800"/>
            <a:ext cx="4248472" cy="4525963"/>
          </a:xfrm>
        </p:spPr>
        <p:txBody>
          <a:bodyPr>
            <a:normAutofit fontScale="70000" lnSpcReduction="20000"/>
          </a:bodyPr>
          <a:lstStyle/>
          <a:p>
            <a:r>
              <a:rPr lang="en-US" sz="2900" b="1" dirty="0" smtClean="0"/>
              <a:t>6-1: 	Time Lines</a:t>
            </a:r>
          </a:p>
          <a:p>
            <a:r>
              <a:rPr lang="en-US" sz="2900" b="1" dirty="0" smtClean="0"/>
              <a:t>6-2: 	Future Value</a:t>
            </a:r>
          </a:p>
          <a:p>
            <a:r>
              <a:rPr lang="en-US" sz="2900" b="1" dirty="0" smtClean="0"/>
              <a:t>6-3: 	Present Value</a:t>
            </a:r>
          </a:p>
          <a:p>
            <a:r>
              <a:rPr lang="en-US" sz="2900" b="1" dirty="0" smtClean="0"/>
              <a:t>6-4: 	Finding The Interest Rate, I</a:t>
            </a:r>
          </a:p>
          <a:p>
            <a:r>
              <a:rPr lang="en-US" sz="2900" b="1" dirty="0" smtClean="0"/>
              <a:t>6-5:	Finding The Number Of 	Years, N</a:t>
            </a:r>
          </a:p>
          <a:p>
            <a:r>
              <a:rPr lang="en-US" sz="2900" b="1" dirty="0" smtClean="0"/>
              <a:t>6-6: 	Annuities</a:t>
            </a:r>
          </a:p>
          <a:p>
            <a:r>
              <a:rPr lang="en-US" sz="2900" b="1" dirty="0" smtClean="0"/>
              <a:t>6-7: 	Future Value Of An 	Ordinary Annuity</a:t>
            </a:r>
          </a:p>
          <a:p>
            <a:r>
              <a:rPr lang="en-US" sz="2900" b="1" dirty="0" smtClean="0"/>
              <a:t>6-8: 	Future Value Of An Annuity 	Due</a:t>
            </a:r>
          </a:p>
          <a:p>
            <a:r>
              <a:rPr lang="en-US" b="1" dirty="0" smtClean="0"/>
              <a:t>6-9: 	Present Value Of An 	Ordinary Annuity</a:t>
            </a:r>
          </a:p>
          <a:p>
            <a:r>
              <a:rPr lang="en-US" b="1" dirty="0" smtClean="0"/>
              <a:t>6-10: Finding Annuity Payments, 	Periods, And Interest Rates</a:t>
            </a:r>
          </a:p>
          <a:p>
            <a:endParaRPr lang="en-US" sz="2900" dirty="0" smtClean="0"/>
          </a:p>
          <a:p>
            <a:endParaRPr lang="en-MY" sz="2000" dirty="0"/>
          </a:p>
        </p:txBody>
      </p:sp>
      <p:sp>
        <p:nvSpPr>
          <p:cNvPr id="5" name="Content Placeholder 4"/>
          <p:cNvSpPr>
            <a:spLocks noGrp="1"/>
          </p:cNvSpPr>
          <p:nvPr>
            <p:ph sz="half" idx="2"/>
          </p:nvPr>
        </p:nvSpPr>
        <p:spPr/>
        <p:txBody>
          <a:bodyPr>
            <a:normAutofit fontScale="70000" lnSpcReduction="20000"/>
          </a:bodyPr>
          <a:lstStyle/>
          <a:p>
            <a:r>
              <a:rPr lang="en-US" b="1" dirty="0" smtClean="0"/>
              <a:t>6-11: Perpetuities</a:t>
            </a:r>
          </a:p>
          <a:p>
            <a:r>
              <a:rPr lang="en-US" b="1" dirty="0" smtClean="0"/>
              <a:t>6-12: Uneven Cash Flows</a:t>
            </a:r>
          </a:p>
          <a:p>
            <a:r>
              <a:rPr lang="en-US" b="1" dirty="0" smtClean="0"/>
              <a:t>6-13: Future Value Of An Uneven 	Cash Flow Stream</a:t>
            </a:r>
          </a:p>
          <a:p>
            <a:r>
              <a:rPr lang="en-US" b="1" dirty="0" smtClean="0"/>
              <a:t>6-14:	Semiannual And Other 	Compounding Periods</a:t>
            </a:r>
          </a:p>
          <a:p>
            <a:r>
              <a:rPr lang="en-US" b="1" dirty="0" smtClean="0"/>
              <a:t>6-15: Comparing Interest Rates</a:t>
            </a:r>
            <a:endParaRPr lang="en-US" b="1" cap="all" dirty="0" smtClean="0"/>
          </a:p>
          <a:p>
            <a:pPr>
              <a:buNone/>
            </a:pPr>
            <a:endParaRPr lang="en-MY"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a:solidFill>
            <a:srgbClr val="00FFFF"/>
          </a:solidFill>
        </p:spPr>
        <p:txBody>
          <a:bodyPr/>
          <a:lstStyle/>
          <a:p>
            <a:r>
              <a:rPr lang="en-US" dirty="0" smtClean="0"/>
              <a:t>In Perspective</a:t>
            </a:r>
            <a:endParaRPr lang="en-MY" dirty="0"/>
          </a:p>
        </p:txBody>
      </p:sp>
      <p:sp>
        <p:nvSpPr>
          <p:cNvPr id="3" name="Content Placeholder 2"/>
          <p:cNvSpPr>
            <a:spLocks noGrp="1"/>
          </p:cNvSpPr>
          <p:nvPr>
            <p:ph idx="1"/>
          </p:nvPr>
        </p:nvSpPr>
        <p:spPr/>
        <p:txBody>
          <a:bodyPr>
            <a:normAutofit fontScale="92500" lnSpcReduction="10000"/>
          </a:bodyPr>
          <a:lstStyle/>
          <a:p>
            <a:r>
              <a:rPr lang="en-US" dirty="0" smtClean="0"/>
              <a:t>Time Value of Money (TVM) has many applications including:</a:t>
            </a:r>
          </a:p>
          <a:p>
            <a:pPr lvl="1"/>
            <a:r>
              <a:rPr lang="en-US" dirty="0" smtClean="0"/>
              <a:t>Planning for retirement</a:t>
            </a:r>
          </a:p>
          <a:p>
            <a:pPr lvl="1"/>
            <a:r>
              <a:rPr lang="en-US" dirty="0" smtClean="0"/>
              <a:t>Valuing stocks and bonds</a:t>
            </a:r>
          </a:p>
          <a:p>
            <a:pPr lvl="1"/>
            <a:r>
              <a:rPr lang="en-US" dirty="0" smtClean="0"/>
              <a:t>Setting up loan payment schedule</a:t>
            </a:r>
          </a:p>
          <a:p>
            <a:pPr lvl="1"/>
            <a:r>
              <a:rPr lang="en-US" dirty="0" smtClean="0"/>
              <a:t>Making corporate decisions regarding investing in new plant and equipment</a:t>
            </a:r>
          </a:p>
          <a:p>
            <a:pPr lvl="1">
              <a:buNone/>
            </a:pPr>
            <a:endParaRPr lang="en-US" dirty="0" smtClean="0"/>
          </a:p>
          <a:p>
            <a:r>
              <a:rPr lang="en-US" dirty="0" smtClean="0"/>
              <a:t>In fact, of all financial concepts, TVM is the single most important concept.</a:t>
            </a:r>
          </a:p>
          <a:p>
            <a:endParaRPr lang="en-MY"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634082"/>
          </a:xfrm>
          <a:solidFill>
            <a:schemeClr val="accent1">
              <a:lumMod val="20000"/>
              <a:lumOff val="80000"/>
            </a:schemeClr>
          </a:solidFill>
        </p:spPr>
        <p:txBody>
          <a:bodyPr>
            <a:normAutofit fontScale="90000"/>
          </a:bodyPr>
          <a:lstStyle/>
          <a:p>
            <a:r>
              <a:rPr lang="en-US" cap="all" dirty="0" smtClean="0">
                <a:solidFill>
                  <a:schemeClr val="tx1"/>
                </a:solidFill>
              </a:rPr>
              <a:t/>
            </a:r>
            <a:br>
              <a:rPr lang="en-US" cap="all" dirty="0" smtClean="0">
                <a:solidFill>
                  <a:schemeClr val="tx1"/>
                </a:solidFill>
              </a:rPr>
            </a:br>
            <a:r>
              <a:rPr lang="en-US" sz="4000" cap="all" dirty="0" smtClean="0">
                <a:solidFill>
                  <a:schemeClr val="tx1"/>
                </a:solidFill>
              </a:rPr>
              <a:t>6-1:time Lines</a:t>
            </a:r>
            <a:br>
              <a:rPr lang="en-US" sz="4000" cap="all" dirty="0" smtClean="0">
                <a:solidFill>
                  <a:schemeClr val="tx1"/>
                </a:solidFill>
              </a:rPr>
            </a:br>
            <a:endParaRPr lang="en-MY" sz="4000" dirty="0"/>
          </a:p>
        </p:txBody>
      </p:sp>
      <p:sp>
        <p:nvSpPr>
          <p:cNvPr id="3" name="Content Placeholder 2"/>
          <p:cNvSpPr>
            <a:spLocks noGrp="1"/>
          </p:cNvSpPr>
          <p:nvPr>
            <p:ph idx="1"/>
          </p:nvPr>
        </p:nvSpPr>
        <p:spPr>
          <a:xfrm>
            <a:off x="457200" y="908721"/>
            <a:ext cx="8075240" cy="3672408"/>
          </a:xfrm>
        </p:spPr>
        <p:txBody>
          <a:bodyPr>
            <a:normAutofit/>
          </a:bodyPr>
          <a:lstStyle/>
          <a:p>
            <a:r>
              <a:rPr lang="en-US" sz="2400" dirty="0" smtClean="0"/>
              <a:t>The first step in Time Value analysis is to set up a </a:t>
            </a:r>
            <a:r>
              <a:rPr lang="en-US" sz="2400" b="1" dirty="0" smtClean="0">
                <a:solidFill>
                  <a:srgbClr val="FF0000"/>
                </a:solidFill>
              </a:rPr>
              <a:t>time line</a:t>
            </a:r>
            <a:r>
              <a:rPr lang="en-US" sz="2400" dirty="0" smtClean="0"/>
              <a:t>, which will help you visualize what’s happening in a particular problem.</a:t>
            </a:r>
          </a:p>
          <a:p>
            <a:endParaRPr lang="en-US" sz="2400" dirty="0" smtClean="0"/>
          </a:p>
          <a:p>
            <a:endParaRPr lang="en-US" sz="2400" dirty="0"/>
          </a:p>
          <a:p>
            <a:endParaRPr lang="en-MY" sz="2400" dirty="0"/>
          </a:p>
        </p:txBody>
      </p:sp>
      <p:cxnSp>
        <p:nvCxnSpPr>
          <p:cNvPr id="5" name="Straight Connector 4"/>
          <p:cNvCxnSpPr/>
          <p:nvPr/>
        </p:nvCxnSpPr>
        <p:spPr>
          <a:xfrm>
            <a:off x="2339752" y="3429000"/>
            <a:ext cx="3888432"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339752" y="3284984"/>
            <a:ext cx="0" cy="36004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707904" y="3284984"/>
            <a:ext cx="0" cy="36004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04048" y="3284984"/>
            <a:ext cx="0" cy="36004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228184" y="3284984"/>
            <a:ext cx="0" cy="36004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195736" y="2924944"/>
            <a:ext cx="432048" cy="461665"/>
          </a:xfrm>
          <a:prstGeom prst="rect">
            <a:avLst/>
          </a:prstGeom>
          <a:noFill/>
        </p:spPr>
        <p:txBody>
          <a:bodyPr wrap="square" rtlCol="0">
            <a:spAutoFit/>
          </a:bodyPr>
          <a:lstStyle/>
          <a:p>
            <a:r>
              <a:rPr lang="en-US" sz="2400" b="1" dirty="0" smtClean="0">
                <a:solidFill>
                  <a:schemeClr val="accent1">
                    <a:lumMod val="75000"/>
                  </a:schemeClr>
                </a:solidFill>
              </a:rPr>
              <a:t>0</a:t>
            </a:r>
            <a:endParaRPr lang="en-MY" sz="2400" b="1" dirty="0">
              <a:solidFill>
                <a:schemeClr val="accent1">
                  <a:lumMod val="75000"/>
                </a:schemeClr>
              </a:solidFill>
            </a:endParaRPr>
          </a:p>
        </p:txBody>
      </p:sp>
      <p:sp>
        <p:nvSpPr>
          <p:cNvPr id="18" name="TextBox 17"/>
          <p:cNvSpPr txBox="1"/>
          <p:nvPr/>
        </p:nvSpPr>
        <p:spPr>
          <a:xfrm>
            <a:off x="3563888" y="2924944"/>
            <a:ext cx="432048" cy="461665"/>
          </a:xfrm>
          <a:prstGeom prst="rect">
            <a:avLst/>
          </a:prstGeom>
          <a:noFill/>
        </p:spPr>
        <p:txBody>
          <a:bodyPr wrap="square" rtlCol="0">
            <a:spAutoFit/>
          </a:bodyPr>
          <a:lstStyle/>
          <a:p>
            <a:r>
              <a:rPr lang="en-US" sz="2400" b="1" dirty="0" smtClean="0">
                <a:solidFill>
                  <a:schemeClr val="accent1">
                    <a:lumMod val="75000"/>
                  </a:schemeClr>
                </a:solidFill>
              </a:rPr>
              <a:t>1</a:t>
            </a:r>
            <a:endParaRPr lang="en-MY" sz="2400" b="1" dirty="0">
              <a:solidFill>
                <a:schemeClr val="accent1">
                  <a:lumMod val="75000"/>
                </a:schemeClr>
              </a:solidFill>
            </a:endParaRPr>
          </a:p>
        </p:txBody>
      </p:sp>
      <p:sp>
        <p:nvSpPr>
          <p:cNvPr id="19" name="TextBox 18"/>
          <p:cNvSpPr txBox="1"/>
          <p:nvPr/>
        </p:nvSpPr>
        <p:spPr>
          <a:xfrm>
            <a:off x="4860032" y="2924944"/>
            <a:ext cx="432048" cy="461665"/>
          </a:xfrm>
          <a:prstGeom prst="rect">
            <a:avLst/>
          </a:prstGeom>
          <a:noFill/>
        </p:spPr>
        <p:txBody>
          <a:bodyPr wrap="square" rtlCol="0">
            <a:spAutoFit/>
          </a:bodyPr>
          <a:lstStyle/>
          <a:p>
            <a:r>
              <a:rPr lang="en-US" sz="2400" b="1" dirty="0">
                <a:solidFill>
                  <a:schemeClr val="accent1">
                    <a:lumMod val="75000"/>
                  </a:schemeClr>
                </a:solidFill>
              </a:rPr>
              <a:t>2</a:t>
            </a:r>
            <a:endParaRPr lang="en-MY" sz="2400" b="1" dirty="0">
              <a:solidFill>
                <a:schemeClr val="accent1">
                  <a:lumMod val="75000"/>
                </a:schemeClr>
              </a:solidFill>
            </a:endParaRPr>
          </a:p>
        </p:txBody>
      </p:sp>
      <p:sp>
        <p:nvSpPr>
          <p:cNvPr id="20" name="TextBox 19"/>
          <p:cNvSpPr txBox="1"/>
          <p:nvPr/>
        </p:nvSpPr>
        <p:spPr>
          <a:xfrm>
            <a:off x="6084168" y="2924944"/>
            <a:ext cx="432048" cy="461665"/>
          </a:xfrm>
          <a:prstGeom prst="rect">
            <a:avLst/>
          </a:prstGeom>
          <a:noFill/>
        </p:spPr>
        <p:txBody>
          <a:bodyPr wrap="square" rtlCol="0">
            <a:spAutoFit/>
          </a:bodyPr>
          <a:lstStyle/>
          <a:p>
            <a:r>
              <a:rPr lang="en-US" sz="2400" b="1" dirty="0">
                <a:solidFill>
                  <a:schemeClr val="accent1">
                    <a:lumMod val="75000"/>
                  </a:schemeClr>
                </a:solidFill>
              </a:rPr>
              <a:t>3</a:t>
            </a:r>
            <a:endParaRPr lang="en-MY" sz="2400" b="1" dirty="0">
              <a:solidFill>
                <a:schemeClr val="accent1">
                  <a:lumMod val="75000"/>
                </a:schemeClr>
              </a:solidFill>
            </a:endParaRPr>
          </a:p>
        </p:txBody>
      </p:sp>
      <p:sp>
        <p:nvSpPr>
          <p:cNvPr id="22" name="TextBox 21"/>
          <p:cNvSpPr txBox="1"/>
          <p:nvPr/>
        </p:nvSpPr>
        <p:spPr>
          <a:xfrm>
            <a:off x="395536" y="2924944"/>
            <a:ext cx="1656184" cy="461665"/>
          </a:xfrm>
          <a:prstGeom prst="rect">
            <a:avLst/>
          </a:prstGeom>
          <a:noFill/>
        </p:spPr>
        <p:txBody>
          <a:bodyPr wrap="square" rtlCol="0">
            <a:spAutoFit/>
          </a:bodyPr>
          <a:lstStyle/>
          <a:p>
            <a:r>
              <a:rPr lang="en-US" sz="2400" b="1" dirty="0" smtClean="0">
                <a:solidFill>
                  <a:schemeClr val="accent1">
                    <a:lumMod val="75000"/>
                  </a:schemeClr>
                </a:solidFill>
              </a:rPr>
              <a:t>Periods (t)</a:t>
            </a:r>
            <a:endParaRPr lang="en-MY" sz="2400" b="1" dirty="0">
              <a:solidFill>
                <a:schemeClr val="accent1">
                  <a:lumMod val="75000"/>
                </a:schemeClr>
              </a:solidFill>
            </a:endParaRPr>
          </a:p>
        </p:txBody>
      </p:sp>
      <p:sp>
        <p:nvSpPr>
          <p:cNvPr id="23" name="TextBox 22"/>
          <p:cNvSpPr txBox="1"/>
          <p:nvPr/>
        </p:nvSpPr>
        <p:spPr>
          <a:xfrm>
            <a:off x="467544" y="3645024"/>
            <a:ext cx="1224136" cy="461665"/>
          </a:xfrm>
          <a:prstGeom prst="rect">
            <a:avLst/>
          </a:prstGeom>
          <a:noFill/>
        </p:spPr>
        <p:txBody>
          <a:bodyPr wrap="square" rtlCol="0">
            <a:spAutoFit/>
          </a:bodyPr>
          <a:lstStyle/>
          <a:p>
            <a:r>
              <a:rPr lang="en-US" sz="2400" b="1" dirty="0" smtClean="0"/>
              <a:t>Cash ($)</a:t>
            </a:r>
            <a:endParaRPr lang="en-MY" sz="2400" b="1" dirty="0"/>
          </a:p>
        </p:txBody>
      </p:sp>
      <p:sp>
        <p:nvSpPr>
          <p:cNvPr id="24" name="TextBox 23"/>
          <p:cNvSpPr txBox="1"/>
          <p:nvPr/>
        </p:nvSpPr>
        <p:spPr>
          <a:xfrm>
            <a:off x="1979712" y="3645024"/>
            <a:ext cx="1368152" cy="461665"/>
          </a:xfrm>
          <a:prstGeom prst="rect">
            <a:avLst/>
          </a:prstGeom>
          <a:solidFill>
            <a:srgbClr val="FF6600"/>
          </a:solidFill>
        </p:spPr>
        <p:txBody>
          <a:bodyPr wrap="square" rtlCol="0">
            <a:spAutoFit/>
          </a:bodyPr>
          <a:lstStyle/>
          <a:p>
            <a:r>
              <a:rPr lang="en-US" sz="2400" b="1" dirty="0" smtClean="0"/>
              <a:t>PV=$100</a:t>
            </a:r>
            <a:endParaRPr lang="en-MY" sz="2400" b="1" dirty="0"/>
          </a:p>
        </p:txBody>
      </p:sp>
      <p:sp>
        <p:nvSpPr>
          <p:cNvPr id="25" name="TextBox 24"/>
          <p:cNvSpPr txBox="1"/>
          <p:nvPr/>
        </p:nvSpPr>
        <p:spPr>
          <a:xfrm>
            <a:off x="6012160" y="3645024"/>
            <a:ext cx="1152128" cy="461665"/>
          </a:xfrm>
          <a:prstGeom prst="rect">
            <a:avLst/>
          </a:prstGeom>
          <a:solidFill>
            <a:srgbClr val="FFFF00"/>
          </a:solidFill>
        </p:spPr>
        <p:txBody>
          <a:bodyPr wrap="square" rtlCol="0">
            <a:spAutoFit/>
          </a:bodyPr>
          <a:lstStyle/>
          <a:p>
            <a:r>
              <a:rPr lang="en-US" sz="2400" b="1" dirty="0"/>
              <a:t>F</a:t>
            </a:r>
            <a:r>
              <a:rPr lang="en-US" sz="2400" b="1" dirty="0" smtClean="0"/>
              <a:t>V=?</a:t>
            </a:r>
            <a:endParaRPr lang="en-MY" sz="2400" b="1" dirty="0"/>
          </a:p>
        </p:txBody>
      </p:sp>
      <p:sp>
        <p:nvSpPr>
          <p:cNvPr id="26" name="TextBox 25"/>
          <p:cNvSpPr txBox="1"/>
          <p:nvPr/>
        </p:nvSpPr>
        <p:spPr>
          <a:xfrm>
            <a:off x="1979712" y="2132856"/>
            <a:ext cx="1224136" cy="461665"/>
          </a:xfrm>
          <a:prstGeom prst="rect">
            <a:avLst/>
          </a:prstGeom>
          <a:noFill/>
        </p:spPr>
        <p:txBody>
          <a:bodyPr wrap="square" rtlCol="0">
            <a:spAutoFit/>
          </a:bodyPr>
          <a:lstStyle/>
          <a:p>
            <a:r>
              <a:rPr lang="en-US" sz="2400" b="1" i="1" dirty="0" smtClean="0">
                <a:solidFill>
                  <a:srgbClr val="FF0000"/>
                </a:solidFill>
              </a:rPr>
              <a:t>Today</a:t>
            </a:r>
            <a:endParaRPr lang="en-MY" sz="2400" b="1" i="1" dirty="0">
              <a:solidFill>
                <a:srgbClr val="FF0000"/>
              </a:solidFill>
            </a:endParaRPr>
          </a:p>
        </p:txBody>
      </p:sp>
      <p:cxnSp>
        <p:nvCxnSpPr>
          <p:cNvPr id="28" name="Straight Arrow Connector 27"/>
          <p:cNvCxnSpPr/>
          <p:nvPr/>
        </p:nvCxnSpPr>
        <p:spPr>
          <a:xfrm flipV="1">
            <a:off x="2339752" y="2564904"/>
            <a:ext cx="0" cy="36004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67544" y="4437113"/>
            <a:ext cx="8280920" cy="2215991"/>
          </a:xfrm>
          <a:prstGeom prst="rect">
            <a:avLst/>
          </a:prstGeom>
          <a:noFill/>
        </p:spPr>
        <p:txBody>
          <a:bodyPr wrap="square" rtlCol="0">
            <a:spAutoFit/>
          </a:bodyPr>
          <a:lstStyle/>
          <a:p>
            <a:pPr>
              <a:buFont typeface="Arial" pitchFamily="34" charset="0"/>
              <a:buChar char="•"/>
            </a:pPr>
            <a:r>
              <a:rPr lang="en-US" sz="2400" dirty="0" smtClean="0"/>
              <a:t>   The intervals : 0-1, 1-2, and 2-3 are time periods such as years        or months, be quarters, or even days.</a:t>
            </a:r>
          </a:p>
          <a:p>
            <a:endParaRPr lang="en-US" sz="2400" dirty="0" smtClean="0"/>
          </a:p>
          <a:p>
            <a:pPr>
              <a:buFont typeface="Arial" pitchFamily="34" charset="0"/>
              <a:buChar char="•"/>
            </a:pPr>
            <a:r>
              <a:rPr lang="en-US" sz="2400" dirty="0"/>
              <a:t> </a:t>
            </a:r>
            <a:r>
              <a:rPr lang="en-US" sz="2400" dirty="0" smtClean="0"/>
              <a:t> Time </a:t>
            </a:r>
            <a:r>
              <a:rPr lang="en-US" sz="2400" dirty="0" smtClean="0">
                <a:solidFill>
                  <a:srgbClr val="FF0000"/>
                </a:solidFill>
              </a:rPr>
              <a:t>0 is today</a:t>
            </a:r>
            <a:r>
              <a:rPr lang="en-US" sz="2400" dirty="0" smtClean="0"/>
              <a:t>, and it is the </a:t>
            </a:r>
            <a:r>
              <a:rPr lang="en-US" sz="2400" dirty="0" smtClean="0">
                <a:solidFill>
                  <a:srgbClr val="FF0000"/>
                </a:solidFill>
              </a:rPr>
              <a:t>beginning of Period 1 </a:t>
            </a:r>
            <a:r>
              <a:rPr lang="en-US" sz="2400" dirty="0" smtClean="0"/>
              <a:t>an so forth.</a:t>
            </a:r>
          </a:p>
          <a:p>
            <a:endParaRPr lang="en-US" sz="2400" dirty="0" smtClean="0"/>
          </a:p>
          <a:p>
            <a:endParaRPr lang="en-MY" dirty="0"/>
          </a:p>
        </p:txBody>
      </p:sp>
      <p:sp>
        <p:nvSpPr>
          <p:cNvPr id="30" name="TextBox 29"/>
          <p:cNvSpPr txBox="1"/>
          <p:nvPr/>
        </p:nvSpPr>
        <p:spPr>
          <a:xfrm>
            <a:off x="2627784" y="2924944"/>
            <a:ext cx="936104" cy="369332"/>
          </a:xfrm>
          <a:prstGeom prst="rect">
            <a:avLst/>
          </a:prstGeom>
          <a:noFill/>
        </p:spPr>
        <p:txBody>
          <a:bodyPr wrap="square" rtlCol="0">
            <a:spAutoFit/>
          </a:bodyPr>
          <a:lstStyle/>
          <a:p>
            <a:r>
              <a:rPr lang="en-US" b="1" dirty="0" smtClean="0"/>
              <a:t>5%</a:t>
            </a:r>
            <a:endParaRPr lang="en-MY"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a:bodyPr>
          <a:lstStyle/>
          <a:p>
            <a:r>
              <a:rPr lang="en-US" sz="2400" dirty="0" smtClean="0"/>
              <a:t>Cash flows are shown directly below the tick marks.</a:t>
            </a:r>
          </a:p>
          <a:p>
            <a:pPr>
              <a:buNone/>
            </a:pPr>
            <a:endParaRPr lang="en-US" sz="2400" dirty="0" smtClean="0"/>
          </a:p>
          <a:p>
            <a:r>
              <a:rPr lang="en-US" sz="2400" dirty="0" smtClean="0"/>
              <a:t>The relevant interest rate is shown just above the line.</a:t>
            </a:r>
          </a:p>
          <a:p>
            <a:pPr>
              <a:buNone/>
            </a:pPr>
            <a:endParaRPr lang="en-US" sz="2400" dirty="0" smtClean="0"/>
          </a:p>
          <a:p>
            <a:r>
              <a:rPr lang="en-US" sz="2400" b="1" dirty="0" smtClean="0">
                <a:solidFill>
                  <a:schemeClr val="tx2">
                    <a:lumMod val="60000"/>
                    <a:lumOff val="40000"/>
                  </a:schemeClr>
                </a:solidFill>
                <a:effectLst>
                  <a:outerShdw blurRad="38100" dist="38100" dir="2700000" algn="tl">
                    <a:srgbClr val="000000">
                      <a:alpha val="43137"/>
                    </a:srgbClr>
                  </a:outerShdw>
                </a:effectLst>
              </a:rPr>
              <a:t>Unknown cash flows </a:t>
            </a:r>
            <a:r>
              <a:rPr lang="en-US" sz="2400" dirty="0" smtClean="0"/>
              <a:t>you are trying to find are indicated by question marks.</a:t>
            </a:r>
          </a:p>
          <a:p>
            <a:pPr>
              <a:buNone/>
            </a:pPr>
            <a:endParaRPr lang="en-US" sz="2400" dirty="0" smtClean="0"/>
          </a:p>
          <a:p>
            <a:r>
              <a:rPr lang="en-US" sz="2400" b="1" dirty="0" smtClean="0"/>
              <a:t>Present Value (PV): </a:t>
            </a:r>
            <a:r>
              <a:rPr lang="en-US" sz="2400" dirty="0" smtClean="0"/>
              <a:t>The value today of a future cash flow or series of cash flows.</a:t>
            </a:r>
          </a:p>
          <a:p>
            <a:pPr>
              <a:buNone/>
            </a:pPr>
            <a:endParaRPr lang="en-US" sz="2400" dirty="0" smtClean="0"/>
          </a:p>
          <a:p>
            <a:pPr>
              <a:buNone/>
            </a:pPr>
            <a:endParaRPr lang="en-MY" sz="24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7787208" cy="4929411"/>
          </a:xfrm>
        </p:spPr>
        <p:txBody>
          <a:bodyPr/>
          <a:lstStyle/>
          <a:p>
            <a:r>
              <a:rPr lang="en-US" b="1" u="sng" dirty="0" smtClean="0"/>
              <a:t>Exercise:</a:t>
            </a:r>
            <a:r>
              <a:rPr lang="en-US" dirty="0" smtClean="0"/>
              <a:t> </a:t>
            </a:r>
          </a:p>
          <a:p>
            <a:pPr>
              <a:buNone/>
            </a:pPr>
            <a:r>
              <a:rPr lang="en-US" dirty="0" smtClean="0"/>
              <a:t>	</a:t>
            </a:r>
            <a:r>
              <a:rPr lang="en-US" b="1" dirty="0" smtClean="0"/>
              <a:t>Set up a time line to illustrate the following situation: You currently have $2,000 in a 3-year certificate of deposit (CD) that pays a guaranteed 4% annually</a:t>
            </a:r>
            <a:endParaRPr lang="en-MY"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a:solidFill>
            <a:schemeClr val="accent1">
              <a:lumMod val="40000"/>
              <a:lumOff val="60000"/>
            </a:schemeClr>
          </a:solidFill>
        </p:spPr>
        <p:txBody>
          <a:bodyPr>
            <a:noAutofit/>
          </a:bodyPr>
          <a:lstStyle/>
          <a:p>
            <a:r>
              <a:rPr lang="en-US" sz="3600" cap="all" dirty="0" smtClean="0">
                <a:solidFill>
                  <a:schemeClr val="tx1"/>
                </a:solidFill>
              </a:rPr>
              <a:t/>
            </a:r>
            <a:br>
              <a:rPr lang="en-US" sz="3600" cap="all" dirty="0" smtClean="0">
                <a:solidFill>
                  <a:schemeClr val="tx1"/>
                </a:solidFill>
              </a:rPr>
            </a:br>
            <a:r>
              <a:rPr lang="en-US" sz="3600" cap="all" dirty="0" smtClean="0">
                <a:solidFill>
                  <a:schemeClr val="tx1"/>
                </a:solidFill>
              </a:rPr>
              <a:t>6-2:Future Value</a:t>
            </a:r>
            <a:br>
              <a:rPr lang="en-US" sz="3600" cap="all" dirty="0" smtClean="0">
                <a:solidFill>
                  <a:schemeClr val="tx1"/>
                </a:solidFill>
              </a:rPr>
            </a:br>
            <a:endParaRPr lang="en-MY" sz="3600" dirty="0"/>
          </a:p>
        </p:txBody>
      </p:sp>
      <p:sp>
        <p:nvSpPr>
          <p:cNvPr id="3" name="Content Placeholder 2"/>
          <p:cNvSpPr>
            <a:spLocks noGrp="1"/>
          </p:cNvSpPr>
          <p:nvPr>
            <p:ph idx="1"/>
          </p:nvPr>
        </p:nvSpPr>
        <p:spPr>
          <a:xfrm>
            <a:off x="457200" y="1196752"/>
            <a:ext cx="8229600" cy="5184576"/>
          </a:xfrm>
        </p:spPr>
        <p:txBody>
          <a:bodyPr>
            <a:normAutofit/>
          </a:bodyPr>
          <a:lstStyle/>
          <a:p>
            <a:r>
              <a:rPr lang="en-US" sz="2800" b="1" dirty="0" smtClean="0"/>
              <a:t>A dollar in hand today is worth more than a dollar to be received in the future</a:t>
            </a:r>
            <a:r>
              <a:rPr lang="en-US" sz="2800" dirty="0" smtClean="0"/>
              <a:t>, because if you had it now, you could invest it, earn interest, and own more than a dollar in the future.</a:t>
            </a:r>
          </a:p>
          <a:p>
            <a:pPr>
              <a:buNone/>
            </a:pPr>
            <a:endParaRPr lang="en-US" sz="2800" dirty="0" smtClean="0"/>
          </a:p>
          <a:p>
            <a:r>
              <a:rPr lang="en-US" sz="2800" dirty="0" smtClean="0"/>
              <a:t>The process of going to</a:t>
            </a:r>
            <a:r>
              <a:rPr lang="en-US" sz="2800" b="1" dirty="0" smtClean="0"/>
              <a:t> Future Values (FVs) </a:t>
            </a:r>
            <a:r>
              <a:rPr lang="en-US" sz="2800" dirty="0" smtClean="0"/>
              <a:t>from </a:t>
            </a:r>
            <a:r>
              <a:rPr lang="en-US" sz="2800" b="1" dirty="0" smtClean="0"/>
              <a:t>Present Values (PVs)</a:t>
            </a:r>
            <a:r>
              <a:rPr lang="en-US" sz="2800" dirty="0" smtClean="0"/>
              <a:t> is called </a:t>
            </a:r>
            <a:r>
              <a:rPr lang="en-US" sz="2800" b="1" dirty="0" smtClean="0">
                <a:solidFill>
                  <a:srgbClr val="FF0000"/>
                </a:solidFill>
              </a:rPr>
              <a:t>compounding.</a:t>
            </a:r>
          </a:p>
          <a:p>
            <a:pPr>
              <a:buNone/>
            </a:pPr>
            <a:endParaRPr lang="en-US" sz="2800" b="1" dirty="0" smtClean="0"/>
          </a:p>
          <a:p>
            <a:r>
              <a:rPr lang="en-US" sz="2800" b="1" dirty="0" smtClean="0"/>
              <a:t>Assume that you plan to deposit $100 in a bank that pays a guaranteed 5% interest each year, what would have at the end of Year 3?</a:t>
            </a:r>
            <a:endParaRPr lang="en-MY" sz="28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850106"/>
          </a:xfrm>
        </p:spPr>
        <p:txBody>
          <a:bodyPr>
            <a:normAutofit/>
          </a:bodyPr>
          <a:lstStyle/>
          <a:p>
            <a:r>
              <a:rPr lang="en-US" sz="3600" dirty="0" smtClean="0"/>
              <a:t>6-2a: Step-by-Step </a:t>
            </a:r>
            <a:r>
              <a:rPr lang="en-US" sz="3600" dirty="0"/>
              <a:t>A</a:t>
            </a:r>
            <a:r>
              <a:rPr lang="en-US" sz="3600" dirty="0" smtClean="0"/>
              <a:t>pproach</a:t>
            </a:r>
            <a:endParaRPr lang="en-MY" sz="3600" dirty="0"/>
          </a:p>
        </p:txBody>
      </p:sp>
      <p:sp>
        <p:nvSpPr>
          <p:cNvPr id="3" name="Content Placeholder 2"/>
          <p:cNvSpPr>
            <a:spLocks noGrp="1"/>
          </p:cNvSpPr>
          <p:nvPr>
            <p:ph idx="1"/>
          </p:nvPr>
        </p:nvSpPr>
        <p:spPr>
          <a:xfrm>
            <a:off x="251520" y="1052736"/>
            <a:ext cx="8640960" cy="5805264"/>
          </a:xfrm>
        </p:spPr>
        <p:txBody>
          <a:bodyPr>
            <a:normAutofit lnSpcReduction="10000"/>
          </a:bodyPr>
          <a:lstStyle/>
          <a:p>
            <a:r>
              <a:rPr lang="en-US" sz="2800" dirty="0" smtClean="0"/>
              <a:t>The time line used to find FV of $100 compounded annually for 3 years at 5%.</a:t>
            </a:r>
          </a:p>
          <a:p>
            <a:pPr>
              <a:buNone/>
            </a:pPr>
            <a:endParaRPr lang="en-US" sz="2800" dirty="0" smtClean="0"/>
          </a:p>
          <a:p>
            <a:r>
              <a:rPr lang="en-US" sz="2800" dirty="0" smtClean="0"/>
              <a:t>Multiply the initial amount of each succeeding amount by: (1+I)=(1.05)</a:t>
            </a:r>
          </a:p>
          <a:p>
            <a:pPr>
              <a:buNone/>
            </a:pPr>
            <a:endParaRPr lang="en-US" sz="2400" dirty="0" smtClean="0"/>
          </a:p>
          <a:p>
            <a:pPr>
              <a:buNone/>
            </a:pPr>
            <a:endParaRPr lang="en-US" sz="2400" dirty="0"/>
          </a:p>
          <a:p>
            <a:pPr>
              <a:buNone/>
            </a:pPr>
            <a:endParaRPr lang="en-US" sz="2400" dirty="0" smtClean="0"/>
          </a:p>
          <a:p>
            <a:endParaRPr lang="en-US" sz="2400" dirty="0" smtClean="0"/>
          </a:p>
          <a:p>
            <a:r>
              <a:rPr lang="en-US" sz="2800" dirty="0" smtClean="0"/>
              <a:t>You start with $100 in the account. This is shown at t=o:</a:t>
            </a:r>
          </a:p>
          <a:p>
            <a:pPr lvl="1">
              <a:buFont typeface="Wingdings" pitchFamily="2" charset="2"/>
              <a:buChar char="§"/>
            </a:pPr>
            <a:r>
              <a:rPr lang="en-US" dirty="0" smtClean="0"/>
              <a:t>You earn:</a:t>
            </a:r>
          </a:p>
          <a:p>
            <a:pPr lvl="1">
              <a:buNone/>
            </a:pPr>
            <a:r>
              <a:rPr lang="en-US" dirty="0"/>
              <a:t>	</a:t>
            </a:r>
            <a:r>
              <a:rPr lang="en-US" dirty="0" smtClean="0"/>
              <a:t>		Interest₁ = $100(0.05) = </a:t>
            </a:r>
            <a:r>
              <a:rPr lang="en-US" b="1" dirty="0" smtClean="0"/>
              <a:t>$5</a:t>
            </a:r>
            <a:r>
              <a:rPr lang="en-US" dirty="0" smtClean="0"/>
              <a:t> </a:t>
            </a:r>
          </a:p>
          <a:p>
            <a:pPr lvl="1">
              <a:buNone/>
            </a:pPr>
            <a:r>
              <a:rPr lang="en-US" dirty="0"/>
              <a:t>	</a:t>
            </a:r>
            <a:r>
              <a:rPr lang="en-US" dirty="0" smtClean="0"/>
              <a:t>		So,   FV₁</a:t>
            </a:r>
            <a:r>
              <a:rPr lang="en-US" dirty="0"/>
              <a:t> </a:t>
            </a:r>
            <a:r>
              <a:rPr lang="en-US" dirty="0" smtClean="0"/>
              <a:t> =$100 + $5 </a:t>
            </a:r>
            <a:r>
              <a:rPr lang="en-US" b="1" dirty="0" smtClean="0"/>
              <a:t>=$105</a:t>
            </a:r>
          </a:p>
          <a:p>
            <a:pPr lvl="1">
              <a:buFont typeface="Wingdings" pitchFamily="2" charset="2"/>
              <a:buChar char="§"/>
            </a:pPr>
            <a:endParaRPr lang="en-MY" sz="2400" dirty="0"/>
          </a:p>
        </p:txBody>
      </p:sp>
      <p:cxnSp>
        <p:nvCxnSpPr>
          <p:cNvPr id="5" name="Straight Connector 4"/>
          <p:cNvCxnSpPr/>
          <p:nvPr/>
        </p:nvCxnSpPr>
        <p:spPr>
          <a:xfrm>
            <a:off x="4139952" y="3717032"/>
            <a:ext cx="3528392"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139952" y="3501008"/>
            <a:ext cx="0" cy="36004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220072" y="3501008"/>
            <a:ext cx="0" cy="36004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444208" y="3573016"/>
            <a:ext cx="0" cy="28803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596336" y="3573016"/>
            <a:ext cx="0" cy="36004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71600" y="3573016"/>
            <a:ext cx="1080120" cy="369332"/>
          </a:xfrm>
          <a:prstGeom prst="rect">
            <a:avLst/>
          </a:prstGeom>
          <a:noFill/>
        </p:spPr>
        <p:txBody>
          <a:bodyPr wrap="square" rtlCol="0">
            <a:spAutoFit/>
          </a:bodyPr>
          <a:lstStyle/>
          <a:p>
            <a:r>
              <a:rPr lang="en-US" b="1" dirty="0" smtClean="0">
                <a:solidFill>
                  <a:schemeClr val="accent1">
                    <a:lumMod val="75000"/>
                  </a:schemeClr>
                </a:solidFill>
              </a:rPr>
              <a:t>Time</a:t>
            </a:r>
            <a:endParaRPr lang="en-MY" b="1" dirty="0">
              <a:solidFill>
                <a:schemeClr val="accent1">
                  <a:lumMod val="75000"/>
                </a:schemeClr>
              </a:solidFill>
            </a:endParaRPr>
          </a:p>
        </p:txBody>
      </p:sp>
      <p:sp>
        <p:nvSpPr>
          <p:cNvPr id="15" name="TextBox 14"/>
          <p:cNvSpPr txBox="1"/>
          <p:nvPr/>
        </p:nvSpPr>
        <p:spPr>
          <a:xfrm>
            <a:off x="899592" y="3933056"/>
            <a:ext cx="2952328" cy="369332"/>
          </a:xfrm>
          <a:prstGeom prst="rect">
            <a:avLst/>
          </a:prstGeom>
          <a:noFill/>
        </p:spPr>
        <p:txBody>
          <a:bodyPr wrap="square" rtlCol="0">
            <a:spAutoFit/>
          </a:bodyPr>
          <a:lstStyle/>
          <a:p>
            <a:r>
              <a:rPr lang="en-US" b="1" dirty="0" smtClean="0"/>
              <a:t>Amount at beginning period</a:t>
            </a:r>
            <a:endParaRPr lang="en-MY" b="1" dirty="0"/>
          </a:p>
        </p:txBody>
      </p:sp>
      <p:sp>
        <p:nvSpPr>
          <p:cNvPr id="16" name="TextBox 15"/>
          <p:cNvSpPr txBox="1"/>
          <p:nvPr/>
        </p:nvSpPr>
        <p:spPr>
          <a:xfrm flipH="1">
            <a:off x="3995936" y="3140968"/>
            <a:ext cx="216024" cy="369332"/>
          </a:xfrm>
          <a:prstGeom prst="rect">
            <a:avLst/>
          </a:prstGeom>
          <a:noFill/>
        </p:spPr>
        <p:txBody>
          <a:bodyPr wrap="square" rtlCol="0">
            <a:spAutoFit/>
          </a:bodyPr>
          <a:lstStyle/>
          <a:p>
            <a:r>
              <a:rPr lang="en-US" b="1" dirty="0">
                <a:solidFill>
                  <a:schemeClr val="accent1">
                    <a:lumMod val="75000"/>
                  </a:schemeClr>
                </a:solidFill>
              </a:rPr>
              <a:t>0</a:t>
            </a:r>
            <a:endParaRPr lang="en-MY" b="1" dirty="0">
              <a:solidFill>
                <a:schemeClr val="accent1">
                  <a:lumMod val="75000"/>
                </a:schemeClr>
              </a:solidFill>
            </a:endParaRPr>
          </a:p>
        </p:txBody>
      </p:sp>
      <p:sp>
        <p:nvSpPr>
          <p:cNvPr id="17" name="TextBox 16"/>
          <p:cNvSpPr txBox="1"/>
          <p:nvPr/>
        </p:nvSpPr>
        <p:spPr>
          <a:xfrm flipH="1">
            <a:off x="5076056" y="3140968"/>
            <a:ext cx="288032" cy="369332"/>
          </a:xfrm>
          <a:prstGeom prst="rect">
            <a:avLst/>
          </a:prstGeom>
          <a:noFill/>
        </p:spPr>
        <p:txBody>
          <a:bodyPr wrap="square" rtlCol="0">
            <a:spAutoFit/>
          </a:bodyPr>
          <a:lstStyle/>
          <a:p>
            <a:r>
              <a:rPr lang="en-US" b="1" dirty="0" smtClean="0">
                <a:solidFill>
                  <a:schemeClr val="accent1">
                    <a:lumMod val="75000"/>
                  </a:schemeClr>
                </a:solidFill>
              </a:rPr>
              <a:t>1</a:t>
            </a:r>
            <a:endParaRPr lang="en-MY" b="1" dirty="0">
              <a:solidFill>
                <a:schemeClr val="accent1">
                  <a:lumMod val="75000"/>
                </a:schemeClr>
              </a:solidFill>
            </a:endParaRPr>
          </a:p>
        </p:txBody>
      </p:sp>
      <p:sp>
        <p:nvSpPr>
          <p:cNvPr id="18" name="TextBox 17"/>
          <p:cNvSpPr txBox="1"/>
          <p:nvPr/>
        </p:nvSpPr>
        <p:spPr>
          <a:xfrm flipH="1">
            <a:off x="6300192" y="3140968"/>
            <a:ext cx="288032" cy="369332"/>
          </a:xfrm>
          <a:prstGeom prst="rect">
            <a:avLst/>
          </a:prstGeom>
          <a:noFill/>
        </p:spPr>
        <p:txBody>
          <a:bodyPr wrap="square" rtlCol="0">
            <a:spAutoFit/>
          </a:bodyPr>
          <a:lstStyle/>
          <a:p>
            <a:r>
              <a:rPr lang="en-US" b="1" dirty="0" smtClean="0">
                <a:solidFill>
                  <a:schemeClr val="accent1">
                    <a:lumMod val="75000"/>
                  </a:schemeClr>
                </a:solidFill>
              </a:rPr>
              <a:t>2</a:t>
            </a:r>
            <a:endParaRPr lang="en-MY" b="1" dirty="0">
              <a:solidFill>
                <a:schemeClr val="accent1">
                  <a:lumMod val="75000"/>
                </a:schemeClr>
              </a:solidFill>
            </a:endParaRPr>
          </a:p>
        </p:txBody>
      </p:sp>
      <p:sp>
        <p:nvSpPr>
          <p:cNvPr id="19" name="TextBox 18"/>
          <p:cNvSpPr txBox="1"/>
          <p:nvPr/>
        </p:nvSpPr>
        <p:spPr>
          <a:xfrm flipH="1">
            <a:off x="7452320" y="3212976"/>
            <a:ext cx="216024" cy="369332"/>
          </a:xfrm>
          <a:prstGeom prst="rect">
            <a:avLst/>
          </a:prstGeom>
          <a:noFill/>
        </p:spPr>
        <p:txBody>
          <a:bodyPr wrap="square" rtlCol="0">
            <a:spAutoFit/>
          </a:bodyPr>
          <a:lstStyle/>
          <a:p>
            <a:r>
              <a:rPr lang="en-US" b="1" dirty="0" smtClean="0">
                <a:solidFill>
                  <a:schemeClr val="accent1">
                    <a:lumMod val="75000"/>
                  </a:schemeClr>
                </a:solidFill>
              </a:rPr>
              <a:t>3</a:t>
            </a:r>
            <a:endParaRPr lang="en-MY" b="1" dirty="0">
              <a:solidFill>
                <a:schemeClr val="accent1">
                  <a:lumMod val="75000"/>
                </a:schemeClr>
              </a:solidFill>
            </a:endParaRPr>
          </a:p>
        </p:txBody>
      </p:sp>
      <p:sp>
        <p:nvSpPr>
          <p:cNvPr id="20" name="TextBox 19"/>
          <p:cNvSpPr txBox="1"/>
          <p:nvPr/>
        </p:nvSpPr>
        <p:spPr>
          <a:xfrm>
            <a:off x="3923928" y="4005064"/>
            <a:ext cx="4536504" cy="369332"/>
          </a:xfrm>
          <a:prstGeom prst="rect">
            <a:avLst/>
          </a:prstGeom>
          <a:noFill/>
        </p:spPr>
        <p:txBody>
          <a:bodyPr wrap="square" rtlCol="0">
            <a:spAutoFit/>
          </a:bodyPr>
          <a:lstStyle/>
          <a:p>
            <a:r>
              <a:rPr lang="en-US" b="1" dirty="0" smtClean="0"/>
              <a:t>$100 ---</a:t>
            </a:r>
            <a:r>
              <a:rPr lang="en-US" b="1" dirty="0" smtClean="0">
                <a:sym typeface="Wingdings" pitchFamily="2" charset="2"/>
              </a:rPr>
              <a:t> $105.00 --- $110.25 --$115.76</a:t>
            </a:r>
            <a:endParaRPr lang="en-MY"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a:bodyPr>
          <a:lstStyle/>
          <a:p>
            <a:pPr>
              <a:buFont typeface="Wingdings" pitchFamily="2" charset="2"/>
              <a:buChar char="§"/>
            </a:pPr>
            <a:r>
              <a:rPr lang="en-US" sz="2800" dirty="0" smtClean="0"/>
              <a:t>You begin the 2</a:t>
            </a:r>
            <a:r>
              <a:rPr lang="en-US" sz="2800" baseline="30000" dirty="0" smtClean="0"/>
              <a:t>nd</a:t>
            </a:r>
            <a:r>
              <a:rPr lang="en-US" sz="2800" dirty="0" smtClean="0"/>
              <a:t> year with $105, and earn: 	Interest₂  	= $105(0.05) = </a:t>
            </a:r>
            <a:r>
              <a:rPr lang="en-US" sz="2800" b="1" dirty="0" smtClean="0"/>
              <a:t>$5.25</a:t>
            </a:r>
          </a:p>
          <a:p>
            <a:pPr>
              <a:buNone/>
            </a:pPr>
            <a:r>
              <a:rPr lang="en-US" sz="2800" dirty="0"/>
              <a:t>	</a:t>
            </a:r>
            <a:r>
              <a:rPr lang="en-US" sz="2800" dirty="0" smtClean="0"/>
              <a:t>	FV₂ 		= $105 + $5.25 = </a:t>
            </a:r>
            <a:r>
              <a:rPr lang="en-US" sz="2800" b="1" dirty="0" smtClean="0"/>
              <a:t>$110.25</a:t>
            </a:r>
          </a:p>
          <a:p>
            <a:pPr>
              <a:buNone/>
            </a:pPr>
            <a:endParaRPr lang="en-US" sz="2800" b="1" dirty="0"/>
          </a:p>
          <a:p>
            <a:pPr>
              <a:buFont typeface="Wingdings" pitchFamily="2" charset="2"/>
              <a:buChar char="§"/>
            </a:pPr>
            <a:r>
              <a:rPr lang="en-US" sz="2800" dirty="0" smtClean="0"/>
              <a:t>You begin the 3</a:t>
            </a:r>
            <a:r>
              <a:rPr lang="en-US" sz="2800" baseline="30000" dirty="0" smtClean="0"/>
              <a:t>rd</a:t>
            </a:r>
            <a:r>
              <a:rPr lang="en-US" sz="2800" dirty="0" smtClean="0"/>
              <a:t>  year with $110.25, and earn: 	Interest₃  	= $110.25(0.05) = </a:t>
            </a:r>
            <a:r>
              <a:rPr lang="en-US" sz="2800" b="1" dirty="0" smtClean="0"/>
              <a:t>$5.51</a:t>
            </a:r>
          </a:p>
          <a:p>
            <a:pPr>
              <a:buNone/>
            </a:pPr>
            <a:r>
              <a:rPr lang="en-US" sz="2800" dirty="0" smtClean="0"/>
              <a:t>		FV₃ 		= $110.25 + $5.51 = </a:t>
            </a:r>
            <a:r>
              <a:rPr lang="en-US" sz="2800" b="1" dirty="0" smtClean="0"/>
              <a:t>$115.76</a:t>
            </a:r>
          </a:p>
          <a:p>
            <a:pPr>
              <a:buFont typeface="Wingdings" pitchFamily="2" charset="2"/>
              <a:buChar char="§"/>
            </a:pPr>
            <a:endParaRPr lang="en-MY" sz="280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US" sz="3600" dirty="0" smtClean="0"/>
              <a:t>6-2b: Formula Approach</a:t>
            </a:r>
            <a:endParaRPr lang="en-MY" sz="3600" dirty="0"/>
          </a:p>
        </p:txBody>
      </p:sp>
      <p:sp>
        <p:nvSpPr>
          <p:cNvPr id="3" name="Content Placeholder 2"/>
          <p:cNvSpPr>
            <a:spLocks noGrp="1"/>
          </p:cNvSpPr>
          <p:nvPr>
            <p:ph idx="1"/>
          </p:nvPr>
        </p:nvSpPr>
        <p:spPr>
          <a:xfrm>
            <a:off x="457200" y="1268760"/>
            <a:ext cx="8229600" cy="4857403"/>
          </a:xfrm>
        </p:spPr>
        <p:txBody>
          <a:bodyPr/>
          <a:lstStyle/>
          <a:p>
            <a:r>
              <a:rPr lang="en-US" dirty="0" smtClean="0"/>
              <a:t>Using the formula:</a:t>
            </a:r>
          </a:p>
          <a:p>
            <a:pPr>
              <a:buNone/>
            </a:pPr>
            <a:r>
              <a:rPr lang="en-US" dirty="0"/>
              <a:t>	</a:t>
            </a:r>
            <a:r>
              <a:rPr lang="en-US" dirty="0" smtClean="0"/>
              <a:t>	FV</a:t>
            </a:r>
            <a:r>
              <a:rPr lang="en-US" sz="2000" dirty="0" smtClean="0"/>
              <a:t>N    </a:t>
            </a:r>
            <a:r>
              <a:rPr lang="en-US" dirty="0" smtClean="0"/>
              <a:t>=   PV (1 + I) ᶰ</a:t>
            </a:r>
          </a:p>
          <a:p>
            <a:pPr>
              <a:buNone/>
            </a:pPr>
            <a:endParaRPr lang="en-US" sz="2000" dirty="0"/>
          </a:p>
          <a:p>
            <a:r>
              <a:rPr lang="en-US" dirty="0" smtClean="0"/>
              <a:t>So, apply the equation to find FV₃:</a:t>
            </a:r>
          </a:p>
          <a:p>
            <a:pPr>
              <a:buNone/>
            </a:pPr>
            <a:r>
              <a:rPr lang="en-US" dirty="0"/>
              <a:t>	</a:t>
            </a:r>
            <a:r>
              <a:rPr lang="en-US" dirty="0" smtClean="0"/>
              <a:t> 	FV</a:t>
            </a:r>
            <a:r>
              <a:rPr lang="en-US" sz="2000" dirty="0" smtClean="0"/>
              <a:t>₃    </a:t>
            </a:r>
            <a:r>
              <a:rPr lang="en-US" dirty="0" smtClean="0"/>
              <a:t>=   PV (1 + I) ₃</a:t>
            </a:r>
          </a:p>
          <a:p>
            <a:pPr>
              <a:buNone/>
            </a:pPr>
            <a:r>
              <a:rPr lang="en-US" dirty="0"/>
              <a:t>	</a:t>
            </a:r>
            <a:r>
              <a:rPr lang="en-US" dirty="0" smtClean="0"/>
              <a:t>	        =   $100 (1 + 0.05)³</a:t>
            </a:r>
          </a:p>
          <a:p>
            <a:pPr>
              <a:buNone/>
            </a:pPr>
            <a:r>
              <a:rPr lang="en-US" dirty="0"/>
              <a:t>	</a:t>
            </a:r>
            <a:r>
              <a:rPr lang="en-US" dirty="0" smtClean="0"/>
              <a:t>	        =   </a:t>
            </a:r>
            <a:r>
              <a:rPr lang="en-US" b="1" dirty="0" smtClean="0"/>
              <a:t>$115.76</a:t>
            </a:r>
            <a:endParaRPr lang="en-MY"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US" dirty="0" smtClean="0"/>
              <a:t>Quick-Question</a:t>
            </a:r>
            <a:endParaRPr lang="en-MY" dirty="0"/>
          </a:p>
        </p:txBody>
      </p:sp>
      <p:sp>
        <p:nvSpPr>
          <p:cNvPr id="3" name="Content Placeholder 2"/>
          <p:cNvSpPr>
            <a:spLocks noGrp="1"/>
          </p:cNvSpPr>
          <p:nvPr>
            <p:ph idx="1"/>
          </p:nvPr>
        </p:nvSpPr>
        <p:spPr>
          <a:xfrm>
            <a:off x="457200" y="1052736"/>
            <a:ext cx="8229600" cy="5073427"/>
          </a:xfrm>
        </p:spPr>
        <p:txBody>
          <a:bodyPr/>
          <a:lstStyle/>
          <a:p>
            <a:pPr>
              <a:buNone/>
            </a:pPr>
            <a:r>
              <a:rPr lang="en-US" dirty="0" smtClean="0"/>
              <a:t>	</a:t>
            </a:r>
            <a:r>
              <a:rPr lang="en-US" sz="2800" dirty="0" smtClean="0"/>
              <a:t>At the beginning of your freshman year, your favorite aunt and uncle deposit $10,000 into a four-year bank certificate of deposit (CD) that pays 5% annually. </a:t>
            </a:r>
          </a:p>
          <a:p>
            <a:pPr>
              <a:buNone/>
            </a:pPr>
            <a:r>
              <a:rPr lang="en-US" sz="2800" dirty="0" smtClean="0"/>
              <a:t>	You will receive the money in the account (including the accumulated interest) if you graduate with honors in four years. </a:t>
            </a:r>
          </a:p>
          <a:p>
            <a:pPr>
              <a:buNone/>
            </a:pPr>
            <a:r>
              <a:rPr lang="en-US" sz="2800" dirty="0" smtClean="0"/>
              <a:t>	How much will there be in the account after four years?</a:t>
            </a:r>
          </a:p>
          <a:p>
            <a:pPr>
              <a:buNone/>
            </a:pPr>
            <a:r>
              <a:rPr lang="en-US" sz="2800" dirty="0" smtClean="0"/>
              <a:t>	</a:t>
            </a:r>
            <a:r>
              <a:rPr lang="en-US" sz="2400" b="1" dirty="0" smtClean="0"/>
              <a:t>($12,155.06)</a:t>
            </a:r>
            <a:endParaRPr lang="en-MY" sz="2400"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74638"/>
            <a:ext cx="8229600" cy="850106"/>
          </a:xfrm>
        </p:spPr>
        <p:txBody>
          <a:bodyPr>
            <a:normAutofit/>
          </a:bodyPr>
          <a:lstStyle/>
          <a:p>
            <a:r>
              <a:rPr lang="en-US" sz="3600" dirty="0" smtClean="0"/>
              <a:t>6-2c: Future Value – Using Tables Approach</a:t>
            </a:r>
          </a:p>
        </p:txBody>
      </p:sp>
      <p:sp>
        <p:nvSpPr>
          <p:cNvPr id="10" name="Content Placeholder 9"/>
          <p:cNvSpPr>
            <a:spLocks noGrp="1"/>
          </p:cNvSpPr>
          <p:nvPr>
            <p:ph idx="1"/>
          </p:nvPr>
        </p:nvSpPr>
        <p:spPr>
          <a:xfrm>
            <a:off x="323850" y="1412875"/>
            <a:ext cx="8496300" cy="4968453"/>
          </a:xfrm>
        </p:spPr>
        <p:txBody>
          <a:bodyPr>
            <a:normAutofit fontScale="77500" lnSpcReduction="20000"/>
          </a:bodyPr>
          <a:lstStyle/>
          <a:p>
            <a:pPr algn="ctr" eaLnBrk="1" hangingPunct="1">
              <a:buFont typeface="Wingdings 3" pitchFamily="18" charset="2"/>
              <a:buNone/>
              <a:defRPr/>
            </a:pPr>
            <a:r>
              <a:rPr lang="en-US" sz="3000" b="1" dirty="0" smtClean="0">
                <a:solidFill>
                  <a:srgbClr val="FF0000"/>
                </a:solidFill>
              </a:rPr>
              <a:t>FV</a:t>
            </a:r>
            <a:r>
              <a:rPr lang="en-US" sz="3000" b="1" baseline="-25000" dirty="0" smtClean="0">
                <a:solidFill>
                  <a:srgbClr val="FF0000"/>
                </a:solidFill>
              </a:rPr>
              <a:t>n </a:t>
            </a:r>
            <a:r>
              <a:rPr lang="en-US" sz="3000" b="1" dirty="0" smtClean="0">
                <a:solidFill>
                  <a:srgbClr val="FF0000"/>
                </a:solidFill>
              </a:rPr>
              <a:t>= PV (FVIF</a:t>
            </a:r>
            <a:r>
              <a:rPr lang="en-US" sz="3000" b="1" baseline="-25000" dirty="0" smtClean="0">
                <a:solidFill>
                  <a:srgbClr val="FF0000"/>
                </a:solidFill>
              </a:rPr>
              <a:t>i,n</a:t>
            </a:r>
            <a:r>
              <a:rPr lang="en-US" sz="3000" b="1" dirty="0" smtClean="0">
                <a:solidFill>
                  <a:srgbClr val="FF0000"/>
                </a:solidFill>
              </a:rPr>
              <a:t>)</a:t>
            </a:r>
          </a:p>
          <a:p>
            <a:pPr algn="ctr" eaLnBrk="1" hangingPunct="1">
              <a:buFont typeface="Wingdings 3" pitchFamily="18" charset="2"/>
              <a:buNone/>
              <a:defRPr/>
            </a:pPr>
            <a:endParaRPr lang="en-US" sz="3000" b="1" dirty="0" smtClean="0">
              <a:solidFill>
                <a:srgbClr val="FF0000"/>
              </a:solidFill>
            </a:endParaRPr>
          </a:p>
          <a:p>
            <a:pPr eaLnBrk="1" hangingPunct="1">
              <a:buFont typeface="Wingdings" pitchFamily="1" charset="2"/>
              <a:buChar char="§"/>
              <a:defRPr/>
            </a:pPr>
            <a:r>
              <a:rPr lang="en-US" sz="3000" dirty="0" smtClean="0"/>
              <a:t>Where</a:t>
            </a:r>
            <a:r>
              <a:rPr lang="en-US" sz="3000" i="1" dirty="0" smtClean="0"/>
              <a:t> FV</a:t>
            </a:r>
            <a:r>
              <a:rPr lang="en-US" sz="3000" i="1" baseline="-25000" dirty="0" smtClean="0"/>
              <a:t>n </a:t>
            </a:r>
            <a:r>
              <a:rPr lang="en-US" sz="3000" dirty="0" smtClean="0"/>
              <a:t>=</a:t>
            </a:r>
            <a:r>
              <a:rPr lang="en-US" sz="3000" i="1" dirty="0" smtClean="0"/>
              <a:t> </a:t>
            </a:r>
            <a:r>
              <a:rPr lang="en-US" sz="3000" dirty="0" smtClean="0"/>
              <a:t>the future of the investment at     	            	          the end of n year</a:t>
            </a:r>
          </a:p>
          <a:p>
            <a:pPr eaLnBrk="1" hangingPunct="1">
              <a:buNone/>
              <a:defRPr/>
            </a:pPr>
            <a:endParaRPr lang="en-US" sz="3000" dirty="0" smtClean="0"/>
          </a:p>
          <a:p>
            <a:pPr eaLnBrk="1" hangingPunct="1">
              <a:buFont typeface="Wingdings" pitchFamily="1" charset="2"/>
              <a:buChar char="§"/>
              <a:defRPr/>
            </a:pPr>
            <a:r>
              <a:rPr lang="en-US" sz="3000" i="1" dirty="0" smtClean="0"/>
              <a:t>PV </a:t>
            </a:r>
            <a:r>
              <a:rPr lang="en-US" sz="3000" dirty="0" smtClean="0"/>
              <a:t>=</a:t>
            </a:r>
            <a:r>
              <a:rPr lang="en-US" sz="3000" i="1" dirty="0" smtClean="0"/>
              <a:t> </a:t>
            </a:r>
            <a:r>
              <a:rPr lang="en-US" sz="3000" dirty="0" smtClean="0"/>
              <a:t>the present value, or original amount invested at the beginning of the first year</a:t>
            </a:r>
          </a:p>
          <a:p>
            <a:pPr eaLnBrk="1" hangingPunct="1">
              <a:buNone/>
              <a:defRPr/>
            </a:pPr>
            <a:endParaRPr lang="en-US" sz="3000" dirty="0" smtClean="0"/>
          </a:p>
          <a:p>
            <a:pPr eaLnBrk="1" hangingPunct="1">
              <a:buFont typeface="Wingdings" pitchFamily="1" charset="2"/>
              <a:buChar char="§"/>
              <a:defRPr/>
            </a:pPr>
            <a:r>
              <a:rPr lang="en-US" sz="3000" i="1" dirty="0" smtClean="0"/>
              <a:t>FVIF </a:t>
            </a:r>
            <a:r>
              <a:rPr lang="en-US" sz="3000" dirty="0" smtClean="0"/>
              <a:t>=</a:t>
            </a:r>
            <a:r>
              <a:rPr lang="en-US" sz="3000" i="1" dirty="0" smtClean="0"/>
              <a:t> </a:t>
            </a:r>
            <a:r>
              <a:rPr lang="en-US" sz="3000" dirty="0" smtClean="0"/>
              <a:t>Future value interest factor or  the compound sum of $1</a:t>
            </a:r>
          </a:p>
          <a:p>
            <a:pPr eaLnBrk="1" hangingPunct="1">
              <a:buNone/>
              <a:defRPr/>
            </a:pPr>
            <a:endParaRPr lang="en-US" sz="3000" dirty="0" smtClean="0"/>
          </a:p>
          <a:p>
            <a:pPr eaLnBrk="1" hangingPunct="1">
              <a:buFont typeface="Wingdings" pitchFamily="1" charset="2"/>
              <a:buChar char="§"/>
              <a:defRPr/>
            </a:pPr>
            <a:r>
              <a:rPr lang="en-US" sz="3000" i="1" dirty="0" smtClean="0"/>
              <a:t>i </a:t>
            </a:r>
            <a:r>
              <a:rPr lang="en-US" sz="3000" dirty="0" smtClean="0"/>
              <a:t>=</a:t>
            </a:r>
            <a:r>
              <a:rPr lang="en-US" sz="3000" i="1" dirty="0" smtClean="0"/>
              <a:t>  </a:t>
            </a:r>
            <a:r>
              <a:rPr lang="en-US" sz="3000" dirty="0" smtClean="0"/>
              <a:t>the interest rate</a:t>
            </a:r>
          </a:p>
          <a:p>
            <a:pPr eaLnBrk="1" hangingPunct="1">
              <a:buNone/>
              <a:defRPr/>
            </a:pPr>
            <a:endParaRPr lang="en-US" sz="3000" dirty="0" smtClean="0"/>
          </a:p>
          <a:p>
            <a:pPr eaLnBrk="1" hangingPunct="1">
              <a:buFont typeface="Wingdings" pitchFamily="1" charset="2"/>
              <a:buChar char="§"/>
              <a:defRPr/>
            </a:pPr>
            <a:r>
              <a:rPr lang="en-US" sz="3000" i="1" dirty="0" smtClean="0"/>
              <a:t>n </a:t>
            </a:r>
            <a:r>
              <a:rPr lang="en-US" sz="3000" dirty="0" smtClean="0"/>
              <a:t>=</a:t>
            </a:r>
            <a:r>
              <a:rPr lang="en-US" sz="3000" i="1" dirty="0" smtClean="0"/>
              <a:t> </a:t>
            </a:r>
            <a:r>
              <a:rPr lang="en-US" sz="3000" dirty="0" smtClean="0"/>
              <a:t>number of compounding periods</a:t>
            </a:r>
            <a:endParaRPr lang="en-US" sz="3000" dirty="0" smtClean="0">
              <a:effectLst>
                <a:outerShdw blurRad="38100" dist="38100" dir="2700000" algn="tl">
                  <a:srgbClr val="C0C0C0"/>
                </a:outerShdw>
              </a:effectLst>
              <a:latin typeface="Arial Black" pitchFamily="34" charset="0"/>
            </a:endParaRPr>
          </a:p>
          <a:p>
            <a:pPr>
              <a:buFont typeface="Wingdings" pitchFamily="1" charset="2"/>
              <a:buChar char="§"/>
              <a:defRPr/>
            </a:pPr>
            <a:endParaRPr lang="en-MY" sz="3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normAutofit fontScale="92500"/>
          </a:bodyPr>
          <a:lstStyle/>
          <a:p>
            <a:pPr algn="ctr">
              <a:buNone/>
            </a:pPr>
            <a:r>
              <a:rPr lang="en-US" sz="2800" b="1" u="sng" dirty="0" smtClean="0"/>
              <a:t>Self-test:</a:t>
            </a:r>
          </a:p>
          <a:p>
            <a:pPr algn="ctr">
              <a:buNone/>
            </a:pPr>
            <a:endParaRPr lang="en-US" sz="2400" b="1" u="sng" dirty="0" smtClean="0"/>
          </a:p>
          <a:p>
            <a:pPr marL="514350" indent="-514350">
              <a:buFont typeface="+mj-lt"/>
              <a:buAutoNum type="arabicPeriod"/>
            </a:pPr>
            <a:r>
              <a:rPr lang="en-US" sz="2400" dirty="0" smtClean="0"/>
              <a:t>Suppose you currently have $2,000 and plan to purchase a 3-year certificate of deposit (CD) that pays 4% interest compounded annually. How much will you have when the CD matures? How would your answer change if the interest rate were 5% or 6% or 20%?</a:t>
            </a:r>
          </a:p>
          <a:p>
            <a:pPr marL="514350" indent="-514350">
              <a:buNone/>
            </a:pPr>
            <a:r>
              <a:rPr lang="en-US" sz="2400" dirty="0" smtClean="0"/>
              <a:t>	</a:t>
            </a:r>
            <a:r>
              <a:rPr lang="en-US" sz="2000" b="1" dirty="0" smtClean="0"/>
              <a:t>($2,249.73; $2,315.25; $2,382.03; $3,456.00)</a:t>
            </a:r>
          </a:p>
          <a:p>
            <a:pPr marL="514350" indent="-514350">
              <a:buNone/>
            </a:pPr>
            <a:endParaRPr lang="en-US" sz="2400" dirty="0" smtClean="0"/>
          </a:p>
          <a:p>
            <a:pPr marL="514350" indent="-514350">
              <a:buAutoNum type="arabicPeriod" startAt="2"/>
            </a:pPr>
            <a:r>
              <a:rPr lang="en-US" sz="2400" dirty="0" smtClean="0"/>
              <a:t>A company’s sales in 2012 were $100 million. If sales grow at 8%, what will they be 10 years later, in 2022?</a:t>
            </a:r>
          </a:p>
          <a:p>
            <a:pPr marL="514350" indent="-514350">
              <a:buNone/>
            </a:pPr>
            <a:r>
              <a:rPr lang="en-US" sz="2400" dirty="0" smtClean="0"/>
              <a:t>	</a:t>
            </a:r>
            <a:r>
              <a:rPr lang="en-US" sz="2000" b="1" dirty="0" smtClean="0"/>
              <a:t>($215.89 million)</a:t>
            </a:r>
          </a:p>
          <a:p>
            <a:pPr marL="514350" indent="-514350">
              <a:buNone/>
            </a:pPr>
            <a:endParaRPr lang="en-US" sz="2400" dirty="0" smtClean="0"/>
          </a:p>
          <a:p>
            <a:pPr marL="514350" indent="-514350">
              <a:buAutoNum type="arabicPeriod" startAt="3"/>
            </a:pPr>
            <a:r>
              <a:rPr lang="en-US" sz="2400" dirty="0" smtClean="0"/>
              <a:t>How much would $1, growing at 5% per year, be worth after 100 years? What would the FV be if the growth rate was 10%?</a:t>
            </a:r>
          </a:p>
          <a:p>
            <a:pPr marL="514350" indent="-514350">
              <a:buNone/>
            </a:pPr>
            <a:r>
              <a:rPr lang="en-US" sz="2400" dirty="0" smtClean="0"/>
              <a:t>	</a:t>
            </a:r>
            <a:r>
              <a:rPr lang="en-US" sz="2200" b="1" dirty="0" smtClean="0"/>
              <a:t>($131.50; $13,780.61)</a:t>
            </a:r>
            <a:endParaRPr lang="en-MY" sz="22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a:solidFill>
            <a:schemeClr val="accent1">
              <a:lumMod val="60000"/>
              <a:lumOff val="40000"/>
            </a:schemeClr>
          </a:solidFill>
        </p:spPr>
        <p:txBody>
          <a:bodyPr>
            <a:normAutofit fontScale="90000"/>
          </a:bodyPr>
          <a:lstStyle/>
          <a:p>
            <a:r>
              <a:rPr lang="en-US" cap="all" dirty="0" smtClean="0">
                <a:solidFill>
                  <a:schemeClr val="tx1"/>
                </a:solidFill>
              </a:rPr>
              <a:t/>
            </a:r>
            <a:br>
              <a:rPr lang="en-US" cap="all" dirty="0" smtClean="0">
                <a:solidFill>
                  <a:schemeClr val="tx1"/>
                </a:solidFill>
              </a:rPr>
            </a:br>
            <a:r>
              <a:rPr lang="en-US" sz="4000" cap="all" dirty="0" smtClean="0">
                <a:solidFill>
                  <a:schemeClr val="tx1"/>
                </a:solidFill>
              </a:rPr>
              <a:t>6-3:Present Value</a:t>
            </a:r>
            <a:br>
              <a:rPr lang="en-US" sz="4000" cap="all" dirty="0" smtClean="0">
                <a:solidFill>
                  <a:schemeClr val="tx1"/>
                </a:solidFill>
              </a:rPr>
            </a:br>
            <a:endParaRPr lang="en-MY" sz="4000" dirty="0"/>
          </a:p>
        </p:txBody>
      </p:sp>
      <p:sp>
        <p:nvSpPr>
          <p:cNvPr id="3" name="Content Placeholder 2"/>
          <p:cNvSpPr>
            <a:spLocks noGrp="1"/>
          </p:cNvSpPr>
          <p:nvPr>
            <p:ph idx="1"/>
          </p:nvPr>
        </p:nvSpPr>
        <p:spPr>
          <a:xfrm>
            <a:off x="457200" y="1340768"/>
            <a:ext cx="8229600" cy="4785395"/>
          </a:xfrm>
        </p:spPr>
        <p:txBody>
          <a:bodyPr>
            <a:normAutofit fontScale="85000" lnSpcReduction="20000"/>
          </a:bodyPr>
          <a:lstStyle/>
          <a:p>
            <a:r>
              <a:rPr lang="en-US" dirty="0" smtClean="0"/>
              <a:t>Finding a PV is the reverse of finding FV.</a:t>
            </a:r>
          </a:p>
          <a:p>
            <a:pPr>
              <a:buNone/>
            </a:pPr>
            <a:endParaRPr lang="en-US" dirty="0" smtClean="0"/>
          </a:p>
          <a:p>
            <a:r>
              <a:rPr lang="en-US" dirty="0" smtClean="0"/>
              <a:t>Using the formula:</a:t>
            </a:r>
          </a:p>
          <a:p>
            <a:pPr>
              <a:buNone/>
            </a:pPr>
            <a:r>
              <a:rPr lang="en-US" dirty="0"/>
              <a:t>	</a:t>
            </a:r>
            <a:r>
              <a:rPr lang="en-US" dirty="0" smtClean="0"/>
              <a:t>		FV</a:t>
            </a:r>
            <a:r>
              <a:rPr lang="en-US" sz="2000" dirty="0" smtClean="0"/>
              <a:t>N    </a:t>
            </a:r>
            <a:r>
              <a:rPr lang="en-US" dirty="0" smtClean="0"/>
              <a:t>=   PV (1 + I) ᶰ</a:t>
            </a:r>
          </a:p>
          <a:p>
            <a:pPr>
              <a:buNone/>
            </a:pPr>
            <a:r>
              <a:rPr lang="en-US" dirty="0"/>
              <a:t> </a:t>
            </a:r>
            <a:r>
              <a:rPr lang="en-US" dirty="0" smtClean="0"/>
              <a:t>    	</a:t>
            </a:r>
          </a:p>
          <a:p>
            <a:pPr>
              <a:buNone/>
            </a:pPr>
            <a:r>
              <a:rPr lang="en-US" dirty="0"/>
              <a:t>	</a:t>
            </a:r>
            <a:r>
              <a:rPr lang="en-US" dirty="0" smtClean="0"/>
              <a:t>	Therefore,</a:t>
            </a:r>
          </a:p>
          <a:p>
            <a:pPr>
              <a:buNone/>
            </a:pPr>
            <a:r>
              <a:rPr lang="en-US" dirty="0"/>
              <a:t>	</a:t>
            </a:r>
            <a:r>
              <a:rPr lang="en-US" dirty="0" smtClean="0"/>
              <a:t>		PV    =      FV</a:t>
            </a:r>
            <a:r>
              <a:rPr lang="en-US" sz="2000" dirty="0" smtClean="0"/>
              <a:t>N </a:t>
            </a:r>
          </a:p>
          <a:p>
            <a:pPr>
              <a:buNone/>
            </a:pPr>
            <a:r>
              <a:rPr lang="en-US" sz="2000" dirty="0"/>
              <a:t>	</a:t>
            </a:r>
            <a:r>
              <a:rPr lang="en-US" sz="2000" dirty="0" smtClean="0"/>
              <a:t>			     </a:t>
            </a:r>
            <a:r>
              <a:rPr lang="en-US" dirty="0" smtClean="0"/>
              <a:t>(1 + I)ᶰ</a:t>
            </a:r>
          </a:p>
          <a:p>
            <a:pPr>
              <a:buNone/>
            </a:pPr>
            <a:endParaRPr lang="en-US" dirty="0" smtClean="0"/>
          </a:p>
          <a:p>
            <a:pPr>
              <a:buNone/>
            </a:pPr>
            <a:endParaRPr lang="en-US" dirty="0" smtClean="0"/>
          </a:p>
          <a:p>
            <a:pPr>
              <a:buNone/>
            </a:pPr>
            <a:r>
              <a:rPr lang="en-US" dirty="0"/>
              <a:t>	</a:t>
            </a:r>
            <a:r>
              <a:rPr lang="en-US" dirty="0" smtClean="0"/>
              <a:t>	</a:t>
            </a:r>
            <a:endParaRPr lang="en-MY" dirty="0"/>
          </a:p>
        </p:txBody>
      </p:sp>
      <p:cxnSp>
        <p:nvCxnSpPr>
          <p:cNvPr id="5" name="Straight Connector 4"/>
          <p:cNvCxnSpPr/>
          <p:nvPr/>
        </p:nvCxnSpPr>
        <p:spPr>
          <a:xfrm>
            <a:off x="3563888" y="4149080"/>
            <a:ext cx="8640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363272" cy="6525344"/>
          </a:xfrm>
        </p:spPr>
        <p:txBody>
          <a:bodyPr>
            <a:normAutofit/>
          </a:bodyPr>
          <a:lstStyle/>
          <a:p>
            <a:r>
              <a:rPr lang="en-US" sz="2400" dirty="0" smtClean="0"/>
              <a:t>Finding PV is called </a:t>
            </a:r>
            <a:r>
              <a:rPr lang="en-US" sz="2400" b="1" u="sng" dirty="0" smtClean="0">
                <a:solidFill>
                  <a:srgbClr val="FF0000"/>
                </a:solidFill>
              </a:rPr>
              <a:t>discounting</a:t>
            </a:r>
            <a:r>
              <a:rPr lang="en-US" sz="2400" b="1" dirty="0" smtClean="0"/>
              <a:t> </a:t>
            </a:r>
            <a:r>
              <a:rPr lang="en-US" sz="2400" dirty="0" smtClean="0"/>
              <a:t>, and it is reverse of compounding – thus if you know the PV you can compound to find the FV, while if you know the FV you can discount to find PV.</a:t>
            </a:r>
          </a:p>
          <a:p>
            <a:pPr>
              <a:buNone/>
            </a:pPr>
            <a:endParaRPr lang="en-US" sz="2400" dirty="0" smtClean="0"/>
          </a:p>
          <a:p>
            <a:r>
              <a:rPr lang="en-US" sz="2400" b="1" dirty="0" smtClean="0"/>
              <a:t>Example:</a:t>
            </a:r>
            <a:r>
              <a:rPr lang="en-US" sz="2400" dirty="0" smtClean="0"/>
              <a:t> A broker offers to sell you a </a:t>
            </a:r>
            <a:r>
              <a:rPr lang="en-US" sz="2400" b="1" dirty="0" smtClean="0"/>
              <a:t>Treasury Bond that will pay $115.76 three years from now. </a:t>
            </a:r>
            <a:r>
              <a:rPr lang="en-US" sz="2400" dirty="0" smtClean="0"/>
              <a:t>Banks are currently offering a guaranteed </a:t>
            </a:r>
            <a:r>
              <a:rPr lang="en-US" sz="2400" b="1" dirty="0" smtClean="0"/>
              <a:t>5% interest on 3-year certificates of deposit (CDs); </a:t>
            </a:r>
            <a:r>
              <a:rPr lang="en-US" sz="2400" dirty="0" smtClean="0"/>
              <a:t>and if you don’t buy the bond, you will buy a CD. </a:t>
            </a:r>
            <a:r>
              <a:rPr lang="en-US" sz="2400" u="sng" dirty="0" smtClean="0">
                <a:effectLst>
                  <a:outerShdw blurRad="38100" dist="38100" dir="2700000" algn="tl">
                    <a:srgbClr val="000000">
                      <a:alpha val="43137"/>
                    </a:srgbClr>
                  </a:outerShdw>
                </a:effectLst>
              </a:rPr>
              <a:t>The rate 5% paid on the CDs </a:t>
            </a:r>
            <a:r>
              <a:rPr lang="en-US" sz="2400" dirty="0" smtClean="0"/>
              <a:t>is defined as your </a:t>
            </a:r>
            <a:r>
              <a:rPr lang="en-US" sz="2400" b="1" u="sng" dirty="0" smtClean="0">
                <a:solidFill>
                  <a:srgbClr val="00B050"/>
                </a:solidFill>
              </a:rPr>
              <a:t>opportunity cost</a:t>
            </a:r>
            <a:r>
              <a:rPr lang="en-US" sz="2400" dirty="0" smtClean="0"/>
              <a:t>, or the </a:t>
            </a:r>
            <a:r>
              <a:rPr lang="en-US" sz="2400" b="1" u="sng" dirty="0" smtClean="0">
                <a:solidFill>
                  <a:schemeClr val="accent6">
                    <a:lumMod val="75000"/>
                  </a:schemeClr>
                </a:solidFill>
              </a:rPr>
              <a:t>rate of return you could earn on an alternative investment of similar risk</a:t>
            </a:r>
            <a:r>
              <a:rPr lang="en-US" sz="2400" b="1" dirty="0" smtClean="0">
                <a:solidFill>
                  <a:schemeClr val="accent6">
                    <a:lumMod val="75000"/>
                  </a:schemeClr>
                </a:solidFill>
              </a:rPr>
              <a:t>.</a:t>
            </a:r>
          </a:p>
          <a:p>
            <a:pPr>
              <a:buNone/>
            </a:pPr>
            <a:endParaRPr lang="en-US" sz="2400" b="1" dirty="0" smtClean="0">
              <a:solidFill>
                <a:schemeClr val="accent6">
                  <a:lumMod val="75000"/>
                </a:schemeClr>
              </a:solidFill>
            </a:endParaRPr>
          </a:p>
          <a:p>
            <a:r>
              <a:rPr lang="en-US" sz="2400" b="1" dirty="0" smtClean="0"/>
              <a:t>Question:  given these conditions, what is the most you should pay for the bond?</a:t>
            </a:r>
          </a:p>
          <a:p>
            <a:pPr>
              <a:buNone/>
            </a:pPr>
            <a:endParaRPr lang="en-US" dirty="0">
              <a:ln>
                <a:solidFill>
                  <a:schemeClr val="accent1"/>
                </a:solidFill>
              </a:ln>
              <a:solidFill>
                <a:srgbClr val="FF6600"/>
              </a:solidFill>
            </a:endParaRPr>
          </a:p>
          <a:p>
            <a:endParaRPr lang="en-US" dirty="0" smtClean="0">
              <a:ln>
                <a:solidFill>
                  <a:schemeClr val="accent1"/>
                </a:solidFill>
              </a:ln>
              <a:solidFill>
                <a:srgbClr val="FF6600"/>
              </a:solidFill>
            </a:endParaRPr>
          </a:p>
          <a:p>
            <a:endParaRPr lang="en-US" dirty="0">
              <a:ln>
                <a:solidFill>
                  <a:schemeClr val="accent1"/>
                </a:solidFill>
              </a:ln>
              <a:solidFill>
                <a:srgbClr val="FF6600"/>
              </a:solidFill>
            </a:endParaRPr>
          </a:p>
          <a:p>
            <a:pPr>
              <a:buNone/>
            </a:pPr>
            <a:endParaRPr lang="en-MY"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686800" cy="6597352"/>
          </a:xfrm>
        </p:spPr>
        <p:txBody>
          <a:bodyPr>
            <a:normAutofit fontScale="92500"/>
          </a:bodyPr>
          <a:lstStyle/>
          <a:p>
            <a:pPr algn="ctr">
              <a:buNone/>
            </a:pPr>
            <a:r>
              <a:rPr lang="en-US" u="sng" dirty="0" smtClean="0"/>
              <a:t>Solution:</a:t>
            </a:r>
          </a:p>
          <a:p>
            <a:pPr>
              <a:buNone/>
            </a:pPr>
            <a:r>
              <a:rPr lang="en-US" sz="2600" u="sng" dirty="0" smtClean="0"/>
              <a:t>Alternative 1: buy a CD</a:t>
            </a:r>
          </a:p>
          <a:p>
            <a:pPr>
              <a:buNone/>
            </a:pPr>
            <a:r>
              <a:rPr lang="en-US" sz="2600" dirty="0" smtClean="0"/>
              <a:t>FV₃     =   PV (1 + I)³</a:t>
            </a:r>
          </a:p>
          <a:p>
            <a:pPr>
              <a:buNone/>
            </a:pPr>
            <a:r>
              <a:rPr lang="en-US" sz="2600" dirty="0"/>
              <a:t>	</a:t>
            </a:r>
            <a:r>
              <a:rPr lang="en-US" sz="2600" dirty="0" smtClean="0"/>
              <a:t>     =   $100 (1 + 0.05)³</a:t>
            </a:r>
          </a:p>
          <a:p>
            <a:pPr>
              <a:buNone/>
            </a:pPr>
            <a:r>
              <a:rPr lang="en-US" sz="2600" dirty="0" smtClean="0"/>
              <a:t>	     =   </a:t>
            </a:r>
            <a:r>
              <a:rPr lang="en-US" sz="2600" b="1" dirty="0" smtClean="0"/>
              <a:t>$115.76</a:t>
            </a:r>
          </a:p>
          <a:p>
            <a:pPr>
              <a:buNone/>
            </a:pPr>
            <a:r>
              <a:rPr lang="en-US" sz="2600" u="sng" dirty="0" smtClean="0"/>
              <a:t>Alternative 2: buy a Treasury bond</a:t>
            </a:r>
          </a:p>
          <a:p>
            <a:pPr>
              <a:buNone/>
            </a:pPr>
            <a:r>
              <a:rPr lang="en-US" sz="2600" dirty="0" smtClean="0"/>
              <a:t>FV₃     =</a:t>
            </a:r>
            <a:r>
              <a:rPr lang="en-US" sz="2600" b="1" dirty="0" smtClean="0"/>
              <a:t> $115.76</a:t>
            </a:r>
          </a:p>
          <a:p>
            <a:pPr>
              <a:buNone/>
            </a:pPr>
            <a:endParaRPr lang="en-US" b="1" dirty="0"/>
          </a:p>
          <a:p>
            <a:pPr>
              <a:buNone/>
            </a:pPr>
            <a:r>
              <a:rPr lang="en-US" sz="2400" b="1" dirty="0" smtClean="0"/>
              <a:t>-&gt;	Both giving the same Future Value. Therefore, the most you should pay for the T-bond is $100 – this is its “fair price”.</a:t>
            </a:r>
          </a:p>
          <a:p>
            <a:pPr>
              <a:buNone/>
            </a:pPr>
            <a:r>
              <a:rPr lang="en-US" sz="2400" b="1" dirty="0" smtClean="0"/>
              <a:t>-&gt; 	If you could buy the T-bond for </a:t>
            </a:r>
            <a:r>
              <a:rPr lang="en-US" sz="2400" b="1" i="1" dirty="0" smtClean="0">
                <a:solidFill>
                  <a:srgbClr val="0070C0"/>
                </a:solidFill>
                <a:effectLst>
                  <a:outerShdw blurRad="38100" dist="38100" dir="2700000" algn="tl">
                    <a:srgbClr val="000000">
                      <a:alpha val="43137"/>
                    </a:srgbClr>
                  </a:outerShdw>
                </a:effectLst>
              </a:rPr>
              <a:t>less than $100</a:t>
            </a:r>
            <a:r>
              <a:rPr lang="en-US" sz="2400" b="1" dirty="0" smtClean="0"/>
              <a:t>, you should </a:t>
            </a:r>
            <a:r>
              <a:rPr lang="en-US" sz="2400" b="1" dirty="0" smtClean="0">
                <a:solidFill>
                  <a:srgbClr val="0070C0"/>
                </a:solidFill>
              </a:rPr>
              <a:t>buy it </a:t>
            </a:r>
            <a:r>
              <a:rPr lang="en-US" sz="2400" b="1" dirty="0" smtClean="0"/>
              <a:t>rather than invest in the CD.</a:t>
            </a:r>
          </a:p>
          <a:p>
            <a:pPr>
              <a:buNone/>
            </a:pPr>
            <a:r>
              <a:rPr lang="en-US" sz="2400" b="1" dirty="0" smtClean="0"/>
              <a:t>-&gt;	Conversely, if its price was </a:t>
            </a:r>
            <a:r>
              <a:rPr lang="en-US" sz="2400" b="1" i="1" dirty="0" smtClean="0">
                <a:solidFill>
                  <a:srgbClr val="00B050"/>
                </a:solidFill>
                <a:effectLst>
                  <a:outerShdw blurRad="38100" dist="38100" dir="2700000" algn="tl">
                    <a:srgbClr val="000000">
                      <a:alpha val="43137"/>
                    </a:srgbClr>
                  </a:outerShdw>
                </a:effectLst>
              </a:rPr>
              <a:t>more than $100</a:t>
            </a:r>
            <a:r>
              <a:rPr lang="en-US" sz="2400" b="1" dirty="0" smtClean="0"/>
              <a:t>, you should </a:t>
            </a:r>
            <a:r>
              <a:rPr lang="en-US" sz="2400" b="1" i="1" dirty="0" smtClean="0">
                <a:solidFill>
                  <a:srgbClr val="00B050"/>
                </a:solidFill>
                <a:effectLst>
                  <a:outerShdw blurRad="38100" dist="38100" dir="2700000" algn="tl">
                    <a:srgbClr val="000000">
                      <a:alpha val="43137"/>
                    </a:srgbClr>
                  </a:outerShdw>
                </a:effectLst>
              </a:rPr>
              <a:t>buy the CD.</a:t>
            </a:r>
          </a:p>
          <a:p>
            <a:pPr>
              <a:buNone/>
            </a:pPr>
            <a:r>
              <a:rPr lang="en-US" sz="2400" b="1" dirty="0" smtClean="0"/>
              <a:t>-&gt;	If the bond’s price was </a:t>
            </a:r>
            <a:r>
              <a:rPr lang="en-US" sz="2400" i="1" dirty="0" smtClean="0">
                <a:solidFill>
                  <a:srgbClr val="C00000"/>
                </a:solidFill>
                <a:effectLst>
                  <a:outerShdw blurRad="38100" dist="38100" dir="2700000" algn="tl">
                    <a:srgbClr val="000000">
                      <a:alpha val="43137"/>
                    </a:srgbClr>
                  </a:outerShdw>
                </a:effectLst>
              </a:rPr>
              <a:t>exactly $100</a:t>
            </a:r>
            <a:r>
              <a:rPr lang="en-US" sz="2400" b="1" dirty="0" smtClean="0"/>
              <a:t>, you </a:t>
            </a:r>
            <a:r>
              <a:rPr lang="en-US" sz="2400" i="1" dirty="0" smtClean="0">
                <a:solidFill>
                  <a:srgbClr val="C00000"/>
                </a:solidFill>
                <a:effectLst>
                  <a:outerShdw blurRad="38100" dist="38100" dir="2700000" algn="tl">
                    <a:srgbClr val="000000">
                      <a:alpha val="43137"/>
                    </a:srgbClr>
                  </a:outerShdw>
                </a:effectLst>
              </a:rPr>
              <a:t>be indifferent </a:t>
            </a:r>
            <a:r>
              <a:rPr lang="en-US" sz="2400" b="1" dirty="0" smtClean="0"/>
              <a:t>between the T-bond and the CD.</a:t>
            </a:r>
            <a:endParaRPr lang="en-MY" sz="2400" b="1" dirty="0" smtClean="0"/>
          </a:p>
          <a:p>
            <a:pPr>
              <a:buNone/>
            </a:pPr>
            <a:endParaRPr lang="en-US" dirty="0" smtClean="0"/>
          </a:p>
          <a:p>
            <a:pPr>
              <a:buNone/>
            </a:pPr>
            <a:endParaRPr lang="en-MY" dirty="0"/>
          </a:p>
        </p:txBody>
      </p:sp>
      <p:sp>
        <p:nvSpPr>
          <p:cNvPr id="4" name="Right Brace 3"/>
          <p:cNvSpPr/>
          <p:nvPr/>
        </p:nvSpPr>
        <p:spPr>
          <a:xfrm>
            <a:off x="6012160" y="1268760"/>
            <a:ext cx="504056" cy="2016224"/>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5" name="TextBox 4"/>
          <p:cNvSpPr txBox="1"/>
          <p:nvPr/>
        </p:nvSpPr>
        <p:spPr>
          <a:xfrm>
            <a:off x="6804248" y="980728"/>
            <a:ext cx="1944216" cy="1938992"/>
          </a:xfrm>
          <a:prstGeom prst="rect">
            <a:avLst/>
          </a:prstGeom>
          <a:noFill/>
        </p:spPr>
        <p:txBody>
          <a:bodyPr wrap="square" rtlCol="0">
            <a:spAutoFit/>
          </a:bodyPr>
          <a:lstStyle/>
          <a:p>
            <a:pPr algn="ctr"/>
            <a:r>
              <a:rPr lang="en-US" sz="2400" b="1" dirty="0" smtClean="0">
                <a:solidFill>
                  <a:srgbClr val="FF0000"/>
                </a:solidFill>
              </a:rPr>
              <a:t>Same future value, so which one is worth to be invested?</a:t>
            </a:r>
            <a:endParaRPr lang="en-MY" sz="2400" b="1"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832648"/>
          </a:xfrm>
        </p:spPr>
        <p:txBody>
          <a:bodyPr>
            <a:normAutofit/>
          </a:bodyPr>
          <a:lstStyle/>
          <a:p>
            <a:pPr algn="ctr">
              <a:buNone/>
            </a:pPr>
            <a:r>
              <a:rPr lang="en-US" dirty="0" smtClean="0"/>
              <a:t>Quick-Question:</a:t>
            </a:r>
          </a:p>
          <a:p>
            <a:pPr>
              <a:buNone/>
            </a:pPr>
            <a:r>
              <a:rPr lang="en-US" sz="2800" dirty="0" smtClean="0"/>
              <a:t>	</a:t>
            </a:r>
            <a:r>
              <a:rPr lang="en-US" sz="2400" dirty="0" smtClean="0"/>
              <a:t>Suppose a government bond promises to pay $2,249.73 three years from now. If the going interest rate on three-year government bonds is 4%, how much is the bond worth today? </a:t>
            </a:r>
          </a:p>
          <a:p>
            <a:pPr>
              <a:buNone/>
            </a:pPr>
            <a:r>
              <a:rPr lang="en-US" sz="2400" dirty="0"/>
              <a:t>	</a:t>
            </a:r>
            <a:r>
              <a:rPr lang="en-US" sz="2400" dirty="0" smtClean="0"/>
              <a:t>And how would your answer change if the bond matured in 5 years rather than 3? </a:t>
            </a:r>
          </a:p>
          <a:p>
            <a:pPr>
              <a:buNone/>
            </a:pPr>
            <a:r>
              <a:rPr lang="en-US" sz="2400" dirty="0"/>
              <a:t>	</a:t>
            </a:r>
            <a:r>
              <a:rPr lang="en-US" sz="2400" dirty="0" smtClean="0"/>
              <a:t>And what if the interest rate on the 5-year bond was 6% rather than 4%?</a:t>
            </a:r>
          </a:p>
          <a:p>
            <a:pPr>
              <a:buNone/>
            </a:pPr>
            <a:r>
              <a:rPr lang="en-US" sz="2800" dirty="0" smtClean="0"/>
              <a:t>	</a:t>
            </a:r>
          </a:p>
          <a:p>
            <a:pPr>
              <a:buNone/>
            </a:pPr>
            <a:r>
              <a:rPr lang="en-US" sz="2800" b="1" dirty="0" smtClean="0"/>
              <a:t>	</a:t>
            </a:r>
            <a:r>
              <a:rPr lang="en-US" sz="2400" b="1" dirty="0" smtClean="0"/>
              <a:t>($2,000; $1,849.11; $1,681.13)</a:t>
            </a:r>
            <a:endParaRPr lang="en-MY" sz="2400"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a:solidFill>
            <a:schemeClr val="accent2">
              <a:lumMod val="20000"/>
              <a:lumOff val="80000"/>
            </a:schemeClr>
          </a:solidFill>
        </p:spPr>
        <p:txBody>
          <a:bodyPr>
            <a:normAutofit fontScale="90000"/>
          </a:bodyPr>
          <a:lstStyle/>
          <a:p>
            <a:r>
              <a:rPr lang="en-US" cap="all" dirty="0" smtClean="0">
                <a:solidFill>
                  <a:schemeClr val="tx1"/>
                </a:solidFill>
              </a:rPr>
              <a:t/>
            </a:r>
            <a:br>
              <a:rPr lang="en-US" cap="all" dirty="0" smtClean="0">
                <a:solidFill>
                  <a:schemeClr val="tx1"/>
                </a:solidFill>
              </a:rPr>
            </a:br>
            <a:r>
              <a:rPr lang="en-US" cap="all" dirty="0" smtClean="0">
                <a:solidFill>
                  <a:schemeClr val="tx1"/>
                </a:solidFill>
              </a:rPr>
              <a:t>6-4: Finding the Interest Rate, I</a:t>
            </a:r>
            <a:br>
              <a:rPr lang="en-US" cap="all" dirty="0" smtClean="0">
                <a:solidFill>
                  <a:schemeClr val="tx1"/>
                </a:solidFill>
              </a:rPr>
            </a:br>
            <a:endParaRPr lang="en-MY" dirty="0"/>
          </a:p>
        </p:txBody>
      </p:sp>
      <p:sp>
        <p:nvSpPr>
          <p:cNvPr id="3" name="Content Placeholder 2"/>
          <p:cNvSpPr>
            <a:spLocks noGrp="1"/>
          </p:cNvSpPr>
          <p:nvPr>
            <p:ph idx="1"/>
          </p:nvPr>
        </p:nvSpPr>
        <p:spPr>
          <a:xfrm>
            <a:off x="457200" y="1052736"/>
            <a:ext cx="8435280" cy="5544616"/>
          </a:xfrm>
        </p:spPr>
        <p:txBody>
          <a:bodyPr>
            <a:normAutofit fontScale="92500" lnSpcReduction="10000"/>
          </a:bodyPr>
          <a:lstStyle/>
          <a:p>
            <a:r>
              <a:rPr lang="en-US" sz="2400" dirty="0" smtClean="0"/>
              <a:t>Suppose that </a:t>
            </a:r>
            <a:r>
              <a:rPr lang="en-US" sz="2400" u="sng" dirty="0" smtClean="0"/>
              <a:t>we know the PV, FV and N</a:t>
            </a:r>
            <a:r>
              <a:rPr lang="en-US" sz="2400" dirty="0" smtClean="0"/>
              <a:t>, and </a:t>
            </a:r>
            <a:r>
              <a:rPr lang="en-US" sz="2400" u="sng" dirty="0" smtClean="0"/>
              <a:t>we want to find I.</a:t>
            </a:r>
          </a:p>
          <a:p>
            <a:pPr>
              <a:buNone/>
            </a:pPr>
            <a:endParaRPr lang="en-US" sz="2400" dirty="0" smtClean="0"/>
          </a:p>
          <a:p>
            <a:r>
              <a:rPr lang="en-US" sz="2400" u="sng" dirty="0" smtClean="0"/>
              <a:t>Example</a:t>
            </a:r>
            <a:r>
              <a:rPr lang="en-US" sz="2400" dirty="0" smtClean="0"/>
              <a:t>:	A bond which cost $100 and it will return $150 after 10 years. Thus we know PV, FV and N: so here we want to </a:t>
            </a:r>
            <a:r>
              <a:rPr lang="en-US" sz="2400" u="sng" dirty="0" smtClean="0"/>
              <a:t>find rate of return we will earn if we buy the bond</a:t>
            </a:r>
            <a:r>
              <a:rPr lang="en-US" sz="2400" dirty="0" smtClean="0"/>
              <a:t>.</a:t>
            </a:r>
          </a:p>
          <a:p>
            <a:pPr>
              <a:buNone/>
            </a:pPr>
            <a:endParaRPr lang="en-US" sz="2400" dirty="0" smtClean="0"/>
          </a:p>
          <a:p>
            <a:r>
              <a:rPr lang="en-US" sz="2400" u="sng" dirty="0" smtClean="0"/>
              <a:t>Using the equation:</a:t>
            </a:r>
          </a:p>
          <a:p>
            <a:pPr>
              <a:buNone/>
            </a:pPr>
            <a:r>
              <a:rPr lang="en-US" sz="2400" dirty="0" smtClean="0"/>
              <a:t>			FV     =   PV (1 + I)ᶰ</a:t>
            </a:r>
          </a:p>
          <a:p>
            <a:pPr>
              <a:buNone/>
            </a:pPr>
            <a:r>
              <a:rPr lang="en-US" sz="2400" dirty="0" smtClean="0"/>
              <a:t>	    		$150 =   $100 (1 + I)¹⁰</a:t>
            </a:r>
          </a:p>
          <a:p>
            <a:pPr>
              <a:buNone/>
            </a:pPr>
            <a:r>
              <a:rPr lang="en-US" sz="2400" dirty="0" smtClean="0"/>
              <a:t>	    	  $150/ $100 =	  (1 + I)¹⁰</a:t>
            </a:r>
          </a:p>
          <a:p>
            <a:pPr>
              <a:buNone/>
            </a:pPr>
            <a:r>
              <a:rPr lang="en-US" sz="2400" b="1" dirty="0" smtClean="0"/>
              <a:t>		          </a:t>
            </a:r>
            <a:r>
              <a:rPr lang="en-US" sz="2400" dirty="0" smtClean="0"/>
              <a:t>(1.5)</a:t>
            </a:r>
            <a:r>
              <a:rPr lang="en-US" sz="2400" b="1" dirty="0" smtClean="0"/>
              <a:t>⅟</a:t>
            </a:r>
            <a:r>
              <a:rPr lang="en-US" sz="1400" b="1" dirty="0" smtClean="0"/>
              <a:t>10  </a:t>
            </a:r>
            <a:r>
              <a:rPr lang="en-US" sz="2400" dirty="0" smtClean="0"/>
              <a:t>=   (1+I)</a:t>
            </a:r>
            <a:endParaRPr lang="en-US" sz="1400" dirty="0" smtClean="0"/>
          </a:p>
          <a:p>
            <a:pPr>
              <a:buNone/>
            </a:pPr>
            <a:r>
              <a:rPr lang="en-US" sz="2400" dirty="0" smtClean="0"/>
              <a:t>			      I   = (1.5)</a:t>
            </a:r>
            <a:r>
              <a:rPr lang="en-US" sz="2400" b="1" dirty="0" smtClean="0"/>
              <a:t>⅟</a:t>
            </a:r>
            <a:r>
              <a:rPr lang="en-US" sz="1400" b="1" dirty="0" smtClean="0"/>
              <a:t>10  </a:t>
            </a:r>
            <a:r>
              <a:rPr lang="en-US" sz="3600" dirty="0" smtClean="0"/>
              <a:t>-</a:t>
            </a:r>
            <a:r>
              <a:rPr lang="en-US" sz="2400" dirty="0" smtClean="0"/>
              <a:t> 1</a:t>
            </a:r>
          </a:p>
          <a:p>
            <a:pPr>
              <a:buNone/>
            </a:pPr>
            <a:r>
              <a:rPr lang="en-US" sz="2400" b="1" dirty="0" smtClean="0"/>
              <a:t>			          = 4.14%</a:t>
            </a:r>
          </a:p>
          <a:p>
            <a:pPr>
              <a:buNone/>
            </a:pPr>
            <a:r>
              <a:rPr lang="en-US" sz="2400" dirty="0" smtClean="0"/>
              <a:t>			</a:t>
            </a:r>
            <a:endParaRPr lang="en-MY"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dirty="0" smtClean="0"/>
              <a:t>Self-test Question</a:t>
            </a:r>
            <a:endParaRPr lang="en-MY" dirty="0"/>
          </a:p>
        </p:txBody>
      </p:sp>
      <p:sp>
        <p:nvSpPr>
          <p:cNvPr id="3" name="Content Placeholder 2"/>
          <p:cNvSpPr>
            <a:spLocks noGrp="1"/>
          </p:cNvSpPr>
          <p:nvPr>
            <p:ph idx="1"/>
          </p:nvPr>
        </p:nvSpPr>
        <p:spPr>
          <a:xfrm>
            <a:off x="611560" y="1268760"/>
            <a:ext cx="7920880" cy="4857403"/>
          </a:xfrm>
        </p:spPr>
        <p:txBody>
          <a:bodyPr>
            <a:normAutofit/>
          </a:bodyPr>
          <a:lstStyle/>
          <a:p>
            <a:pPr marL="514350" indent="-514350">
              <a:buAutoNum type="arabicPeriod"/>
            </a:pPr>
            <a:r>
              <a:rPr lang="en-US" sz="2400" dirty="0" smtClean="0"/>
              <a:t>The U.S Treasury offers to sell you a bond for $585.43. No payments will be made until the bond matures 10 years from now, at which time it will be redeemed for $1,000. </a:t>
            </a:r>
          </a:p>
          <a:p>
            <a:pPr marL="514350" indent="-514350">
              <a:buNone/>
            </a:pPr>
            <a:r>
              <a:rPr lang="en-US" sz="2400" dirty="0" smtClean="0"/>
              <a:t>	What interest rate would you earn if you could buy the bond for $550? For $600?</a:t>
            </a:r>
          </a:p>
          <a:p>
            <a:pPr marL="514350" indent="-514350">
              <a:buNone/>
            </a:pPr>
            <a:r>
              <a:rPr lang="en-US" sz="2800" dirty="0" smtClean="0"/>
              <a:t>	</a:t>
            </a:r>
            <a:r>
              <a:rPr lang="en-US" sz="2400" b="1" dirty="0" smtClean="0"/>
              <a:t>(5.5%; 6.16%; 5.24%)</a:t>
            </a:r>
            <a:endParaRPr lang="en-MY" sz="2400" b="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435280" cy="778098"/>
          </a:xfrm>
          <a:solidFill>
            <a:schemeClr val="accent2">
              <a:lumMod val="40000"/>
              <a:lumOff val="60000"/>
            </a:schemeClr>
          </a:solidFill>
        </p:spPr>
        <p:txBody>
          <a:bodyPr>
            <a:normAutofit fontScale="90000"/>
          </a:bodyPr>
          <a:lstStyle/>
          <a:p>
            <a:r>
              <a:rPr lang="en-US" cap="all" dirty="0" smtClean="0"/>
              <a:t/>
            </a:r>
            <a:br>
              <a:rPr lang="en-US" cap="all" dirty="0" smtClean="0"/>
            </a:br>
            <a:r>
              <a:rPr lang="en-US" sz="4000" cap="all" dirty="0" smtClean="0"/>
              <a:t>6-5:Finding the Number of Years, N</a:t>
            </a:r>
            <a:r>
              <a:rPr lang="en-US" cap="all" dirty="0" smtClean="0"/>
              <a:t/>
            </a:r>
            <a:br>
              <a:rPr lang="en-US" cap="all" dirty="0" smtClean="0"/>
            </a:br>
            <a:endParaRPr lang="en-MY" dirty="0"/>
          </a:p>
        </p:txBody>
      </p:sp>
      <p:sp>
        <p:nvSpPr>
          <p:cNvPr id="3" name="Content Placeholder 2"/>
          <p:cNvSpPr>
            <a:spLocks noGrp="1"/>
          </p:cNvSpPr>
          <p:nvPr>
            <p:ph idx="1"/>
          </p:nvPr>
        </p:nvSpPr>
        <p:spPr>
          <a:xfrm>
            <a:off x="457200" y="1340768"/>
            <a:ext cx="8229600" cy="4785395"/>
          </a:xfrm>
        </p:spPr>
        <p:txBody>
          <a:bodyPr>
            <a:normAutofit/>
          </a:bodyPr>
          <a:lstStyle/>
          <a:p>
            <a:r>
              <a:rPr lang="en-US" sz="2800" dirty="0" smtClean="0"/>
              <a:t>We sometimes need to know how long it will take to accumulate a certain sum of money, with given our beginning funds and the rate we will earn on those funds.</a:t>
            </a:r>
          </a:p>
          <a:p>
            <a:pPr>
              <a:buNone/>
            </a:pPr>
            <a:endParaRPr lang="en-US" sz="2800" dirty="0" smtClean="0"/>
          </a:p>
          <a:p>
            <a:r>
              <a:rPr lang="en-US" sz="2800" u="sng" dirty="0" smtClean="0"/>
              <a:t>Example:	</a:t>
            </a:r>
            <a:r>
              <a:rPr lang="en-US" sz="2800" dirty="0" smtClean="0"/>
              <a:t>Suppose we believe we could retire comfortably f we had $1 million. We want to </a:t>
            </a:r>
            <a:r>
              <a:rPr lang="en-US" sz="2800" u="sng" dirty="0" smtClean="0"/>
              <a:t>find how long it will take us to acquire $1 million</a:t>
            </a:r>
            <a:r>
              <a:rPr lang="en-US" sz="2800" dirty="0" smtClean="0"/>
              <a:t>, assuming now we have $500,000 invested at 4.5%. </a:t>
            </a:r>
            <a:r>
              <a:rPr lang="en-US" sz="2400" dirty="0" smtClean="0"/>
              <a:t>(hint: using formula and logarithm)</a:t>
            </a:r>
            <a:endParaRPr lang="en-MY"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a:buNone/>
            </a:pPr>
            <a:r>
              <a:rPr lang="en-US" dirty="0" smtClean="0"/>
              <a:t>	</a:t>
            </a:r>
            <a:r>
              <a:rPr lang="en-US" sz="2800" dirty="0" smtClean="0"/>
              <a:t>	        FV    	=   PV (1 + I)ᶰ</a:t>
            </a:r>
          </a:p>
          <a:p>
            <a:pPr>
              <a:buNone/>
            </a:pPr>
            <a:r>
              <a:rPr lang="en-US" sz="2800" dirty="0" smtClean="0"/>
              <a:t>	$1,000,000 	=   $500,000 (1 + 0.045)ᶰ</a:t>
            </a:r>
          </a:p>
          <a:p>
            <a:pPr>
              <a:buNone/>
            </a:pPr>
            <a:r>
              <a:rPr lang="en-US" sz="2800" dirty="0" smtClean="0"/>
              <a:t>	       (1.045)ᶰ  	=    $1,000,000 / $500,000 </a:t>
            </a:r>
          </a:p>
          <a:p>
            <a:pPr>
              <a:buNone/>
            </a:pPr>
            <a:r>
              <a:rPr lang="en-US" sz="2800" dirty="0" smtClean="0"/>
              <a:t>			     	=   2</a:t>
            </a:r>
          </a:p>
          <a:p>
            <a:pPr>
              <a:buNone/>
            </a:pPr>
            <a:r>
              <a:rPr lang="en-US" sz="2800" u="sng" dirty="0" smtClean="0"/>
              <a:t>Solve for N:</a:t>
            </a:r>
          </a:p>
          <a:p>
            <a:pPr>
              <a:buNone/>
            </a:pPr>
            <a:r>
              <a:rPr lang="en-US" sz="2800" dirty="0" smtClean="0"/>
              <a:t>	log 1.045 (1.045)ᶰ  	= log 1.045 (2)</a:t>
            </a:r>
          </a:p>
          <a:p>
            <a:pPr>
              <a:buNone/>
            </a:pPr>
            <a:r>
              <a:rPr lang="en-US" sz="2800" dirty="0" smtClean="0"/>
              <a:t>	N log 1.045 (1.045)	= log 1.045 (2)</a:t>
            </a:r>
          </a:p>
          <a:p>
            <a:pPr>
              <a:buNone/>
            </a:pPr>
            <a:r>
              <a:rPr lang="en-US" sz="2800" dirty="0" smtClean="0"/>
              <a:t>				N (1)	= log 1.045 (2)</a:t>
            </a:r>
          </a:p>
          <a:p>
            <a:pPr>
              <a:buNone/>
            </a:pPr>
            <a:r>
              <a:rPr lang="en-US" sz="2800" dirty="0" smtClean="0"/>
              <a:t>				N	= ln (2) / ln (1.045)</a:t>
            </a:r>
          </a:p>
          <a:p>
            <a:pPr>
              <a:buNone/>
            </a:pPr>
            <a:r>
              <a:rPr lang="en-US" sz="2800" dirty="0" smtClean="0"/>
              <a:t>			     		</a:t>
            </a:r>
            <a:r>
              <a:rPr lang="en-US" sz="2800" b="1" dirty="0" smtClean="0"/>
              <a:t>= 15.7473 years</a:t>
            </a:r>
          </a:p>
          <a:p>
            <a:pPr>
              <a:buNone/>
            </a:pPr>
            <a:endParaRPr lang="en-US" sz="2000" dirty="0" smtClean="0"/>
          </a:p>
          <a:p>
            <a:pPr>
              <a:buNone/>
            </a:pPr>
            <a:endParaRPr lang="en-MY"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US" dirty="0" smtClean="0"/>
              <a:t>Self-test question</a:t>
            </a:r>
            <a:endParaRPr lang="en-MY" dirty="0"/>
          </a:p>
        </p:txBody>
      </p:sp>
      <p:sp>
        <p:nvSpPr>
          <p:cNvPr id="3" name="Content Placeholder 2"/>
          <p:cNvSpPr>
            <a:spLocks noGrp="1"/>
          </p:cNvSpPr>
          <p:nvPr>
            <p:ph idx="1"/>
          </p:nvPr>
        </p:nvSpPr>
        <p:spPr>
          <a:xfrm>
            <a:off x="457200" y="908721"/>
            <a:ext cx="8229600" cy="2520280"/>
          </a:xfrm>
        </p:spPr>
        <p:txBody>
          <a:bodyPr>
            <a:normAutofit/>
          </a:bodyPr>
          <a:lstStyle/>
          <a:p>
            <a:pPr marL="514350" indent="-514350">
              <a:buFont typeface="+mj-lt"/>
              <a:buAutoNum type="arabicPeriod"/>
            </a:pPr>
            <a:r>
              <a:rPr lang="en-US" sz="2800" dirty="0" smtClean="0"/>
              <a:t>How long would it take $1,000 to double if it was invested in a bank that paid 6% per year? How long would it take if the rate was 10%</a:t>
            </a:r>
          </a:p>
          <a:p>
            <a:pPr>
              <a:buNone/>
            </a:pPr>
            <a:r>
              <a:rPr lang="en-US" sz="2800" dirty="0" smtClean="0"/>
              <a:t>		</a:t>
            </a:r>
            <a:r>
              <a:rPr lang="en-US" sz="2000" b="1" dirty="0" smtClean="0"/>
              <a:t>(11.9 years; 7.27 years)</a:t>
            </a:r>
          </a:p>
          <a:p>
            <a:pPr>
              <a:buNone/>
            </a:pPr>
            <a:endParaRPr lang="en-US" sz="2000" b="1" dirty="0" smtClean="0"/>
          </a:p>
          <a:p>
            <a:pPr marL="457200" indent="-457200">
              <a:buNone/>
            </a:pPr>
            <a:endParaRPr lang="en-MY"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a:ln>
            <a:solidFill>
              <a:srgbClr val="0070C0"/>
            </a:solidFill>
          </a:ln>
        </p:spPr>
        <p:txBody>
          <a:bodyPr>
            <a:normAutofit/>
          </a:bodyPr>
          <a:lstStyle/>
          <a:p>
            <a:pPr>
              <a:buNone/>
            </a:pPr>
            <a:r>
              <a:rPr lang="en-US" sz="2400" dirty="0" smtClean="0"/>
              <a:t>Given:	PV=$1,000;	FV=$2,000;	I=6%;	N=?</a:t>
            </a:r>
          </a:p>
          <a:p>
            <a:pPr>
              <a:buNone/>
            </a:pPr>
            <a:endParaRPr lang="en-US" sz="2400" dirty="0" smtClean="0">
              <a:solidFill>
                <a:srgbClr val="0070C0"/>
              </a:solidFill>
            </a:endParaRPr>
          </a:p>
          <a:p>
            <a:pPr>
              <a:buNone/>
            </a:pPr>
            <a:r>
              <a:rPr lang="en-US" sz="2400" dirty="0" smtClean="0">
                <a:solidFill>
                  <a:srgbClr val="0070C0"/>
                </a:solidFill>
              </a:rPr>
              <a:t>		         FV   =   PV(1+I)ᶰ</a:t>
            </a:r>
          </a:p>
          <a:p>
            <a:pPr>
              <a:buNone/>
            </a:pPr>
            <a:r>
              <a:rPr lang="en-US" sz="2400" dirty="0" smtClean="0">
                <a:solidFill>
                  <a:srgbClr val="0070C0"/>
                </a:solidFill>
              </a:rPr>
              <a:t>		$2,000    = $1,000(1.06)ᶰ</a:t>
            </a:r>
          </a:p>
          <a:p>
            <a:pPr>
              <a:buNone/>
            </a:pPr>
            <a:r>
              <a:rPr lang="en-US" sz="2400" dirty="0" smtClean="0">
                <a:solidFill>
                  <a:srgbClr val="0070C0"/>
                </a:solidFill>
              </a:rPr>
              <a:t>		(1.06)ᶰ    = 2</a:t>
            </a:r>
          </a:p>
          <a:p>
            <a:pPr>
              <a:buNone/>
            </a:pPr>
            <a:r>
              <a:rPr lang="en-US" sz="2400" dirty="0" smtClean="0">
                <a:solidFill>
                  <a:srgbClr val="0070C0"/>
                </a:solidFill>
              </a:rPr>
              <a:t>  log </a:t>
            </a:r>
            <a:r>
              <a:rPr lang="en-US" sz="1800" dirty="0" smtClean="0">
                <a:solidFill>
                  <a:srgbClr val="0070C0"/>
                </a:solidFill>
              </a:rPr>
              <a:t>1.06</a:t>
            </a:r>
            <a:r>
              <a:rPr lang="en-US" sz="2400" dirty="0" smtClean="0">
                <a:solidFill>
                  <a:srgbClr val="0070C0"/>
                </a:solidFill>
              </a:rPr>
              <a:t> (1.06)ᶰ  = log </a:t>
            </a:r>
            <a:r>
              <a:rPr lang="en-US" sz="1800" dirty="0" smtClean="0">
                <a:solidFill>
                  <a:srgbClr val="0070C0"/>
                </a:solidFill>
              </a:rPr>
              <a:t>1.06</a:t>
            </a:r>
            <a:r>
              <a:rPr lang="en-US" sz="2400" dirty="0" smtClean="0">
                <a:solidFill>
                  <a:srgbClr val="0070C0"/>
                </a:solidFill>
              </a:rPr>
              <a:t> (2)</a:t>
            </a:r>
          </a:p>
          <a:p>
            <a:pPr>
              <a:buNone/>
            </a:pPr>
            <a:r>
              <a:rPr lang="en-US" sz="2400" dirty="0" smtClean="0">
                <a:solidFill>
                  <a:srgbClr val="0070C0"/>
                </a:solidFill>
              </a:rPr>
              <a:t>N  log </a:t>
            </a:r>
            <a:r>
              <a:rPr lang="en-US" sz="1800" dirty="0" smtClean="0">
                <a:solidFill>
                  <a:srgbClr val="0070C0"/>
                </a:solidFill>
              </a:rPr>
              <a:t>1.06</a:t>
            </a:r>
            <a:r>
              <a:rPr lang="en-US" sz="2400" dirty="0" smtClean="0">
                <a:solidFill>
                  <a:srgbClr val="0070C0"/>
                </a:solidFill>
              </a:rPr>
              <a:t> (1.06) = log </a:t>
            </a:r>
            <a:r>
              <a:rPr lang="en-US" sz="1800" dirty="0" smtClean="0">
                <a:solidFill>
                  <a:srgbClr val="0070C0"/>
                </a:solidFill>
              </a:rPr>
              <a:t>1.06</a:t>
            </a:r>
            <a:r>
              <a:rPr lang="en-US" sz="2400" dirty="0" smtClean="0">
                <a:solidFill>
                  <a:srgbClr val="0070C0"/>
                </a:solidFill>
              </a:rPr>
              <a:t> (2)</a:t>
            </a:r>
          </a:p>
          <a:p>
            <a:pPr>
              <a:buNone/>
            </a:pPr>
            <a:r>
              <a:rPr lang="en-US" sz="2400" dirty="0" smtClean="0">
                <a:solidFill>
                  <a:srgbClr val="0070C0"/>
                </a:solidFill>
              </a:rPr>
              <a:t>	N (1)	   = log </a:t>
            </a:r>
            <a:r>
              <a:rPr lang="en-US" sz="1800" dirty="0" smtClean="0">
                <a:solidFill>
                  <a:srgbClr val="0070C0"/>
                </a:solidFill>
              </a:rPr>
              <a:t>1.06</a:t>
            </a:r>
            <a:r>
              <a:rPr lang="en-US" sz="2400" dirty="0" smtClean="0">
                <a:solidFill>
                  <a:srgbClr val="0070C0"/>
                </a:solidFill>
              </a:rPr>
              <a:t> (2)</a:t>
            </a:r>
          </a:p>
          <a:p>
            <a:pPr>
              <a:buNone/>
            </a:pPr>
            <a:r>
              <a:rPr lang="en-US" sz="2400" dirty="0" smtClean="0">
                <a:solidFill>
                  <a:srgbClr val="0070C0"/>
                </a:solidFill>
              </a:rPr>
              <a:t>	N		   = ln (2) / ln (1.06)</a:t>
            </a:r>
          </a:p>
          <a:p>
            <a:pPr>
              <a:buNone/>
            </a:pPr>
            <a:r>
              <a:rPr lang="en-US" sz="2400" dirty="0" smtClean="0">
                <a:solidFill>
                  <a:srgbClr val="0070C0"/>
                </a:solidFill>
              </a:rPr>
              <a:t>			   = 11.895</a:t>
            </a:r>
          </a:p>
          <a:p>
            <a:pPr>
              <a:buNone/>
            </a:pPr>
            <a:r>
              <a:rPr lang="en-US" sz="2400" dirty="0" smtClean="0">
                <a:solidFill>
                  <a:srgbClr val="0070C0"/>
                </a:solidFill>
              </a:rPr>
              <a:t>			</a:t>
            </a:r>
            <a:r>
              <a:rPr lang="en-US" sz="2400" b="1" dirty="0" smtClean="0">
                <a:solidFill>
                  <a:srgbClr val="0070C0"/>
                </a:solidFill>
              </a:rPr>
              <a:t>   = 11.9 years</a:t>
            </a:r>
            <a:endParaRPr lang="en-MY" sz="2400" b="1" dirty="0">
              <a:solidFill>
                <a:srgbClr val="0070C0"/>
              </a:solidFill>
            </a:endParaRPr>
          </a:p>
        </p:txBody>
      </p:sp>
      <p:sp>
        <p:nvSpPr>
          <p:cNvPr id="4" name="Title 1"/>
          <p:cNvSpPr>
            <a:spLocks noGrp="1"/>
          </p:cNvSpPr>
          <p:nvPr>
            <p:ph type="title"/>
          </p:nvPr>
        </p:nvSpPr>
        <p:spPr>
          <a:xfrm>
            <a:off x="457200" y="274638"/>
            <a:ext cx="8229600" cy="418058"/>
          </a:xfrm>
          <a:solidFill>
            <a:srgbClr val="FFFF00"/>
          </a:solidFill>
        </p:spPr>
        <p:txBody>
          <a:bodyPr>
            <a:normAutofit fontScale="90000"/>
          </a:bodyPr>
          <a:lstStyle/>
          <a:p>
            <a:r>
              <a:rPr lang="en-US" sz="2400" dirty="0" smtClean="0"/>
              <a:t>Answer (Self-test) for Question 1a:</a:t>
            </a:r>
            <a:endParaRPr lang="en-MY"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073427"/>
          </a:xfrm>
          <a:ln>
            <a:solidFill>
              <a:srgbClr val="0070C0"/>
            </a:solidFill>
          </a:ln>
        </p:spPr>
        <p:txBody>
          <a:bodyPr>
            <a:normAutofit/>
          </a:bodyPr>
          <a:lstStyle/>
          <a:p>
            <a:pPr>
              <a:buNone/>
            </a:pPr>
            <a:r>
              <a:rPr lang="en-US" sz="2400" dirty="0" smtClean="0"/>
              <a:t>Given:	PV=$1,000;	FV=$2,000;	I=10%;	N=?</a:t>
            </a:r>
          </a:p>
          <a:p>
            <a:pPr>
              <a:buNone/>
            </a:pPr>
            <a:endParaRPr lang="en-US" sz="2400" dirty="0" smtClean="0">
              <a:solidFill>
                <a:srgbClr val="0070C0"/>
              </a:solidFill>
            </a:endParaRPr>
          </a:p>
          <a:p>
            <a:pPr>
              <a:buNone/>
            </a:pPr>
            <a:r>
              <a:rPr lang="en-US" sz="2400" dirty="0" smtClean="0">
                <a:solidFill>
                  <a:srgbClr val="0070C0"/>
                </a:solidFill>
              </a:rPr>
              <a:t>		         FV   =   PV(1+I)ᶰ</a:t>
            </a:r>
          </a:p>
          <a:p>
            <a:pPr>
              <a:buNone/>
            </a:pPr>
            <a:r>
              <a:rPr lang="en-US" sz="2400" dirty="0" smtClean="0">
                <a:solidFill>
                  <a:srgbClr val="0070C0"/>
                </a:solidFill>
              </a:rPr>
              <a:t>		$2,000    = $1,000(1.1)ᶰ</a:t>
            </a:r>
          </a:p>
          <a:p>
            <a:pPr>
              <a:buNone/>
            </a:pPr>
            <a:r>
              <a:rPr lang="en-US" sz="2400" dirty="0" smtClean="0">
                <a:solidFill>
                  <a:srgbClr val="0070C0"/>
                </a:solidFill>
              </a:rPr>
              <a:t>		(1.1)ᶰ    = 2</a:t>
            </a:r>
          </a:p>
          <a:p>
            <a:pPr>
              <a:buNone/>
            </a:pPr>
            <a:r>
              <a:rPr lang="en-US" sz="2400" dirty="0" smtClean="0">
                <a:solidFill>
                  <a:srgbClr val="0070C0"/>
                </a:solidFill>
              </a:rPr>
              <a:t>  log </a:t>
            </a:r>
            <a:r>
              <a:rPr lang="en-US" sz="1800" dirty="0" smtClean="0">
                <a:solidFill>
                  <a:srgbClr val="0070C0"/>
                </a:solidFill>
              </a:rPr>
              <a:t>1.1</a:t>
            </a:r>
            <a:r>
              <a:rPr lang="en-US" sz="2400" dirty="0" smtClean="0">
                <a:solidFill>
                  <a:srgbClr val="0070C0"/>
                </a:solidFill>
              </a:rPr>
              <a:t> (1.1)ᶰ  = log </a:t>
            </a:r>
            <a:r>
              <a:rPr lang="en-US" sz="1800" dirty="0" smtClean="0">
                <a:solidFill>
                  <a:srgbClr val="0070C0"/>
                </a:solidFill>
              </a:rPr>
              <a:t>1.1</a:t>
            </a:r>
            <a:r>
              <a:rPr lang="en-US" sz="2400" dirty="0" smtClean="0">
                <a:solidFill>
                  <a:srgbClr val="0070C0"/>
                </a:solidFill>
              </a:rPr>
              <a:t> (2)</a:t>
            </a:r>
          </a:p>
          <a:p>
            <a:pPr>
              <a:buNone/>
            </a:pPr>
            <a:r>
              <a:rPr lang="en-US" sz="2400" dirty="0" smtClean="0">
                <a:solidFill>
                  <a:srgbClr val="0070C0"/>
                </a:solidFill>
              </a:rPr>
              <a:t>N  log </a:t>
            </a:r>
            <a:r>
              <a:rPr lang="en-US" sz="1800" dirty="0" smtClean="0">
                <a:solidFill>
                  <a:srgbClr val="0070C0"/>
                </a:solidFill>
              </a:rPr>
              <a:t>1.1</a:t>
            </a:r>
            <a:r>
              <a:rPr lang="en-US" sz="2400" dirty="0" smtClean="0">
                <a:solidFill>
                  <a:srgbClr val="0070C0"/>
                </a:solidFill>
              </a:rPr>
              <a:t> (1.1) = log </a:t>
            </a:r>
            <a:r>
              <a:rPr lang="en-US" sz="1800" dirty="0" smtClean="0">
                <a:solidFill>
                  <a:srgbClr val="0070C0"/>
                </a:solidFill>
              </a:rPr>
              <a:t>1.1</a:t>
            </a:r>
            <a:r>
              <a:rPr lang="en-US" sz="2400" dirty="0" smtClean="0">
                <a:solidFill>
                  <a:srgbClr val="0070C0"/>
                </a:solidFill>
              </a:rPr>
              <a:t> (2)</a:t>
            </a:r>
          </a:p>
          <a:p>
            <a:pPr>
              <a:buNone/>
            </a:pPr>
            <a:r>
              <a:rPr lang="en-US" sz="2400" dirty="0" smtClean="0">
                <a:solidFill>
                  <a:srgbClr val="0070C0"/>
                </a:solidFill>
              </a:rPr>
              <a:t>	N (1)	   = log </a:t>
            </a:r>
            <a:r>
              <a:rPr lang="en-US" sz="1800" dirty="0" smtClean="0">
                <a:solidFill>
                  <a:srgbClr val="0070C0"/>
                </a:solidFill>
              </a:rPr>
              <a:t>1.1</a:t>
            </a:r>
            <a:r>
              <a:rPr lang="en-US" sz="2400" dirty="0" smtClean="0">
                <a:solidFill>
                  <a:srgbClr val="0070C0"/>
                </a:solidFill>
              </a:rPr>
              <a:t> (2)</a:t>
            </a:r>
          </a:p>
          <a:p>
            <a:pPr>
              <a:buNone/>
            </a:pPr>
            <a:r>
              <a:rPr lang="en-US" sz="2400" dirty="0" smtClean="0">
                <a:solidFill>
                  <a:srgbClr val="0070C0"/>
                </a:solidFill>
              </a:rPr>
              <a:t>	N		   = ln (2) / ln (1.1)</a:t>
            </a:r>
          </a:p>
          <a:p>
            <a:pPr>
              <a:buNone/>
            </a:pPr>
            <a:r>
              <a:rPr lang="en-US" sz="2400" dirty="0" smtClean="0">
                <a:solidFill>
                  <a:srgbClr val="0070C0"/>
                </a:solidFill>
              </a:rPr>
              <a:t>			   </a:t>
            </a:r>
            <a:r>
              <a:rPr lang="en-US" sz="2400" b="1" dirty="0" smtClean="0">
                <a:solidFill>
                  <a:srgbClr val="0070C0"/>
                </a:solidFill>
              </a:rPr>
              <a:t>= 7.27years</a:t>
            </a:r>
          </a:p>
          <a:p>
            <a:pPr>
              <a:buNone/>
            </a:pPr>
            <a:r>
              <a:rPr lang="en-US" sz="2400" dirty="0" smtClean="0">
                <a:solidFill>
                  <a:srgbClr val="0070C0"/>
                </a:solidFill>
              </a:rPr>
              <a:t>			</a:t>
            </a:r>
            <a:endParaRPr lang="en-MY" sz="2400" b="1" dirty="0">
              <a:solidFill>
                <a:srgbClr val="0070C0"/>
              </a:solidFill>
            </a:endParaRPr>
          </a:p>
        </p:txBody>
      </p:sp>
      <p:sp>
        <p:nvSpPr>
          <p:cNvPr id="4" name="Title 1"/>
          <p:cNvSpPr>
            <a:spLocks noGrp="1"/>
          </p:cNvSpPr>
          <p:nvPr>
            <p:ph type="title"/>
          </p:nvPr>
        </p:nvSpPr>
        <p:spPr>
          <a:xfrm>
            <a:off x="457200" y="274638"/>
            <a:ext cx="8229600" cy="418058"/>
          </a:xfrm>
          <a:solidFill>
            <a:srgbClr val="FFFF00"/>
          </a:solidFill>
        </p:spPr>
        <p:txBody>
          <a:bodyPr>
            <a:normAutofit fontScale="90000"/>
          </a:bodyPr>
          <a:lstStyle/>
          <a:p>
            <a:r>
              <a:rPr lang="en-US" sz="2400" dirty="0" smtClean="0"/>
              <a:t>Answer (Self-test) for Question 1b:</a:t>
            </a:r>
            <a:endParaRPr lang="en-MY"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a:solidFill>
            <a:schemeClr val="accent2">
              <a:lumMod val="60000"/>
              <a:lumOff val="40000"/>
            </a:schemeClr>
          </a:solidFill>
        </p:spPr>
        <p:txBody>
          <a:bodyPr>
            <a:normAutofit fontScale="90000"/>
          </a:bodyPr>
          <a:lstStyle/>
          <a:p>
            <a:r>
              <a:rPr lang="en-US" dirty="0" smtClean="0"/>
              <a:t/>
            </a:r>
            <a:br>
              <a:rPr lang="en-US" dirty="0" smtClean="0"/>
            </a:br>
            <a:r>
              <a:rPr lang="en-US" dirty="0" smtClean="0"/>
              <a:t>6-6: ANNUITIES</a:t>
            </a:r>
            <a:br>
              <a:rPr lang="en-US" dirty="0" smtClean="0"/>
            </a:br>
            <a:endParaRPr lang="en-MY" dirty="0"/>
          </a:p>
        </p:txBody>
      </p:sp>
      <p:sp>
        <p:nvSpPr>
          <p:cNvPr id="3" name="Content Placeholder 2"/>
          <p:cNvSpPr>
            <a:spLocks noGrp="1"/>
          </p:cNvSpPr>
          <p:nvPr>
            <p:ph idx="1"/>
          </p:nvPr>
        </p:nvSpPr>
        <p:spPr>
          <a:xfrm>
            <a:off x="457200" y="1052736"/>
            <a:ext cx="8229600" cy="5073427"/>
          </a:xfrm>
        </p:spPr>
        <p:txBody>
          <a:bodyPr>
            <a:normAutofit lnSpcReduction="10000"/>
          </a:bodyPr>
          <a:lstStyle/>
          <a:p>
            <a:r>
              <a:rPr lang="en-US" sz="2400" dirty="0" smtClean="0"/>
              <a:t>So far we have dealt with single payments, or “lump sums”. However many assets provide a series of cash inflows over time; many obligations such as student loans, auto loans and mortgage loans, require a series of payments.</a:t>
            </a:r>
          </a:p>
          <a:p>
            <a:pPr>
              <a:buNone/>
            </a:pPr>
            <a:endParaRPr lang="en-US" sz="2400" dirty="0" smtClean="0"/>
          </a:p>
          <a:p>
            <a:r>
              <a:rPr lang="en-US" sz="2400" dirty="0" smtClean="0"/>
              <a:t>When the </a:t>
            </a:r>
            <a:r>
              <a:rPr lang="en-US" sz="2400" b="1" dirty="0" smtClean="0">
                <a:solidFill>
                  <a:schemeClr val="accent6">
                    <a:lumMod val="50000"/>
                  </a:schemeClr>
                </a:solidFill>
                <a:effectLst>
                  <a:outerShdw blurRad="38100" dist="38100" dir="2700000" algn="tl">
                    <a:srgbClr val="000000">
                      <a:alpha val="43137"/>
                    </a:srgbClr>
                  </a:outerShdw>
                </a:effectLst>
              </a:rPr>
              <a:t>payments  are equal and are made at fixed intervals, </a:t>
            </a:r>
            <a:r>
              <a:rPr lang="en-US" sz="2400" dirty="0" smtClean="0"/>
              <a:t>the series is an </a:t>
            </a:r>
            <a:r>
              <a:rPr lang="en-US" sz="2400" b="1" dirty="0" smtClean="0">
                <a:solidFill>
                  <a:schemeClr val="accent6">
                    <a:lumMod val="50000"/>
                  </a:schemeClr>
                </a:solidFill>
                <a:effectLst>
                  <a:outerShdw blurRad="38100" dist="38100" dir="2700000" algn="tl">
                    <a:srgbClr val="000000">
                      <a:alpha val="43137"/>
                    </a:srgbClr>
                  </a:outerShdw>
                </a:effectLst>
              </a:rPr>
              <a:t>annuity.</a:t>
            </a:r>
          </a:p>
          <a:p>
            <a:pPr>
              <a:buNone/>
            </a:pPr>
            <a:endParaRPr lang="en-US" sz="2400" dirty="0" smtClean="0"/>
          </a:p>
          <a:p>
            <a:r>
              <a:rPr lang="en-US" sz="2400" dirty="0" smtClean="0"/>
              <a:t>If the </a:t>
            </a:r>
            <a:r>
              <a:rPr lang="en-US" sz="2400" dirty="0" smtClean="0">
                <a:solidFill>
                  <a:srgbClr val="FF0000"/>
                </a:solidFill>
                <a:effectLst>
                  <a:outerShdw blurRad="38100" dist="38100" dir="2700000" algn="tl">
                    <a:srgbClr val="000000">
                      <a:alpha val="43137"/>
                    </a:srgbClr>
                  </a:outerShdw>
                </a:effectLst>
              </a:rPr>
              <a:t>payments occur at the end of each year</a:t>
            </a:r>
            <a:r>
              <a:rPr lang="en-US" sz="2400" dirty="0" smtClean="0">
                <a:effectLst>
                  <a:outerShdw blurRad="38100" dist="38100" dir="2700000" algn="tl">
                    <a:srgbClr val="000000">
                      <a:alpha val="43137"/>
                    </a:srgbClr>
                  </a:outerShdw>
                </a:effectLst>
              </a:rPr>
              <a:t>, </a:t>
            </a:r>
            <a:r>
              <a:rPr lang="en-US" sz="2400" dirty="0" smtClean="0"/>
              <a:t>the annuity is an </a:t>
            </a:r>
            <a:r>
              <a:rPr lang="en-US" sz="2400" dirty="0" smtClean="0">
                <a:solidFill>
                  <a:srgbClr val="FF0000"/>
                </a:solidFill>
                <a:effectLst>
                  <a:outerShdw blurRad="38100" dist="38100" dir="2700000" algn="tl">
                    <a:srgbClr val="000000">
                      <a:alpha val="43137"/>
                    </a:srgbClr>
                  </a:outerShdw>
                </a:effectLst>
              </a:rPr>
              <a:t>ordinary (or differed) annuity</a:t>
            </a:r>
            <a:r>
              <a:rPr lang="en-US" sz="2400" dirty="0" smtClean="0">
                <a:effectLst>
                  <a:outerShdw blurRad="38100" dist="38100" dir="2700000" algn="tl">
                    <a:srgbClr val="000000">
                      <a:alpha val="43137"/>
                    </a:srgbClr>
                  </a:outerShdw>
                </a:effectLst>
              </a:rPr>
              <a:t>.</a:t>
            </a:r>
          </a:p>
          <a:p>
            <a:pPr>
              <a:buNone/>
            </a:pPr>
            <a:endParaRPr lang="en-US" sz="2400" dirty="0" smtClean="0"/>
          </a:p>
          <a:p>
            <a:r>
              <a:rPr lang="en-US" sz="2400" dirty="0" smtClean="0"/>
              <a:t>If the payments are made at the </a:t>
            </a:r>
            <a:r>
              <a:rPr lang="en-US" sz="2400" b="1" dirty="0" smtClean="0">
                <a:solidFill>
                  <a:srgbClr val="0070C0"/>
                </a:solidFill>
                <a:effectLst>
                  <a:outerShdw blurRad="38100" dist="38100" dir="2700000" algn="tl">
                    <a:srgbClr val="000000">
                      <a:alpha val="43137"/>
                    </a:srgbClr>
                  </a:outerShdw>
                </a:effectLst>
              </a:rPr>
              <a:t>beginning of each year </a:t>
            </a:r>
            <a:r>
              <a:rPr lang="en-US" sz="2400" dirty="0" smtClean="0"/>
              <a:t>it is an </a:t>
            </a:r>
            <a:r>
              <a:rPr lang="en-US" sz="2400" b="1" dirty="0" smtClean="0">
                <a:solidFill>
                  <a:srgbClr val="0070C0"/>
                </a:solidFill>
                <a:effectLst>
                  <a:outerShdw blurRad="38100" dist="38100" dir="2700000" algn="tl">
                    <a:srgbClr val="000000">
                      <a:alpha val="43137"/>
                    </a:srgbClr>
                  </a:outerShdw>
                </a:effectLst>
              </a:rPr>
              <a:t>annuity due.</a:t>
            </a:r>
            <a:endParaRPr lang="en-MY" sz="2400" b="1" dirty="0">
              <a:solidFill>
                <a:srgbClr val="0070C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pPr>
              <a:buNone/>
            </a:pPr>
            <a:r>
              <a:rPr lang="en-US" dirty="0" smtClean="0"/>
              <a:t> 	</a:t>
            </a:r>
            <a:r>
              <a:rPr lang="en-US" sz="2400" dirty="0" smtClean="0"/>
              <a:t>The time lines for a $100, 3-year ordinary annuity and annuity due basis. A $100 be made each year.</a:t>
            </a:r>
          </a:p>
          <a:p>
            <a:pPr>
              <a:buNone/>
            </a:pPr>
            <a:endParaRPr lang="en-US" sz="2400" b="1" dirty="0" smtClean="0"/>
          </a:p>
          <a:p>
            <a:pPr>
              <a:buNone/>
            </a:pPr>
            <a:r>
              <a:rPr lang="en-US" sz="2400" b="1" dirty="0" smtClean="0"/>
              <a:t>Ordinary Annuity</a:t>
            </a:r>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sz="2400" b="1" dirty="0" smtClean="0"/>
              <a:t>Annuity Due</a:t>
            </a:r>
            <a:endParaRPr lang="en-MY" sz="2400" b="1" dirty="0"/>
          </a:p>
        </p:txBody>
      </p:sp>
      <p:cxnSp>
        <p:nvCxnSpPr>
          <p:cNvPr id="5" name="Straight Connector 4"/>
          <p:cNvCxnSpPr/>
          <p:nvPr/>
        </p:nvCxnSpPr>
        <p:spPr>
          <a:xfrm>
            <a:off x="4716016" y="1916832"/>
            <a:ext cx="29523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932040" y="4797152"/>
            <a:ext cx="28803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7668344" y="170080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588224" y="170080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5652120" y="170080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4716016" y="170080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812360" y="458112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876256" y="458112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5940152" y="4581128"/>
            <a:ext cx="0"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932040" y="4581128"/>
            <a:ext cx="0" cy="4320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203848" y="1340768"/>
            <a:ext cx="1224136" cy="1200329"/>
          </a:xfrm>
          <a:prstGeom prst="rect">
            <a:avLst/>
          </a:prstGeom>
          <a:noFill/>
        </p:spPr>
        <p:txBody>
          <a:bodyPr wrap="square" rtlCol="0">
            <a:spAutoFit/>
          </a:bodyPr>
          <a:lstStyle/>
          <a:p>
            <a:r>
              <a:rPr lang="en-US" dirty="0" smtClean="0"/>
              <a:t>Periods</a:t>
            </a:r>
          </a:p>
          <a:p>
            <a:endParaRPr lang="en-US" dirty="0" smtClean="0"/>
          </a:p>
          <a:p>
            <a:endParaRPr lang="en-US" dirty="0" smtClean="0"/>
          </a:p>
          <a:p>
            <a:r>
              <a:rPr lang="en-US" dirty="0" smtClean="0"/>
              <a:t>Payments</a:t>
            </a:r>
            <a:endParaRPr lang="en-MY" dirty="0"/>
          </a:p>
        </p:txBody>
      </p:sp>
      <p:sp>
        <p:nvSpPr>
          <p:cNvPr id="20" name="TextBox 19"/>
          <p:cNvSpPr txBox="1"/>
          <p:nvPr/>
        </p:nvSpPr>
        <p:spPr>
          <a:xfrm>
            <a:off x="3491880" y="4293096"/>
            <a:ext cx="1224136" cy="1200329"/>
          </a:xfrm>
          <a:prstGeom prst="rect">
            <a:avLst/>
          </a:prstGeom>
          <a:noFill/>
        </p:spPr>
        <p:txBody>
          <a:bodyPr wrap="square" rtlCol="0">
            <a:spAutoFit/>
          </a:bodyPr>
          <a:lstStyle/>
          <a:p>
            <a:r>
              <a:rPr lang="en-US" dirty="0" smtClean="0"/>
              <a:t>Periods</a:t>
            </a:r>
          </a:p>
          <a:p>
            <a:endParaRPr lang="en-US" dirty="0" smtClean="0"/>
          </a:p>
          <a:p>
            <a:endParaRPr lang="en-US" dirty="0" smtClean="0"/>
          </a:p>
          <a:p>
            <a:r>
              <a:rPr lang="en-US" dirty="0" smtClean="0"/>
              <a:t>Payments</a:t>
            </a:r>
            <a:endParaRPr lang="en-MY" dirty="0"/>
          </a:p>
        </p:txBody>
      </p:sp>
      <p:sp>
        <p:nvSpPr>
          <p:cNvPr id="22" name="TextBox 21"/>
          <p:cNvSpPr txBox="1"/>
          <p:nvPr/>
        </p:nvSpPr>
        <p:spPr>
          <a:xfrm>
            <a:off x="4572000" y="1268760"/>
            <a:ext cx="3384376" cy="369332"/>
          </a:xfrm>
          <a:prstGeom prst="rect">
            <a:avLst/>
          </a:prstGeom>
          <a:noFill/>
        </p:spPr>
        <p:txBody>
          <a:bodyPr wrap="square" rtlCol="0">
            <a:spAutoFit/>
          </a:bodyPr>
          <a:lstStyle/>
          <a:p>
            <a:r>
              <a:rPr lang="en-US" dirty="0" smtClean="0"/>
              <a:t>0                1               2                   3</a:t>
            </a:r>
            <a:endParaRPr lang="en-MY" dirty="0"/>
          </a:p>
        </p:txBody>
      </p:sp>
      <p:sp>
        <p:nvSpPr>
          <p:cNvPr id="23" name="TextBox 22"/>
          <p:cNvSpPr txBox="1"/>
          <p:nvPr/>
        </p:nvSpPr>
        <p:spPr>
          <a:xfrm>
            <a:off x="4788024" y="4149080"/>
            <a:ext cx="3384376" cy="369332"/>
          </a:xfrm>
          <a:prstGeom prst="rect">
            <a:avLst/>
          </a:prstGeom>
          <a:noFill/>
        </p:spPr>
        <p:txBody>
          <a:bodyPr wrap="square" rtlCol="0">
            <a:spAutoFit/>
          </a:bodyPr>
          <a:lstStyle/>
          <a:p>
            <a:r>
              <a:rPr lang="en-US" dirty="0" smtClean="0"/>
              <a:t>0                1               2                   3</a:t>
            </a:r>
            <a:endParaRPr lang="en-MY" dirty="0"/>
          </a:p>
        </p:txBody>
      </p:sp>
      <p:sp>
        <p:nvSpPr>
          <p:cNvPr id="25" name="TextBox 24"/>
          <p:cNvSpPr txBox="1"/>
          <p:nvPr/>
        </p:nvSpPr>
        <p:spPr>
          <a:xfrm>
            <a:off x="5220072" y="2204864"/>
            <a:ext cx="2736304" cy="369332"/>
          </a:xfrm>
          <a:prstGeom prst="rect">
            <a:avLst/>
          </a:prstGeom>
          <a:noFill/>
        </p:spPr>
        <p:txBody>
          <a:bodyPr wrap="square" rtlCol="0">
            <a:spAutoFit/>
          </a:bodyPr>
          <a:lstStyle/>
          <a:p>
            <a:r>
              <a:rPr lang="en-US" dirty="0" smtClean="0"/>
              <a:t>-$100        -$100          -$100</a:t>
            </a:r>
            <a:endParaRPr lang="en-MY" dirty="0"/>
          </a:p>
        </p:txBody>
      </p:sp>
      <p:sp>
        <p:nvSpPr>
          <p:cNvPr id="26" name="TextBox 25"/>
          <p:cNvSpPr txBox="1"/>
          <p:nvPr/>
        </p:nvSpPr>
        <p:spPr>
          <a:xfrm>
            <a:off x="4572000" y="5157192"/>
            <a:ext cx="2808312" cy="369332"/>
          </a:xfrm>
          <a:prstGeom prst="rect">
            <a:avLst/>
          </a:prstGeom>
          <a:noFill/>
        </p:spPr>
        <p:txBody>
          <a:bodyPr wrap="square" rtlCol="0">
            <a:spAutoFit/>
          </a:bodyPr>
          <a:lstStyle/>
          <a:p>
            <a:r>
              <a:rPr lang="en-US" dirty="0" smtClean="0"/>
              <a:t>-$100        -$100          -$100</a:t>
            </a:r>
            <a:endParaRPr lang="en-MY" dirty="0"/>
          </a:p>
        </p:txBody>
      </p:sp>
      <p:sp>
        <p:nvSpPr>
          <p:cNvPr id="27" name="TextBox 26"/>
          <p:cNvSpPr txBox="1"/>
          <p:nvPr/>
        </p:nvSpPr>
        <p:spPr>
          <a:xfrm>
            <a:off x="4860032" y="1556792"/>
            <a:ext cx="648072" cy="369332"/>
          </a:xfrm>
          <a:prstGeom prst="rect">
            <a:avLst/>
          </a:prstGeom>
          <a:noFill/>
        </p:spPr>
        <p:txBody>
          <a:bodyPr wrap="square" rtlCol="0">
            <a:spAutoFit/>
          </a:bodyPr>
          <a:lstStyle/>
          <a:p>
            <a:r>
              <a:rPr lang="en-US" dirty="0" smtClean="0"/>
              <a:t>5%</a:t>
            </a:r>
            <a:endParaRPr lang="en-MY" dirty="0"/>
          </a:p>
        </p:txBody>
      </p:sp>
      <p:sp>
        <p:nvSpPr>
          <p:cNvPr id="28" name="TextBox 27"/>
          <p:cNvSpPr txBox="1"/>
          <p:nvPr/>
        </p:nvSpPr>
        <p:spPr>
          <a:xfrm>
            <a:off x="5148064" y="4365104"/>
            <a:ext cx="648072" cy="369332"/>
          </a:xfrm>
          <a:prstGeom prst="rect">
            <a:avLst/>
          </a:prstGeom>
          <a:noFill/>
        </p:spPr>
        <p:txBody>
          <a:bodyPr wrap="square" rtlCol="0">
            <a:spAutoFit/>
          </a:bodyPr>
          <a:lstStyle/>
          <a:p>
            <a:r>
              <a:rPr lang="en-US" dirty="0" smtClean="0"/>
              <a:t>5%</a:t>
            </a:r>
            <a:endParaRPr lang="en-MY"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An annuity must have :</a:t>
            </a:r>
          </a:p>
          <a:p>
            <a:pPr lvl="1"/>
            <a:r>
              <a:rPr lang="en-US" dirty="0" smtClean="0"/>
              <a:t>Constant payments</a:t>
            </a:r>
          </a:p>
          <a:p>
            <a:pPr lvl="1"/>
            <a:r>
              <a:rPr lang="en-US" dirty="0" smtClean="0"/>
              <a:t>A fixed number of periods</a:t>
            </a:r>
            <a:endParaRPr lang="en-MY"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32" y="332656"/>
            <a:ext cx="8461448" cy="792088"/>
          </a:xfrm>
          <a:solidFill>
            <a:schemeClr val="accent3">
              <a:lumMod val="20000"/>
              <a:lumOff val="80000"/>
            </a:schemeClr>
          </a:solidFill>
        </p:spPr>
        <p:txBody>
          <a:bodyPr>
            <a:normAutofit/>
          </a:bodyPr>
          <a:lstStyle/>
          <a:p>
            <a:r>
              <a:rPr lang="en-US" sz="3200" dirty="0" smtClean="0"/>
              <a:t>6-7: FUTURE VALUE OF AN ORDINARY ANNUITY</a:t>
            </a:r>
            <a:endParaRPr lang="en-MY" sz="3200" dirty="0"/>
          </a:p>
        </p:txBody>
      </p:sp>
      <p:sp>
        <p:nvSpPr>
          <p:cNvPr id="3" name="Content Placeholder 2"/>
          <p:cNvSpPr>
            <a:spLocks noGrp="1"/>
          </p:cNvSpPr>
          <p:nvPr>
            <p:ph idx="1"/>
          </p:nvPr>
        </p:nvSpPr>
        <p:spPr>
          <a:xfrm>
            <a:off x="251520" y="1340768"/>
            <a:ext cx="8568952" cy="5328592"/>
          </a:xfrm>
        </p:spPr>
        <p:txBody>
          <a:bodyPr>
            <a:normAutofit fontScale="92500" lnSpcReduction="20000"/>
          </a:bodyPr>
          <a:lstStyle/>
          <a:p>
            <a:pPr>
              <a:buNone/>
            </a:pPr>
            <a:r>
              <a:rPr lang="en-US" sz="2400" dirty="0" smtClean="0"/>
              <a:t>	</a:t>
            </a:r>
            <a:r>
              <a:rPr lang="en-US" sz="2600" dirty="0" smtClean="0"/>
              <a:t>The Future Value of an annuity can be found using the step-by-step approach or using formula:</a:t>
            </a:r>
          </a:p>
          <a:p>
            <a:pPr>
              <a:buNone/>
            </a:pPr>
            <a:endParaRPr lang="en-US" sz="2400" dirty="0" smtClean="0"/>
          </a:p>
          <a:p>
            <a:pPr>
              <a:buNone/>
            </a:pPr>
            <a:r>
              <a:rPr lang="en-US" sz="2400" dirty="0" smtClean="0"/>
              <a:t>	</a:t>
            </a:r>
            <a:r>
              <a:rPr lang="en-US" sz="2800" b="1" dirty="0" smtClean="0"/>
              <a:t>6-7a: Step-by-Step Approach</a:t>
            </a:r>
          </a:p>
          <a:p>
            <a:pPr>
              <a:buNone/>
            </a:pPr>
            <a:endParaRPr lang="en-US" sz="2800" b="1" dirty="0" smtClean="0"/>
          </a:p>
          <a:p>
            <a:pPr marL="342900" lvl="1" indent="-342900">
              <a:buNone/>
            </a:pPr>
            <a:r>
              <a:rPr lang="en-US" sz="2400" dirty="0" smtClean="0"/>
              <a:t>		</a:t>
            </a:r>
            <a:r>
              <a:rPr lang="en-US" sz="2600" dirty="0" smtClean="0"/>
              <a:t>To find the FV, we compound them, </a:t>
            </a:r>
            <a:r>
              <a:rPr lang="en-US" sz="2600" b="1" dirty="0" smtClean="0"/>
              <a:t>time each payment 	by (1+I) ᶰ¯ᵗ</a:t>
            </a:r>
            <a:r>
              <a:rPr lang="en-US" sz="2600" dirty="0" smtClean="0"/>
              <a:t>. The step-by-step procedure is as follows:</a:t>
            </a:r>
          </a:p>
          <a:p>
            <a:pPr marL="342900" lvl="1" indent="-342900">
              <a:buNone/>
            </a:pPr>
            <a:endParaRPr lang="en-US" sz="2400" dirty="0" smtClean="0"/>
          </a:p>
          <a:p>
            <a:pPr>
              <a:buNone/>
            </a:pPr>
            <a:endParaRPr lang="en-US" sz="2400" dirty="0" smtClean="0"/>
          </a:p>
          <a:p>
            <a:pPr>
              <a:buNone/>
            </a:pPr>
            <a:r>
              <a:rPr lang="en-US" sz="2400" dirty="0" smtClean="0"/>
              <a:t>		</a:t>
            </a:r>
          </a:p>
          <a:p>
            <a:pPr>
              <a:buNone/>
            </a:pPr>
            <a:r>
              <a:rPr lang="en-US" sz="2400" dirty="0" smtClean="0"/>
              <a:t>		</a:t>
            </a:r>
            <a:r>
              <a:rPr lang="en-US" sz="2600" dirty="0" smtClean="0"/>
              <a:t>Example: 	</a:t>
            </a:r>
          </a:p>
          <a:p>
            <a:pPr>
              <a:buNone/>
            </a:pPr>
            <a:r>
              <a:rPr lang="en-US" sz="2600" dirty="0" smtClean="0"/>
              <a:t>		You deposit $100 at the end of each year for 3 years 	and earn 5% per year. How much you will have at the 	end of the 3</a:t>
            </a:r>
            <a:r>
              <a:rPr lang="en-US" sz="2600" baseline="30000" dirty="0" smtClean="0"/>
              <a:t>rd</a:t>
            </a:r>
            <a:r>
              <a:rPr lang="en-US" sz="2600" dirty="0" smtClean="0"/>
              <a:t> 	year?</a:t>
            </a:r>
          </a:p>
          <a:p>
            <a:pPr>
              <a:buNone/>
            </a:pPr>
            <a:r>
              <a:rPr lang="en-US" sz="2800" dirty="0" smtClean="0"/>
              <a:t>	</a:t>
            </a:r>
          </a:p>
        </p:txBody>
      </p:sp>
      <p:sp>
        <p:nvSpPr>
          <p:cNvPr id="22" name="TextBox 21"/>
          <p:cNvSpPr txBox="1"/>
          <p:nvPr/>
        </p:nvSpPr>
        <p:spPr>
          <a:xfrm>
            <a:off x="3275856" y="4149080"/>
            <a:ext cx="3384376" cy="461665"/>
          </a:xfrm>
          <a:prstGeom prst="rect">
            <a:avLst/>
          </a:prstGeom>
          <a:noFill/>
          <a:ln w="57150">
            <a:solidFill>
              <a:srgbClr val="FF6600"/>
            </a:solidFill>
          </a:ln>
        </p:spPr>
        <p:txBody>
          <a:bodyPr wrap="square" rtlCol="0">
            <a:spAutoFit/>
          </a:bodyPr>
          <a:lstStyle/>
          <a:p>
            <a:pPr algn="ctr"/>
            <a:r>
              <a:rPr lang="en-US" sz="2400" b="1" dirty="0" smtClean="0"/>
              <a:t>FVA</a:t>
            </a:r>
            <a:r>
              <a:rPr lang="en-US" sz="1400" b="1" dirty="0" smtClean="0"/>
              <a:t>T </a:t>
            </a:r>
            <a:r>
              <a:rPr lang="en-US" sz="2400" b="1" dirty="0" smtClean="0"/>
              <a:t>= PMT (1+ I)ᶰ¯ᵀ</a:t>
            </a:r>
            <a:endParaRPr lang="en-MY" sz="2400" b="1"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04664"/>
            <a:ext cx="8640960" cy="6120680"/>
          </a:xfrm>
        </p:spPr>
        <p:txBody>
          <a:bodyPr>
            <a:normAutofit/>
          </a:bodyPr>
          <a:lstStyle/>
          <a:p>
            <a:pPr>
              <a:buNone/>
            </a:pPr>
            <a:r>
              <a:rPr lang="en-US" sz="2400" dirty="0" smtClean="0"/>
              <a:t>	Example: </a:t>
            </a:r>
          </a:p>
          <a:p>
            <a:pPr>
              <a:buNone/>
            </a:pPr>
            <a:r>
              <a:rPr lang="en-US" sz="2400" dirty="0" smtClean="0"/>
              <a:t>	You deposit $100 at the end of each year for 3 years and earn 5% per year. How much you will have at the end of the 3</a:t>
            </a:r>
            <a:r>
              <a:rPr lang="en-US" sz="2400" baseline="30000" dirty="0" smtClean="0"/>
              <a:t>rd</a:t>
            </a:r>
            <a:r>
              <a:rPr lang="en-US" sz="2400" dirty="0" smtClean="0"/>
              <a:t> year?</a:t>
            </a:r>
          </a:p>
          <a:p>
            <a:pPr>
              <a:buNone/>
            </a:pPr>
            <a:endParaRPr lang="en-US" sz="2800" dirty="0" smtClean="0"/>
          </a:p>
        </p:txBody>
      </p:sp>
      <p:cxnSp>
        <p:nvCxnSpPr>
          <p:cNvPr id="5" name="Straight Connector 4"/>
          <p:cNvCxnSpPr/>
          <p:nvPr/>
        </p:nvCxnSpPr>
        <p:spPr>
          <a:xfrm>
            <a:off x="4283968" y="2924944"/>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012160" y="2780928"/>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076056" y="2780928"/>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83968" y="2780928"/>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76256" y="2780928"/>
            <a:ext cx="0" cy="36004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139952" y="2348880"/>
            <a:ext cx="3384376" cy="369332"/>
          </a:xfrm>
          <a:prstGeom prst="rect">
            <a:avLst/>
          </a:prstGeom>
          <a:noFill/>
        </p:spPr>
        <p:txBody>
          <a:bodyPr wrap="square" rtlCol="0">
            <a:spAutoFit/>
          </a:bodyPr>
          <a:lstStyle/>
          <a:p>
            <a:r>
              <a:rPr lang="en-US" dirty="0" smtClean="0"/>
              <a:t>0            1                2              3                </a:t>
            </a:r>
            <a:endParaRPr lang="en-MY" dirty="0"/>
          </a:p>
        </p:txBody>
      </p:sp>
      <p:sp>
        <p:nvSpPr>
          <p:cNvPr id="15" name="TextBox 14"/>
          <p:cNvSpPr txBox="1"/>
          <p:nvPr/>
        </p:nvSpPr>
        <p:spPr>
          <a:xfrm>
            <a:off x="4427984" y="2636912"/>
            <a:ext cx="504056" cy="338554"/>
          </a:xfrm>
          <a:prstGeom prst="rect">
            <a:avLst/>
          </a:prstGeom>
          <a:noFill/>
        </p:spPr>
        <p:txBody>
          <a:bodyPr wrap="square" rtlCol="0">
            <a:spAutoFit/>
          </a:bodyPr>
          <a:lstStyle/>
          <a:p>
            <a:r>
              <a:rPr lang="en-US" sz="1600" dirty="0" smtClean="0"/>
              <a:t>5%</a:t>
            </a:r>
            <a:endParaRPr lang="en-MY" sz="1600" dirty="0"/>
          </a:p>
        </p:txBody>
      </p:sp>
      <p:sp>
        <p:nvSpPr>
          <p:cNvPr id="16" name="TextBox 15"/>
          <p:cNvSpPr txBox="1"/>
          <p:nvPr/>
        </p:nvSpPr>
        <p:spPr>
          <a:xfrm>
            <a:off x="4644008" y="3140969"/>
            <a:ext cx="2736304" cy="307777"/>
          </a:xfrm>
          <a:prstGeom prst="rect">
            <a:avLst/>
          </a:prstGeom>
          <a:noFill/>
        </p:spPr>
        <p:txBody>
          <a:bodyPr wrap="square" rtlCol="0">
            <a:spAutoFit/>
          </a:bodyPr>
          <a:lstStyle/>
          <a:p>
            <a:r>
              <a:rPr lang="en-US" sz="1400" dirty="0" smtClean="0"/>
              <a:t>  -$100             -$100            -$100             </a:t>
            </a:r>
            <a:endParaRPr lang="en-MY" sz="1400" dirty="0"/>
          </a:p>
        </p:txBody>
      </p:sp>
      <p:sp>
        <p:nvSpPr>
          <p:cNvPr id="17" name="TextBox 16"/>
          <p:cNvSpPr txBox="1"/>
          <p:nvPr/>
        </p:nvSpPr>
        <p:spPr>
          <a:xfrm>
            <a:off x="2987824" y="2420888"/>
            <a:ext cx="1080120" cy="1077218"/>
          </a:xfrm>
          <a:prstGeom prst="rect">
            <a:avLst/>
          </a:prstGeom>
          <a:noFill/>
        </p:spPr>
        <p:txBody>
          <a:bodyPr wrap="square" rtlCol="0">
            <a:spAutoFit/>
          </a:bodyPr>
          <a:lstStyle/>
          <a:p>
            <a:r>
              <a:rPr lang="en-US" sz="1600" dirty="0" smtClean="0"/>
              <a:t>Periods</a:t>
            </a:r>
          </a:p>
          <a:p>
            <a:endParaRPr lang="en-US" sz="1600" dirty="0" smtClean="0"/>
          </a:p>
          <a:p>
            <a:endParaRPr lang="en-US" sz="1600" dirty="0" smtClean="0"/>
          </a:p>
          <a:p>
            <a:r>
              <a:rPr lang="en-US" sz="1600" dirty="0" smtClean="0"/>
              <a:t>Payments</a:t>
            </a:r>
            <a:endParaRPr lang="en-MY" sz="1600" dirty="0"/>
          </a:p>
        </p:txBody>
      </p:sp>
      <p:sp>
        <p:nvSpPr>
          <p:cNvPr id="18" name="TextBox 17"/>
          <p:cNvSpPr txBox="1"/>
          <p:nvPr/>
        </p:nvSpPr>
        <p:spPr>
          <a:xfrm>
            <a:off x="0" y="3717033"/>
            <a:ext cx="8532440" cy="3477875"/>
          </a:xfrm>
          <a:prstGeom prst="rect">
            <a:avLst/>
          </a:prstGeom>
          <a:noFill/>
        </p:spPr>
        <p:txBody>
          <a:bodyPr wrap="square" rtlCol="0">
            <a:spAutoFit/>
          </a:bodyPr>
          <a:lstStyle/>
          <a:p>
            <a:r>
              <a:rPr lang="en-US" dirty="0" smtClean="0">
                <a:solidFill>
                  <a:srgbClr val="FF0000"/>
                </a:solidFill>
              </a:rPr>
              <a:t>FVA</a:t>
            </a:r>
            <a:r>
              <a:rPr lang="en-US" sz="1200" dirty="0" smtClean="0">
                <a:solidFill>
                  <a:srgbClr val="FF0000"/>
                </a:solidFill>
              </a:rPr>
              <a:t>1</a:t>
            </a:r>
            <a:r>
              <a:rPr lang="en-US" dirty="0" smtClean="0">
                <a:solidFill>
                  <a:srgbClr val="FF0000"/>
                </a:solidFill>
              </a:rPr>
              <a:t>=PMT(1+I)ᶰ¯¹ = $100 (1.05)³¯¹=$100(1.05)² </a:t>
            </a:r>
            <a:r>
              <a:rPr lang="en-US" dirty="0" smtClean="0">
                <a:solidFill>
                  <a:srgbClr val="FF0000"/>
                </a:solidFill>
                <a:sym typeface="Wingdings" pitchFamily="2" charset="2"/>
              </a:rPr>
              <a:t></a:t>
            </a:r>
            <a:r>
              <a:rPr lang="en-US" dirty="0" smtClean="0">
                <a:solidFill>
                  <a:srgbClr val="FF0000"/>
                </a:solidFill>
              </a:rPr>
              <a:t> </a:t>
            </a:r>
            <a:r>
              <a:rPr lang="en-US" b="1" dirty="0" smtClean="0"/>
              <a:t>$110.25</a:t>
            </a:r>
          </a:p>
          <a:p>
            <a:endParaRPr lang="en-US" dirty="0" smtClean="0">
              <a:solidFill>
                <a:srgbClr val="FF0000"/>
              </a:solidFill>
            </a:endParaRPr>
          </a:p>
          <a:p>
            <a:r>
              <a:rPr lang="en-US" dirty="0" smtClean="0">
                <a:solidFill>
                  <a:srgbClr val="FF0000"/>
                </a:solidFill>
              </a:rPr>
              <a:t>FVA</a:t>
            </a:r>
            <a:r>
              <a:rPr lang="en-US" sz="1400" dirty="0" smtClean="0">
                <a:solidFill>
                  <a:srgbClr val="FF0000"/>
                </a:solidFill>
              </a:rPr>
              <a:t>2</a:t>
            </a:r>
            <a:r>
              <a:rPr lang="en-US" dirty="0" smtClean="0">
                <a:solidFill>
                  <a:srgbClr val="FF0000"/>
                </a:solidFill>
              </a:rPr>
              <a:t>=PMT(1+I)ᶰ¯² = $100 (1.05)³¯²=$100(1.05)¹ ===== =</a:t>
            </a:r>
            <a:r>
              <a:rPr lang="en-US" dirty="0" smtClean="0">
                <a:solidFill>
                  <a:srgbClr val="FF0000"/>
                </a:solidFill>
                <a:sym typeface="Wingdings" pitchFamily="2" charset="2"/>
              </a:rPr>
              <a:t></a:t>
            </a:r>
            <a:r>
              <a:rPr lang="en-US" b="1" dirty="0" smtClean="0"/>
              <a:t>$105.00</a:t>
            </a:r>
          </a:p>
          <a:p>
            <a:endParaRPr lang="en-US" dirty="0" smtClean="0">
              <a:solidFill>
                <a:srgbClr val="FF0000"/>
              </a:solidFill>
            </a:endParaRPr>
          </a:p>
          <a:p>
            <a:r>
              <a:rPr lang="en-US" dirty="0" smtClean="0">
                <a:solidFill>
                  <a:srgbClr val="FF0000"/>
                </a:solidFill>
              </a:rPr>
              <a:t>FVA</a:t>
            </a:r>
            <a:r>
              <a:rPr lang="en-US" sz="1400" dirty="0" smtClean="0">
                <a:solidFill>
                  <a:srgbClr val="FF0000"/>
                </a:solidFill>
              </a:rPr>
              <a:t>3</a:t>
            </a:r>
            <a:r>
              <a:rPr lang="en-US" dirty="0" smtClean="0">
                <a:solidFill>
                  <a:srgbClr val="FF0000"/>
                </a:solidFill>
              </a:rPr>
              <a:t>=PMT(1+I)ᶰ¯³ = $100 (1.05)³¯³=$100(1.05)⁰======= ====</a:t>
            </a:r>
            <a:r>
              <a:rPr lang="en-US" dirty="0" smtClean="0">
                <a:solidFill>
                  <a:srgbClr val="FF0000"/>
                </a:solidFill>
                <a:sym typeface="Wingdings" pitchFamily="2" charset="2"/>
              </a:rPr>
              <a:t></a:t>
            </a:r>
            <a:r>
              <a:rPr lang="en-US" dirty="0" smtClean="0">
                <a:solidFill>
                  <a:srgbClr val="FF0000"/>
                </a:solidFill>
              </a:rPr>
              <a:t>   </a:t>
            </a:r>
            <a:r>
              <a:rPr lang="en-US" b="1" dirty="0" smtClean="0"/>
              <a:t>$100.00</a:t>
            </a:r>
          </a:p>
          <a:p>
            <a:r>
              <a:rPr lang="en-US" dirty="0" smtClean="0">
                <a:solidFill>
                  <a:srgbClr val="FF0000"/>
                </a:solidFill>
              </a:rPr>
              <a:t>			</a:t>
            </a:r>
            <a:endParaRPr lang="en-US" b="1" dirty="0" smtClean="0"/>
          </a:p>
          <a:p>
            <a:r>
              <a:rPr lang="en-US" sz="2000" b="1" dirty="0" smtClean="0"/>
              <a:t>The Future Value of the Annuity (FVA</a:t>
            </a:r>
            <a:r>
              <a:rPr lang="en-US" sz="1400" b="1" dirty="0" smtClean="0"/>
              <a:t>N</a:t>
            </a:r>
            <a:r>
              <a:rPr lang="en-US" sz="2000" b="1" dirty="0" smtClean="0"/>
              <a:t> )  	=  $ 110.25 +  $105.00 + $100.00 </a:t>
            </a:r>
          </a:p>
          <a:p>
            <a:r>
              <a:rPr lang="en-US" sz="2000" b="1" dirty="0" smtClean="0"/>
              <a:t>					 =  $315.25</a:t>
            </a:r>
          </a:p>
          <a:p>
            <a:r>
              <a:rPr lang="en-US" b="1" dirty="0" smtClean="0"/>
              <a:t>				</a:t>
            </a:r>
          </a:p>
          <a:p>
            <a:endParaRPr lang="en-US" b="1" dirty="0" smtClean="0"/>
          </a:p>
          <a:p>
            <a:endParaRPr lang="en-US" b="1" dirty="0" smtClean="0"/>
          </a:p>
          <a:p>
            <a:endParaRPr lang="en-MY" b="1" dirty="0"/>
          </a:p>
        </p:txBody>
      </p:sp>
      <p:sp>
        <p:nvSpPr>
          <p:cNvPr id="20" name="TextBox 19"/>
          <p:cNvSpPr txBox="1"/>
          <p:nvPr/>
        </p:nvSpPr>
        <p:spPr>
          <a:xfrm>
            <a:off x="2483768" y="1772816"/>
            <a:ext cx="3024336" cy="400110"/>
          </a:xfrm>
          <a:prstGeom prst="rect">
            <a:avLst/>
          </a:prstGeom>
          <a:noFill/>
          <a:ln w="57150">
            <a:solidFill>
              <a:srgbClr val="FF6600"/>
            </a:solidFill>
          </a:ln>
        </p:spPr>
        <p:txBody>
          <a:bodyPr wrap="square" rtlCol="0">
            <a:spAutoFit/>
          </a:bodyPr>
          <a:lstStyle/>
          <a:p>
            <a:pPr algn="ctr"/>
            <a:r>
              <a:rPr lang="en-US" sz="2000" b="1" dirty="0" smtClean="0"/>
              <a:t>FVA</a:t>
            </a:r>
            <a:r>
              <a:rPr lang="en-US" sz="1400" b="1" dirty="0" smtClean="0"/>
              <a:t>T</a:t>
            </a:r>
            <a:r>
              <a:rPr lang="en-US" sz="2000" b="1" dirty="0" smtClean="0"/>
              <a:t> = PMT (1+ I)ᶰ¯ᵀ</a:t>
            </a:r>
            <a:endParaRPr lang="en-MY" sz="2000" b="1" dirty="0"/>
          </a:p>
        </p:txBody>
      </p:sp>
      <p:cxnSp>
        <p:nvCxnSpPr>
          <p:cNvPr id="24" name="Straight Connector 23"/>
          <p:cNvCxnSpPr/>
          <p:nvPr/>
        </p:nvCxnSpPr>
        <p:spPr>
          <a:xfrm flipH="1" flipV="1">
            <a:off x="1043608" y="1974031"/>
            <a:ext cx="1368152" cy="1480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043608" y="1988840"/>
            <a:ext cx="0" cy="158417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076056" y="3429000"/>
            <a:ext cx="0" cy="360040"/>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012160" y="3429000"/>
            <a:ext cx="0" cy="936104"/>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6876256" y="3429000"/>
            <a:ext cx="0" cy="1440160"/>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12968" cy="792088"/>
          </a:xfrm>
        </p:spPr>
        <p:txBody>
          <a:bodyPr>
            <a:normAutofit/>
          </a:bodyPr>
          <a:lstStyle/>
          <a:p>
            <a:pPr algn="l"/>
            <a:r>
              <a:rPr lang="en-US" sz="2800" b="1" dirty="0" smtClean="0"/>
              <a:t>6-7b: Using formula to calculate FVA</a:t>
            </a:r>
            <a:r>
              <a:rPr lang="en-US" sz="1800" b="1" dirty="0" smtClean="0"/>
              <a:t>N</a:t>
            </a:r>
            <a:endParaRPr lang="en-MY" sz="1800" dirty="0"/>
          </a:p>
        </p:txBody>
      </p:sp>
      <p:sp>
        <p:nvSpPr>
          <p:cNvPr id="3" name="Content Placeholder 2"/>
          <p:cNvSpPr>
            <a:spLocks noGrp="1"/>
          </p:cNvSpPr>
          <p:nvPr>
            <p:ph idx="1"/>
          </p:nvPr>
        </p:nvSpPr>
        <p:spPr>
          <a:xfrm>
            <a:off x="457200" y="1340768"/>
            <a:ext cx="8229600" cy="4785395"/>
          </a:xfrm>
        </p:spPr>
        <p:txBody>
          <a:bodyPr/>
          <a:lstStyle/>
          <a:p>
            <a:pPr>
              <a:buNone/>
            </a:pPr>
            <a:r>
              <a:rPr lang="en-US" sz="2400" dirty="0" smtClean="0"/>
              <a:t>Example: </a:t>
            </a:r>
          </a:p>
          <a:p>
            <a:pPr>
              <a:buNone/>
            </a:pPr>
            <a:r>
              <a:rPr lang="en-US" dirty="0" smtClean="0"/>
              <a:t>	</a:t>
            </a:r>
            <a:r>
              <a:rPr lang="en-US" sz="2400" dirty="0" smtClean="0"/>
              <a:t>You deposit $100 at the end of each year for 3 years and earn 5% per year. How much you will have at the end of the 3</a:t>
            </a:r>
            <a:r>
              <a:rPr lang="en-US" sz="2400" baseline="30000" dirty="0" smtClean="0"/>
              <a:t>rd</a:t>
            </a:r>
            <a:r>
              <a:rPr lang="en-US" sz="2400" dirty="0" smtClean="0"/>
              <a:t> year?</a:t>
            </a:r>
          </a:p>
          <a:p>
            <a:pPr>
              <a:buNone/>
            </a:pPr>
            <a:endParaRPr lang="en-US" sz="2800" dirty="0" smtClean="0"/>
          </a:p>
          <a:p>
            <a:pPr>
              <a:buNone/>
            </a:pPr>
            <a:r>
              <a:rPr lang="en-US" sz="2400" b="1" dirty="0" smtClean="0"/>
              <a:t>FVA</a:t>
            </a:r>
            <a:r>
              <a:rPr lang="en-US" sz="1400" b="1" dirty="0" smtClean="0"/>
              <a:t>N</a:t>
            </a:r>
            <a:r>
              <a:rPr lang="en-US" sz="2400" b="1" dirty="0" smtClean="0"/>
              <a:t>  = PMT (1+I)ᶰ¯¹ + PMT (1+I)ᶰ¯² + PMT (1+I)ᶰ¯³</a:t>
            </a:r>
          </a:p>
          <a:p>
            <a:pPr>
              <a:buNone/>
            </a:pPr>
            <a:r>
              <a:rPr lang="en-US" sz="2400" b="1" dirty="0" smtClean="0"/>
              <a:t>	      = $100(1.05) ³¯¹ + $100(1.05)²¯¹ + $100(1.05)¹¯¹</a:t>
            </a:r>
          </a:p>
          <a:p>
            <a:pPr>
              <a:buNone/>
            </a:pPr>
            <a:r>
              <a:rPr lang="en-US" sz="2400" b="1" dirty="0" smtClean="0"/>
              <a:t>	      = $100(1.05) ² + $100(1.05)¹ + $100(1.05)⁰</a:t>
            </a:r>
          </a:p>
          <a:p>
            <a:pPr>
              <a:buNone/>
            </a:pPr>
            <a:r>
              <a:rPr lang="en-US" sz="2400" b="1" dirty="0" smtClean="0"/>
              <a:t>	      = $315.25</a:t>
            </a:r>
            <a:endParaRPr lang="en-MY" sz="2400" b="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692696"/>
            <a:ext cx="8784976" cy="5433467"/>
          </a:xfrm>
        </p:spPr>
        <p:txBody>
          <a:bodyPr/>
          <a:lstStyle/>
          <a:p>
            <a:pPr>
              <a:buNone/>
            </a:pPr>
            <a:r>
              <a:rPr lang="en-US" sz="2800" dirty="0" smtClean="0"/>
              <a:t>We can generalize and streamline the equation as follows:</a:t>
            </a:r>
          </a:p>
          <a:p>
            <a:pPr>
              <a:buNone/>
            </a:pPr>
            <a:endParaRPr lang="en-US" sz="2800" dirty="0" smtClean="0"/>
          </a:p>
          <a:p>
            <a:pPr>
              <a:buNone/>
            </a:pPr>
            <a:r>
              <a:rPr lang="en-US" sz="2400" b="1" dirty="0" smtClean="0"/>
              <a:t>FVA</a:t>
            </a:r>
            <a:r>
              <a:rPr lang="en-US" sz="1800" b="1" dirty="0" smtClean="0"/>
              <a:t>N</a:t>
            </a:r>
            <a:r>
              <a:rPr lang="en-US" sz="2400" b="1" dirty="0" smtClean="0"/>
              <a:t>  = PMT (1+I)ᶰ¯¹ + PMT (1+I)ᶰ¯² + PMT (1+I)ᶰ¯³+…+PMT(1+I)⁰</a:t>
            </a:r>
          </a:p>
          <a:p>
            <a:pPr>
              <a:buNone/>
            </a:pPr>
            <a:endParaRPr lang="en-US" sz="2400" b="1" dirty="0" smtClean="0"/>
          </a:p>
          <a:p>
            <a:pPr>
              <a:buNone/>
            </a:pPr>
            <a:r>
              <a:rPr lang="en-US" sz="2400" b="1" dirty="0" smtClean="0"/>
              <a:t>FVA</a:t>
            </a:r>
            <a:r>
              <a:rPr lang="en-US" sz="1800" b="1" dirty="0" smtClean="0"/>
              <a:t>N</a:t>
            </a:r>
            <a:r>
              <a:rPr lang="en-US" sz="2400" b="1" dirty="0" smtClean="0"/>
              <a:t>  = PMT    (1+I)ᶰ - 1</a:t>
            </a:r>
            <a:endParaRPr lang="en-US" sz="2400" dirty="0" smtClean="0"/>
          </a:p>
          <a:p>
            <a:pPr>
              <a:buNone/>
            </a:pPr>
            <a:endParaRPr lang="en-MY" dirty="0"/>
          </a:p>
        </p:txBody>
      </p:sp>
      <p:cxnSp>
        <p:nvCxnSpPr>
          <p:cNvPr id="5" name="Straight Connector 4"/>
          <p:cNvCxnSpPr/>
          <p:nvPr/>
        </p:nvCxnSpPr>
        <p:spPr>
          <a:xfrm>
            <a:off x="1907704" y="2492896"/>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907704" y="2492896"/>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907704" y="3284984"/>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419872" y="2492896"/>
            <a:ext cx="0" cy="79208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203848" y="2492896"/>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203848" y="3284984"/>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123728" y="2996952"/>
            <a:ext cx="11521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555776" y="2924944"/>
            <a:ext cx="432048" cy="461665"/>
          </a:xfrm>
          <a:prstGeom prst="rect">
            <a:avLst/>
          </a:prstGeom>
          <a:noFill/>
        </p:spPr>
        <p:txBody>
          <a:bodyPr wrap="square" rtlCol="0">
            <a:spAutoFit/>
          </a:bodyPr>
          <a:lstStyle/>
          <a:p>
            <a:r>
              <a:rPr lang="en-US" sz="2400" b="1" dirty="0" smtClean="0"/>
              <a:t>I</a:t>
            </a:r>
            <a:endParaRPr lang="en-MY" sz="2400" b="1"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76672"/>
            <a:ext cx="8280920" cy="5649491"/>
          </a:xfrm>
        </p:spPr>
        <p:txBody>
          <a:bodyPr>
            <a:normAutofit lnSpcReduction="10000"/>
          </a:bodyPr>
          <a:lstStyle/>
          <a:p>
            <a:pPr algn="ctr">
              <a:buNone/>
            </a:pPr>
            <a:r>
              <a:rPr lang="en-US" sz="2400" b="1" u="sng" dirty="0" smtClean="0"/>
              <a:t>Question:</a:t>
            </a:r>
          </a:p>
          <a:p>
            <a:pPr>
              <a:buNone/>
            </a:pPr>
            <a:r>
              <a:rPr lang="en-US" sz="2400" dirty="0" smtClean="0"/>
              <a:t>	Your grand father urged you to begin a habit of saving money early in your life. He suggested that you put $5 a day into an envelope. </a:t>
            </a:r>
          </a:p>
          <a:p>
            <a:pPr>
              <a:buNone/>
            </a:pPr>
            <a:r>
              <a:rPr lang="en-US" sz="2400" dirty="0" smtClean="0"/>
              <a:t>	If you follow his advice, at the end of the year you will have $$1,825 (365 x $5). </a:t>
            </a:r>
          </a:p>
          <a:p>
            <a:pPr>
              <a:buNone/>
            </a:pPr>
            <a:r>
              <a:rPr lang="en-US" sz="2400" dirty="0" smtClean="0"/>
              <a:t>	</a:t>
            </a:r>
          </a:p>
          <a:p>
            <a:pPr>
              <a:buNone/>
            </a:pPr>
            <a:r>
              <a:rPr lang="en-US" sz="2400" dirty="0" smtClean="0"/>
              <a:t>	He further suggested that you take that money at the end of the year and invest it in an online brokerage mutual fund account that has an annual expected return of 8%.</a:t>
            </a:r>
          </a:p>
          <a:p>
            <a:pPr>
              <a:buNone/>
            </a:pPr>
            <a:r>
              <a:rPr lang="en-US" sz="2400" dirty="0" smtClean="0"/>
              <a:t>	</a:t>
            </a:r>
          </a:p>
          <a:p>
            <a:pPr>
              <a:buNone/>
            </a:pPr>
            <a:r>
              <a:rPr lang="en-US" sz="2400" dirty="0" smtClean="0"/>
              <a:t>	Today you are 18 years old. If you start following your grandfather’s advice today and continue saving in this way the rest of your life, how much do you expect to have in the brokerage account when you are 65 years old?</a:t>
            </a:r>
            <a:endParaRPr lang="en-MY"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229600" cy="562074"/>
          </a:xfrm>
        </p:spPr>
        <p:txBody>
          <a:bodyPr>
            <a:noAutofit/>
          </a:bodyPr>
          <a:lstStyle/>
          <a:p>
            <a:r>
              <a:rPr lang="en-US" sz="3200" dirty="0" smtClean="0"/>
              <a:t>Self-Test Question</a:t>
            </a:r>
            <a:endParaRPr lang="en-MY" sz="3200" dirty="0"/>
          </a:p>
        </p:txBody>
      </p:sp>
      <p:sp>
        <p:nvSpPr>
          <p:cNvPr id="3" name="Content Placeholder 2"/>
          <p:cNvSpPr>
            <a:spLocks noGrp="1"/>
          </p:cNvSpPr>
          <p:nvPr>
            <p:ph idx="1"/>
          </p:nvPr>
        </p:nvSpPr>
        <p:spPr>
          <a:xfrm>
            <a:off x="457200" y="1052736"/>
            <a:ext cx="8229600" cy="5073427"/>
          </a:xfrm>
        </p:spPr>
        <p:txBody>
          <a:bodyPr>
            <a:normAutofit/>
          </a:bodyPr>
          <a:lstStyle/>
          <a:p>
            <a:pPr marL="457200" indent="-457200">
              <a:buAutoNum type="arabicPeriod"/>
            </a:pPr>
            <a:r>
              <a:rPr lang="en-US" sz="2400" dirty="0" smtClean="0"/>
              <a:t>For an ordinary annuity with five annual payments of $100 and a 10% interest rate, how many years  will the first payment earn interest? What will this payment value be at the end? Answer this same question for the fifth payment.</a:t>
            </a:r>
          </a:p>
          <a:p>
            <a:pPr marL="457200" indent="-457200">
              <a:buNone/>
            </a:pPr>
            <a:r>
              <a:rPr lang="en-US" sz="2400" dirty="0" smtClean="0"/>
              <a:t>	</a:t>
            </a:r>
            <a:r>
              <a:rPr lang="en-US" sz="1800" b="1" dirty="0" smtClean="0"/>
              <a:t>(4 years, $146.41;  0 years, $100)</a:t>
            </a:r>
          </a:p>
          <a:p>
            <a:pPr marL="457200" indent="-457200">
              <a:buNone/>
            </a:pPr>
            <a:endParaRPr lang="en-US" sz="1800" b="1" dirty="0" smtClean="0"/>
          </a:p>
          <a:p>
            <a:pPr marL="457200" indent="-457200">
              <a:buAutoNum type="arabicPeriod" startAt="2"/>
            </a:pPr>
            <a:r>
              <a:rPr lang="en-US" sz="2400" dirty="0" smtClean="0"/>
              <a:t>Assume that you plan to buy a condo 5years from now, and you estimate that you can save $2,500 per year. You plan to deposit the money in a bank that pays 4% interest, and you will make the first deposit at the end of the year. How much will you have after 5 years? How will your answer change if the interest rate is increased to 6% or lowered to 3%?</a:t>
            </a:r>
          </a:p>
          <a:p>
            <a:pPr marL="457200" indent="-457200">
              <a:buNone/>
            </a:pPr>
            <a:r>
              <a:rPr lang="en-US" sz="1800" b="1" dirty="0" smtClean="0"/>
              <a:t>	($13,540.81;  $14,092.73;  $13,272.84)</a:t>
            </a:r>
            <a:endParaRPr lang="en-MY" sz="1800" b="1" dirty="0" smtClean="0"/>
          </a:p>
          <a:p>
            <a:pPr marL="457200" indent="-457200">
              <a:buNone/>
            </a:pPr>
            <a:endParaRPr lang="en-US" sz="1800" b="1" dirty="0" smtClean="0"/>
          </a:p>
          <a:p>
            <a:pPr marL="457200" indent="-457200">
              <a:buNone/>
            </a:pPr>
            <a:endParaRPr lang="en-US" sz="1800" b="1"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a:solidFill>
            <a:srgbClr val="FFFF00"/>
          </a:solidFill>
        </p:spPr>
        <p:txBody>
          <a:bodyPr>
            <a:normAutofit fontScale="90000"/>
          </a:bodyPr>
          <a:lstStyle/>
          <a:p>
            <a:r>
              <a:rPr lang="en-US" sz="2400" dirty="0" smtClean="0"/>
              <a:t>Answer (Self-test) for Question 1:</a:t>
            </a:r>
            <a:endParaRPr lang="en-MY" sz="2400" dirty="0"/>
          </a:p>
        </p:txBody>
      </p:sp>
      <p:sp>
        <p:nvSpPr>
          <p:cNvPr id="3" name="Content Placeholder 2"/>
          <p:cNvSpPr>
            <a:spLocks noGrp="1"/>
          </p:cNvSpPr>
          <p:nvPr>
            <p:ph idx="1"/>
          </p:nvPr>
        </p:nvSpPr>
        <p:spPr>
          <a:xfrm>
            <a:off x="467544" y="980728"/>
            <a:ext cx="8229600" cy="5433467"/>
          </a:xfrm>
          <a:ln>
            <a:solidFill>
              <a:srgbClr val="0070C0"/>
            </a:solidFill>
          </a:ln>
        </p:spPr>
        <p:txBody>
          <a:bodyPr>
            <a:normAutofit lnSpcReduction="10000"/>
          </a:bodyPr>
          <a:lstStyle/>
          <a:p>
            <a:r>
              <a:rPr lang="en-US" sz="2000" dirty="0" smtClean="0"/>
              <a:t>For an ordinary annuity with five annual payments of $100 and a 10% interest rate, how many years  will the first payment earn interest? What will this payment value be at the end? Answer this same question for the fifth payment.</a:t>
            </a:r>
          </a:p>
          <a:p>
            <a:pPr>
              <a:buNone/>
            </a:pPr>
            <a:endParaRPr lang="en-US" sz="2000" dirty="0" smtClean="0"/>
          </a:p>
          <a:p>
            <a:pPr>
              <a:buNone/>
            </a:pPr>
            <a:r>
              <a:rPr lang="en-US" sz="2000" dirty="0" smtClean="0">
                <a:solidFill>
                  <a:srgbClr val="0070C0"/>
                </a:solidFill>
              </a:rPr>
              <a:t>			Given:   PMT=$100,   N=5 yrs,    </a:t>
            </a:r>
          </a:p>
          <a:p>
            <a:pPr>
              <a:buNone/>
            </a:pPr>
            <a:r>
              <a:rPr lang="en-US" sz="2000" dirty="0" smtClean="0">
                <a:solidFill>
                  <a:srgbClr val="0070C0"/>
                </a:solidFill>
              </a:rPr>
              <a:t>a) 	   How many years will the first payment earn interest?</a:t>
            </a:r>
          </a:p>
          <a:p>
            <a:pPr>
              <a:buNone/>
            </a:pPr>
            <a:r>
              <a:rPr lang="en-US" sz="2000" dirty="0" smtClean="0">
                <a:solidFill>
                  <a:srgbClr val="0070C0"/>
                </a:solidFill>
              </a:rPr>
              <a:t>		i)   Interest earned on payment	= 10% x PMT</a:t>
            </a:r>
          </a:p>
          <a:p>
            <a:pPr>
              <a:buNone/>
            </a:pPr>
            <a:r>
              <a:rPr lang="en-US" sz="2000" dirty="0" smtClean="0">
                <a:solidFill>
                  <a:srgbClr val="0070C0"/>
                </a:solidFill>
              </a:rPr>
              <a:t>				     		= 0.1 x $100</a:t>
            </a:r>
          </a:p>
          <a:p>
            <a:pPr>
              <a:buNone/>
            </a:pPr>
            <a:r>
              <a:rPr lang="en-US" sz="2000" dirty="0" smtClean="0">
                <a:solidFill>
                  <a:srgbClr val="0070C0"/>
                </a:solidFill>
              </a:rPr>
              <a:t>                                                      		</a:t>
            </a:r>
            <a:r>
              <a:rPr lang="en-US" sz="2000" b="1" dirty="0" smtClean="0">
                <a:solidFill>
                  <a:srgbClr val="0070C0"/>
                </a:solidFill>
              </a:rPr>
              <a:t>= $10.00</a:t>
            </a:r>
          </a:p>
          <a:p>
            <a:pPr>
              <a:buNone/>
            </a:pPr>
            <a:endParaRPr lang="en-US" sz="2000" b="1" dirty="0" smtClean="0">
              <a:solidFill>
                <a:srgbClr val="0070C0"/>
              </a:solidFill>
            </a:endParaRPr>
          </a:p>
          <a:p>
            <a:pPr>
              <a:buNone/>
            </a:pPr>
            <a:r>
              <a:rPr lang="en-US" sz="2000" dirty="0" smtClean="0">
                <a:solidFill>
                  <a:srgbClr val="0070C0"/>
                </a:solidFill>
              </a:rPr>
              <a:t>		       Total monthly payment	= PMT + Interest 	</a:t>
            </a:r>
          </a:p>
          <a:p>
            <a:pPr>
              <a:buNone/>
            </a:pPr>
            <a:r>
              <a:rPr lang="en-US" sz="2000" dirty="0" smtClean="0">
                <a:solidFill>
                  <a:srgbClr val="0070C0"/>
                </a:solidFill>
              </a:rPr>
              <a:t>						= $100.00 + $10.00 </a:t>
            </a:r>
          </a:p>
          <a:p>
            <a:pPr>
              <a:buNone/>
            </a:pPr>
            <a:r>
              <a:rPr lang="en-US" sz="2000" dirty="0" smtClean="0">
                <a:solidFill>
                  <a:srgbClr val="0070C0"/>
                </a:solidFill>
              </a:rPr>
              <a:t>				          		</a:t>
            </a:r>
            <a:r>
              <a:rPr lang="en-US" sz="2000" b="1" dirty="0" smtClean="0">
                <a:solidFill>
                  <a:srgbClr val="0070C0"/>
                </a:solidFill>
              </a:rPr>
              <a:t>= $110.00</a:t>
            </a:r>
          </a:p>
          <a:p>
            <a:pPr>
              <a:buNone/>
            </a:pPr>
            <a:endParaRPr lang="en-US" sz="2000" b="1" dirty="0" smtClean="0">
              <a:solidFill>
                <a:srgbClr val="0070C0"/>
              </a:solidFill>
            </a:endParaRPr>
          </a:p>
          <a:p>
            <a:pPr>
              <a:buNone/>
            </a:pPr>
            <a:r>
              <a:rPr lang="en-US" sz="2000" b="1" dirty="0" smtClean="0">
                <a:solidFill>
                  <a:srgbClr val="0070C0"/>
                </a:solidFill>
              </a:rPr>
              <a:t>		       Therefore, the 1</a:t>
            </a:r>
            <a:r>
              <a:rPr lang="en-US" sz="2000" b="1" baseline="30000" dirty="0" smtClean="0">
                <a:solidFill>
                  <a:srgbClr val="0070C0"/>
                </a:solidFill>
              </a:rPr>
              <a:t>st</a:t>
            </a:r>
            <a:r>
              <a:rPr lang="en-US" sz="2000" b="1" dirty="0" smtClean="0">
                <a:solidFill>
                  <a:srgbClr val="0070C0"/>
                </a:solidFill>
              </a:rPr>
              <a:t> interest payment should be $110.</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36713"/>
            <a:ext cx="8229600" cy="2592288"/>
          </a:xfrm>
          <a:ln>
            <a:solidFill>
              <a:srgbClr val="0070C0"/>
            </a:solidFill>
          </a:ln>
        </p:spPr>
        <p:txBody>
          <a:bodyPr>
            <a:normAutofit/>
          </a:bodyPr>
          <a:lstStyle/>
          <a:p>
            <a:pPr marL="457200" indent="-457200">
              <a:buAutoNum type="alphaLcParenR" startAt="2"/>
            </a:pPr>
            <a:r>
              <a:rPr lang="en-US" sz="2000" dirty="0" smtClean="0"/>
              <a:t>What will this payment value be at the end?</a:t>
            </a:r>
          </a:p>
          <a:p>
            <a:pPr marL="457200" indent="-457200">
              <a:buNone/>
            </a:pPr>
            <a:r>
              <a:rPr lang="en-US" sz="2000" dirty="0" smtClean="0">
                <a:solidFill>
                  <a:srgbClr val="0070C0"/>
                </a:solidFill>
              </a:rPr>
              <a:t>	</a:t>
            </a:r>
            <a:r>
              <a:rPr lang="en-US" sz="2000" b="1" dirty="0" smtClean="0">
                <a:solidFill>
                  <a:srgbClr val="0070C0"/>
                </a:solidFill>
              </a:rPr>
              <a:t>The payment value towards the end is $146.41</a:t>
            </a:r>
          </a:p>
          <a:p>
            <a:pPr marL="457200" indent="-457200">
              <a:buNone/>
            </a:pPr>
            <a:endParaRPr lang="en-US" sz="2000" b="1" dirty="0" smtClean="0"/>
          </a:p>
          <a:p>
            <a:pPr marL="457200" indent="-457200">
              <a:buAutoNum type="alphaLcParenR" startAt="3"/>
            </a:pPr>
            <a:r>
              <a:rPr lang="en-US" sz="2000" dirty="0" smtClean="0"/>
              <a:t>Answer this same question for the fifth payment</a:t>
            </a:r>
            <a:r>
              <a:rPr lang="en-US" sz="2000" dirty="0" smtClean="0">
                <a:solidFill>
                  <a:srgbClr val="0070C0"/>
                </a:solidFill>
              </a:rPr>
              <a:t>.</a:t>
            </a:r>
          </a:p>
          <a:p>
            <a:pPr marL="457200" indent="-457200">
              <a:buNone/>
            </a:pPr>
            <a:r>
              <a:rPr lang="en-US" sz="2000" b="1" dirty="0" smtClean="0">
                <a:solidFill>
                  <a:srgbClr val="0070C0"/>
                </a:solidFill>
              </a:rPr>
              <a:t>	The payment value for the 5</a:t>
            </a:r>
            <a:r>
              <a:rPr lang="en-US" sz="2000" b="1" baseline="30000" dirty="0" smtClean="0">
                <a:solidFill>
                  <a:srgbClr val="0070C0"/>
                </a:solidFill>
              </a:rPr>
              <a:t>th</a:t>
            </a:r>
            <a:r>
              <a:rPr lang="en-US" sz="2000" b="1" dirty="0" smtClean="0">
                <a:solidFill>
                  <a:srgbClr val="0070C0"/>
                </a:solidFill>
              </a:rPr>
              <a:t> payment is $100.00</a:t>
            </a:r>
            <a:endParaRPr lang="en-MY" sz="2000" dirty="0">
              <a:solidFill>
                <a:srgbClr val="0070C0"/>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988840"/>
            <a:ext cx="8640960" cy="4536504"/>
          </a:xfrm>
        </p:spPr>
        <p:txBody>
          <a:bodyPr>
            <a:normAutofit/>
          </a:bodyPr>
          <a:lstStyle/>
          <a:p>
            <a:pPr>
              <a:buNone/>
            </a:pPr>
            <a:r>
              <a:rPr lang="en-US" sz="2400" dirty="0" smtClean="0"/>
              <a:t>	</a:t>
            </a:r>
            <a:endParaRPr lang="en-US" sz="2800" dirty="0" smtClean="0"/>
          </a:p>
        </p:txBody>
      </p:sp>
      <p:cxnSp>
        <p:nvCxnSpPr>
          <p:cNvPr id="5" name="Straight Connector 4"/>
          <p:cNvCxnSpPr/>
          <p:nvPr/>
        </p:nvCxnSpPr>
        <p:spPr>
          <a:xfrm>
            <a:off x="4211960" y="2636912"/>
            <a:ext cx="44644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676456" y="2492896"/>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812360" y="2492896"/>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012160" y="2492896"/>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076056" y="2492896"/>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11960" y="2492896"/>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76256" y="2492896"/>
            <a:ext cx="0" cy="36004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67944" y="1988840"/>
            <a:ext cx="4752528" cy="369332"/>
          </a:xfrm>
          <a:prstGeom prst="rect">
            <a:avLst/>
          </a:prstGeom>
          <a:noFill/>
        </p:spPr>
        <p:txBody>
          <a:bodyPr wrap="square" rtlCol="0">
            <a:spAutoFit/>
          </a:bodyPr>
          <a:lstStyle/>
          <a:p>
            <a:r>
              <a:rPr lang="en-US" dirty="0" smtClean="0"/>
              <a:t>0            1                2              3                4              5</a:t>
            </a:r>
            <a:endParaRPr lang="en-MY" dirty="0"/>
          </a:p>
        </p:txBody>
      </p:sp>
      <p:sp>
        <p:nvSpPr>
          <p:cNvPr id="15" name="TextBox 14"/>
          <p:cNvSpPr txBox="1"/>
          <p:nvPr/>
        </p:nvSpPr>
        <p:spPr>
          <a:xfrm>
            <a:off x="4355976" y="2276872"/>
            <a:ext cx="576064" cy="338554"/>
          </a:xfrm>
          <a:prstGeom prst="rect">
            <a:avLst/>
          </a:prstGeom>
          <a:noFill/>
        </p:spPr>
        <p:txBody>
          <a:bodyPr wrap="square" rtlCol="0">
            <a:spAutoFit/>
          </a:bodyPr>
          <a:lstStyle/>
          <a:p>
            <a:r>
              <a:rPr lang="en-US" sz="1600" dirty="0" smtClean="0"/>
              <a:t>10%</a:t>
            </a:r>
            <a:endParaRPr lang="en-MY" sz="1600" dirty="0"/>
          </a:p>
        </p:txBody>
      </p:sp>
      <p:sp>
        <p:nvSpPr>
          <p:cNvPr id="16" name="TextBox 15"/>
          <p:cNvSpPr txBox="1"/>
          <p:nvPr/>
        </p:nvSpPr>
        <p:spPr>
          <a:xfrm>
            <a:off x="4644008" y="2852936"/>
            <a:ext cx="4499992" cy="307777"/>
          </a:xfrm>
          <a:prstGeom prst="rect">
            <a:avLst/>
          </a:prstGeom>
          <a:noFill/>
        </p:spPr>
        <p:txBody>
          <a:bodyPr wrap="square" rtlCol="0">
            <a:spAutoFit/>
          </a:bodyPr>
          <a:lstStyle/>
          <a:p>
            <a:r>
              <a:rPr lang="en-US" sz="1400" dirty="0" smtClean="0"/>
              <a:t>  -$100             -$100            -$100             -$100           -$100</a:t>
            </a:r>
            <a:endParaRPr lang="en-MY" sz="1400" dirty="0"/>
          </a:p>
        </p:txBody>
      </p:sp>
      <p:sp>
        <p:nvSpPr>
          <p:cNvPr id="17" name="TextBox 16"/>
          <p:cNvSpPr txBox="1"/>
          <p:nvPr/>
        </p:nvSpPr>
        <p:spPr>
          <a:xfrm>
            <a:off x="3059832" y="1988840"/>
            <a:ext cx="1080120" cy="1077218"/>
          </a:xfrm>
          <a:prstGeom prst="rect">
            <a:avLst/>
          </a:prstGeom>
          <a:noFill/>
        </p:spPr>
        <p:txBody>
          <a:bodyPr wrap="square" rtlCol="0">
            <a:spAutoFit/>
          </a:bodyPr>
          <a:lstStyle/>
          <a:p>
            <a:r>
              <a:rPr lang="en-US" sz="1600" dirty="0" smtClean="0"/>
              <a:t>Periods</a:t>
            </a:r>
          </a:p>
          <a:p>
            <a:endParaRPr lang="en-US" sz="1600" dirty="0" smtClean="0"/>
          </a:p>
          <a:p>
            <a:endParaRPr lang="en-US" sz="1600" dirty="0" smtClean="0"/>
          </a:p>
          <a:p>
            <a:r>
              <a:rPr lang="en-US" sz="1600" dirty="0" smtClean="0"/>
              <a:t>Payments</a:t>
            </a:r>
            <a:endParaRPr lang="en-MY" sz="1600" dirty="0"/>
          </a:p>
        </p:txBody>
      </p:sp>
      <p:sp>
        <p:nvSpPr>
          <p:cNvPr id="18" name="TextBox 17"/>
          <p:cNvSpPr txBox="1"/>
          <p:nvPr/>
        </p:nvSpPr>
        <p:spPr>
          <a:xfrm>
            <a:off x="251520" y="3356992"/>
            <a:ext cx="8892480" cy="2862322"/>
          </a:xfrm>
          <a:prstGeom prst="rect">
            <a:avLst/>
          </a:prstGeom>
          <a:noFill/>
        </p:spPr>
        <p:txBody>
          <a:bodyPr wrap="square" rtlCol="0">
            <a:spAutoFit/>
          </a:bodyPr>
          <a:lstStyle/>
          <a:p>
            <a:r>
              <a:rPr lang="en-US" dirty="0" smtClean="0">
                <a:solidFill>
                  <a:srgbClr val="FF0000"/>
                </a:solidFill>
              </a:rPr>
              <a:t>FVA</a:t>
            </a:r>
            <a:r>
              <a:rPr lang="en-US" sz="1200" dirty="0" smtClean="0">
                <a:solidFill>
                  <a:srgbClr val="FF0000"/>
                </a:solidFill>
              </a:rPr>
              <a:t>1</a:t>
            </a:r>
            <a:r>
              <a:rPr lang="en-US" dirty="0" smtClean="0">
                <a:solidFill>
                  <a:srgbClr val="FF0000"/>
                </a:solidFill>
              </a:rPr>
              <a:t>=PMT(1+I)ᶰ¯¹ = $100 (1.1)⁵¯¹=$100(1.1)⁴ </a:t>
            </a:r>
            <a:r>
              <a:rPr lang="en-US" dirty="0" smtClean="0">
                <a:solidFill>
                  <a:srgbClr val="FF0000"/>
                </a:solidFill>
                <a:sym typeface="Wingdings" pitchFamily="2" charset="2"/>
              </a:rPr>
              <a:t></a:t>
            </a:r>
            <a:r>
              <a:rPr lang="en-US" dirty="0" smtClean="0">
                <a:solidFill>
                  <a:srgbClr val="FF0000"/>
                </a:solidFill>
              </a:rPr>
              <a:t> </a:t>
            </a:r>
            <a:r>
              <a:rPr lang="en-US" b="1" dirty="0" smtClean="0"/>
              <a:t>$146.41</a:t>
            </a:r>
          </a:p>
          <a:p>
            <a:r>
              <a:rPr lang="en-US" dirty="0" smtClean="0">
                <a:solidFill>
                  <a:srgbClr val="FF0000"/>
                </a:solidFill>
              </a:rPr>
              <a:t>FVA</a:t>
            </a:r>
            <a:r>
              <a:rPr lang="en-US" sz="1400" dirty="0" smtClean="0">
                <a:solidFill>
                  <a:srgbClr val="FF0000"/>
                </a:solidFill>
              </a:rPr>
              <a:t>2</a:t>
            </a:r>
            <a:r>
              <a:rPr lang="en-US" dirty="0" smtClean="0">
                <a:solidFill>
                  <a:srgbClr val="FF0000"/>
                </a:solidFill>
              </a:rPr>
              <a:t>=PMT(1+I)ᶰ¯² = $100 (1.1)⁵¯²=$100(1.1)³ =======</a:t>
            </a:r>
            <a:r>
              <a:rPr lang="en-US" dirty="0" smtClean="0">
                <a:solidFill>
                  <a:srgbClr val="FF0000"/>
                </a:solidFill>
                <a:sym typeface="Wingdings" pitchFamily="2" charset="2"/>
              </a:rPr>
              <a:t></a:t>
            </a:r>
            <a:r>
              <a:rPr lang="en-US" dirty="0" smtClean="0">
                <a:solidFill>
                  <a:srgbClr val="FF0000"/>
                </a:solidFill>
              </a:rPr>
              <a:t> </a:t>
            </a:r>
            <a:r>
              <a:rPr lang="en-US" b="1" dirty="0" smtClean="0"/>
              <a:t>$133.10</a:t>
            </a:r>
          </a:p>
          <a:p>
            <a:r>
              <a:rPr lang="en-US" dirty="0" smtClean="0">
                <a:solidFill>
                  <a:srgbClr val="FF0000"/>
                </a:solidFill>
              </a:rPr>
              <a:t>FVA3=PMT(1+I)ᶰ¯³ = $100 (1.1)⁵¯³=$100(1.1)² ==============</a:t>
            </a:r>
            <a:r>
              <a:rPr lang="en-US" dirty="0" smtClean="0">
                <a:solidFill>
                  <a:srgbClr val="FF0000"/>
                </a:solidFill>
                <a:sym typeface="Wingdings" pitchFamily="2" charset="2"/>
              </a:rPr>
              <a:t></a:t>
            </a:r>
            <a:r>
              <a:rPr lang="en-US" dirty="0" smtClean="0">
                <a:solidFill>
                  <a:srgbClr val="FF0000"/>
                </a:solidFill>
              </a:rPr>
              <a:t> </a:t>
            </a:r>
            <a:r>
              <a:rPr lang="en-US" b="1" dirty="0" smtClean="0"/>
              <a:t>$121.00</a:t>
            </a:r>
          </a:p>
          <a:p>
            <a:r>
              <a:rPr lang="en-US" dirty="0" smtClean="0">
                <a:solidFill>
                  <a:srgbClr val="FF0000"/>
                </a:solidFill>
              </a:rPr>
              <a:t>FVA4=PMT(1+I)ᶰ¯⁴ = $100 (1.1)⁵¯²=$100(1.1)¹ ===	===================</a:t>
            </a:r>
            <a:r>
              <a:rPr lang="en-US" dirty="0" smtClean="0">
                <a:solidFill>
                  <a:srgbClr val="FF0000"/>
                </a:solidFill>
                <a:sym typeface="Wingdings" pitchFamily="2" charset="2"/>
              </a:rPr>
              <a:t></a:t>
            </a:r>
            <a:r>
              <a:rPr lang="en-US" dirty="0" smtClean="0">
                <a:solidFill>
                  <a:srgbClr val="FF0000"/>
                </a:solidFill>
              </a:rPr>
              <a:t> </a:t>
            </a:r>
            <a:r>
              <a:rPr lang="en-US" b="1" dirty="0" smtClean="0"/>
              <a:t>$110.00</a:t>
            </a:r>
          </a:p>
          <a:p>
            <a:r>
              <a:rPr lang="en-US" dirty="0" smtClean="0">
                <a:solidFill>
                  <a:srgbClr val="FF0000"/>
                </a:solidFill>
              </a:rPr>
              <a:t>FVA5=PMT(1+I)ᶰ¯⁵ = $100 (1.1)⁵¯⁵=$100(1.1)⁰ = ============================</a:t>
            </a:r>
            <a:r>
              <a:rPr lang="en-US" dirty="0" smtClean="0">
                <a:solidFill>
                  <a:srgbClr val="FF0000"/>
                </a:solidFill>
                <a:sym typeface="Wingdings" pitchFamily="2" charset="2"/>
              </a:rPr>
              <a:t></a:t>
            </a:r>
            <a:r>
              <a:rPr lang="en-US" b="1" dirty="0" smtClean="0"/>
              <a:t>$100.00</a:t>
            </a:r>
          </a:p>
          <a:p>
            <a:r>
              <a:rPr lang="en-US" b="1" dirty="0" smtClean="0"/>
              <a:t>				---------------------------------------------------------------------</a:t>
            </a:r>
          </a:p>
          <a:p>
            <a:r>
              <a:rPr lang="en-US" b="1" dirty="0" smtClean="0"/>
              <a:t>The Future Value of the Annuity 	  = $146.41+ $133.10 + $121.00 + $110.00+ $100.00</a:t>
            </a:r>
          </a:p>
          <a:p>
            <a:r>
              <a:rPr lang="en-US" b="1" dirty="0" smtClean="0"/>
              <a:t>				  = $610.51</a:t>
            </a:r>
          </a:p>
          <a:p>
            <a:r>
              <a:rPr lang="en-US" b="1" dirty="0" smtClean="0"/>
              <a:t>				==========================================</a:t>
            </a:r>
          </a:p>
          <a:p>
            <a:endParaRPr lang="en-US" b="1" dirty="0" smtClean="0"/>
          </a:p>
        </p:txBody>
      </p:sp>
      <p:sp>
        <p:nvSpPr>
          <p:cNvPr id="20" name="TextBox 19"/>
          <p:cNvSpPr txBox="1"/>
          <p:nvPr/>
        </p:nvSpPr>
        <p:spPr>
          <a:xfrm>
            <a:off x="251520" y="2348880"/>
            <a:ext cx="2664296" cy="400110"/>
          </a:xfrm>
          <a:prstGeom prst="rect">
            <a:avLst/>
          </a:prstGeom>
          <a:noFill/>
          <a:ln w="57150">
            <a:solidFill>
              <a:srgbClr val="FF6600"/>
            </a:solidFill>
          </a:ln>
        </p:spPr>
        <p:txBody>
          <a:bodyPr wrap="square" rtlCol="0">
            <a:spAutoFit/>
          </a:bodyPr>
          <a:lstStyle/>
          <a:p>
            <a:pPr algn="ctr"/>
            <a:r>
              <a:rPr lang="en-US" sz="2000" b="1" dirty="0" smtClean="0"/>
              <a:t>FVA</a:t>
            </a:r>
            <a:r>
              <a:rPr lang="en-US" sz="1400" b="1" dirty="0" smtClean="0"/>
              <a:t>T</a:t>
            </a:r>
            <a:r>
              <a:rPr lang="en-US" sz="2000" b="1" dirty="0" smtClean="0"/>
              <a:t> = PMT (1+ I)ᶰ¯ᵀ</a:t>
            </a:r>
            <a:endParaRPr lang="en-MY" sz="2000" b="1" dirty="0"/>
          </a:p>
        </p:txBody>
      </p:sp>
      <p:cxnSp>
        <p:nvCxnSpPr>
          <p:cNvPr id="27" name="Straight Arrow Connector 26"/>
          <p:cNvCxnSpPr/>
          <p:nvPr/>
        </p:nvCxnSpPr>
        <p:spPr>
          <a:xfrm>
            <a:off x="1043608" y="2780928"/>
            <a:ext cx="0" cy="57606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076056" y="3140968"/>
            <a:ext cx="0" cy="360040"/>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012160" y="3140968"/>
            <a:ext cx="0" cy="576064"/>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6876256" y="3140968"/>
            <a:ext cx="0" cy="864096"/>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7812360" y="3140968"/>
            <a:ext cx="0" cy="1152128"/>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8676456" y="3140968"/>
            <a:ext cx="0" cy="144016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0" y="1"/>
            <a:ext cx="8892480" cy="2000548"/>
          </a:xfrm>
          <a:prstGeom prst="rect">
            <a:avLst/>
          </a:prstGeom>
          <a:noFill/>
        </p:spPr>
        <p:txBody>
          <a:bodyPr wrap="square" rtlCol="0">
            <a:spAutoFit/>
          </a:bodyPr>
          <a:lstStyle/>
          <a:p>
            <a:pPr marL="400050" indent="-400050"/>
            <a:r>
              <a:rPr lang="en-US" b="1" dirty="0" smtClean="0">
                <a:solidFill>
                  <a:srgbClr val="0070C0"/>
                </a:solidFill>
              </a:rPr>
              <a:t>	</a:t>
            </a:r>
            <a:r>
              <a:rPr lang="en-US" sz="2000" b="1" dirty="0" smtClean="0">
                <a:solidFill>
                  <a:srgbClr val="0070C0"/>
                </a:solidFill>
              </a:rPr>
              <a:t>The 1</a:t>
            </a:r>
            <a:r>
              <a:rPr lang="en-US" sz="2000" b="1" baseline="30000" dirty="0" smtClean="0">
                <a:solidFill>
                  <a:srgbClr val="0070C0"/>
                </a:solidFill>
              </a:rPr>
              <a:t>st</a:t>
            </a:r>
            <a:r>
              <a:rPr lang="en-US" sz="2000" b="1" dirty="0" smtClean="0">
                <a:solidFill>
                  <a:srgbClr val="0070C0"/>
                </a:solidFill>
              </a:rPr>
              <a:t> interest payment should be $110. </a:t>
            </a:r>
          </a:p>
          <a:p>
            <a:pPr marL="400050" indent="-400050"/>
            <a:r>
              <a:rPr lang="en-US" b="1" dirty="0" smtClean="0">
                <a:solidFill>
                  <a:srgbClr val="0070C0"/>
                </a:solidFill>
              </a:rPr>
              <a:t>	</a:t>
            </a:r>
            <a:r>
              <a:rPr lang="en-US" sz="1600" b="1" dirty="0" smtClean="0">
                <a:solidFill>
                  <a:srgbClr val="0070C0"/>
                </a:solidFill>
              </a:rPr>
              <a:t>(</a:t>
            </a:r>
            <a:r>
              <a:rPr lang="en-US" sz="1600" dirty="0" smtClean="0">
                <a:solidFill>
                  <a:srgbClr val="0070C0"/>
                </a:solidFill>
              </a:rPr>
              <a:t>We want to see which year payment will get the first interest. Therefore,  using  time line and application of step-by-step method to check on every Future Value Annuity for each year towards year 5</a:t>
            </a:r>
            <a:r>
              <a:rPr lang="en-US" sz="1600" baseline="30000" dirty="0" smtClean="0">
                <a:solidFill>
                  <a:srgbClr val="0070C0"/>
                </a:solidFill>
              </a:rPr>
              <a:t>th</a:t>
            </a:r>
            <a:r>
              <a:rPr lang="en-US" sz="1600" dirty="0" smtClean="0">
                <a:solidFill>
                  <a:srgbClr val="0070C0"/>
                </a:solidFill>
              </a:rPr>
              <a:t>.)</a:t>
            </a:r>
          </a:p>
          <a:p>
            <a:pPr marL="400050" indent="-400050"/>
            <a:endParaRPr lang="en-US" dirty="0" smtClean="0">
              <a:solidFill>
                <a:srgbClr val="0070C0"/>
              </a:solidFill>
            </a:endParaRPr>
          </a:p>
          <a:p>
            <a:pPr marL="400050" indent="-400050"/>
            <a:r>
              <a:rPr lang="en-US" dirty="0" smtClean="0">
                <a:solidFill>
                  <a:srgbClr val="0070C0"/>
                </a:solidFill>
              </a:rPr>
              <a:t>	</a:t>
            </a:r>
            <a:r>
              <a:rPr lang="en-US" b="1" dirty="0" smtClean="0">
                <a:solidFill>
                  <a:srgbClr val="0070C0"/>
                </a:solidFill>
              </a:rPr>
              <a:t>Therefore, here, the </a:t>
            </a:r>
            <a:r>
              <a:rPr lang="en-US" b="1" u="sng" dirty="0" smtClean="0">
                <a:solidFill>
                  <a:srgbClr val="0070C0"/>
                </a:solidFill>
              </a:rPr>
              <a:t>4</a:t>
            </a:r>
            <a:r>
              <a:rPr lang="en-US" b="1" u="sng" baseline="30000" dirty="0" smtClean="0">
                <a:solidFill>
                  <a:srgbClr val="0070C0"/>
                </a:solidFill>
              </a:rPr>
              <a:t>th</a:t>
            </a:r>
            <a:r>
              <a:rPr lang="en-US" b="1" u="sng" dirty="0" smtClean="0">
                <a:solidFill>
                  <a:srgbClr val="0070C0"/>
                </a:solidFill>
              </a:rPr>
              <a:t> year payment </a:t>
            </a:r>
            <a:r>
              <a:rPr lang="en-US" b="1" dirty="0" smtClean="0">
                <a:solidFill>
                  <a:srgbClr val="0070C0"/>
                </a:solidFill>
              </a:rPr>
              <a:t>will get the first interest payment (interest+PMT) of $110.</a:t>
            </a:r>
            <a:endParaRPr lang="en-US" dirty="0" smtClean="0">
              <a:solidFill>
                <a:srgbClr val="0070C0"/>
              </a:solidFill>
            </a:endParaRPr>
          </a:p>
        </p:txBody>
      </p:sp>
      <p:sp>
        <p:nvSpPr>
          <p:cNvPr id="26" name="Freeform 25"/>
          <p:cNvSpPr/>
          <p:nvPr/>
        </p:nvSpPr>
        <p:spPr>
          <a:xfrm>
            <a:off x="7375496" y="4177862"/>
            <a:ext cx="872928" cy="441435"/>
          </a:xfrm>
          <a:custGeom>
            <a:avLst/>
            <a:gdLst>
              <a:gd name="connsiteX0" fmla="*/ 791042 w 872928"/>
              <a:gd name="connsiteY0" fmla="*/ 94593 h 441435"/>
              <a:gd name="connsiteX1" fmla="*/ 743745 w 872928"/>
              <a:gd name="connsiteY1" fmla="*/ 63062 h 441435"/>
              <a:gd name="connsiteX2" fmla="*/ 696449 w 872928"/>
              <a:gd name="connsiteY2" fmla="*/ 47297 h 441435"/>
              <a:gd name="connsiteX3" fmla="*/ 381138 w 872928"/>
              <a:gd name="connsiteY3" fmla="*/ 31531 h 441435"/>
              <a:gd name="connsiteX4" fmla="*/ 270780 w 872928"/>
              <a:gd name="connsiteY4" fmla="*/ 15766 h 441435"/>
              <a:gd name="connsiteX5" fmla="*/ 223483 w 872928"/>
              <a:gd name="connsiteY5" fmla="*/ 0 h 441435"/>
              <a:gd name="connsiteX6" fmla="*/ 81594 w 872928"/>
              <a:gd name="connsiteY6" fmla="*/ 15766 h 441435"/>
              <a:gd name="connsiteX7" fmla="*/ 50063 w 872928"/>
              <a:gd name="connsiteY7" fmla="*/ 110359 h 441435"/>
              <a:gd name="connsiteX8" fmla="*/ 34297 w 872928"/>
              <a:gd name="connsiteY8" fmla="*/ 157655 h 441435"/>
              <a:gd name="connsiteX9" fmla="*/ 81594 w 872928"/>
              <a:gd name="connsiteY9" fmla="*/ 409904 h 441435"/>
              <a:gd name="connsiteX10" fmla="*/ 144656 w 872928"/>
              <a:gd name="connsiteY10" fmla="*/ 441435 h 441435"/>
              <a:gd name="connsiteX11" fmla="*/ 365373 w 872928"/>
              <a:gd name="connsiteY11" fmla="*/ 425669 h 441435"/>
              <a:gd name="connsiteX12" fmla="*/ 459966 w 872928"/>
              <a:gd name="connsiteY12" fmla="*/ 378372 h 441435"/>
              <a:gd name="connsiteX13" fmla="*/ 538794 w 872928"/>
              <a:gd name="connsiteY13" fmla="*/ 362607 h 441435"/>
              <a:gd name="connsiteX14" fmla="*/ 601856 w 872928"/>
              <a:gd name="connsiteY14" fmla="*/ 346841 h 441435"/>
              <a:gd name="connsiteX15" fmla="*/ 649152 w 872928"/>
              <a:gd name="connsiteY15" fmla="*/ 331076 h 441435"/>
              <a:gd name="connsiteX16" fmla="*/ 838338 w 872928"/>
              <a:gd name="connsiteY16" fmla="*/ 315310 h 441435"/>
              <a:gd name="connsiteX17" fmla="*/ 775276 w 872928"/>
              <a:gd name="connsiteY17" fmla="*/ 94593 h 441435"/>
              <a:gd name="connsiteX18" fmla="*/ 791042 w 872928"/>
              <a:gd name="connsiteY18" fmla="*/ 94593 h 44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2928" h="441435">
                <a:moveTo>
                  <a:pt x="791042" y="94593"/>
                </a:moveTo>
                <a:cubicBezTo>
                  <a:pt x="785787" y="89338"/>
                  <a:pt x="760693" y="71536"/>
                  <a:pt x="743745" y="63062"/>
                </a:cubicBezTo>
                <a:cubicBezTo>
                  <a:pt x="728881" y="55630"/>
                  <a:pt x="713005" y="48737"/>
                  <a:pt x="696449" y="47297"/>
                </a:cubicBezTo>
                <a:cubicBezTo>
                  <a:pt x="591610" y="38181"/>
                  <a:pt x="486242" y="36786"/>
                  <a:pt x="381138" y="31531"/>
                </a:cubicBezTo>
                <a:cubicBezTo>
                  <a:pt x="344352" y="26276"/>
                  <a:pt x="307218" y="23054"/>
                  <a:pt x="270780" y="15766"/>
                </a:cubicBezTo>
                <a:cubicBezTo>
                  <a:pt x="254484" y="12507"/>
                  <a:pt x="240102" y="0"/>
                  <a:pt x="223483" y="0"/>
                </a:cubicBezTo>
                <a:cubicBezTo>
                  <a:pt x="175896" y="0"/>
                  <a:pt x="128890" y="10511"/>
                  <a:pt x="81594" y="15766"/>
                </a:cubicBezTo>
                <a:lnTo>
                  <a:pt x="50063" y="110359"/>
                </a:lnTo>
                <a:lnTo>
                  <a:pt x="34297" y="157655"/>
                </a:lnTo>
                <a:cubicBezTo>
                  <a:pt x="40739" y="247843"/>
                  <a:pt x="0" y="355507"/>
                  <a:pt x="81594" y="409904"/>
                </a:cubicBezTo>
                <a:cubicBezTo>
                  <a:pt x="101149" y="422941"/>
                  <a:pt x="123635" y="430925"/>
                  <a:pt x="144656" y="441435"/>
                </a:cubicBezTo>
                <a:cubicBezTo>
                  <a:pt x="218228" y="436180"/>
                  <a:pt x="292064" y="433814"/>
                  <a:pt x="365373" y="425669"/>
                </a:cubicBezTo>
                <a:cubicBezTo>
                  <a:pt x="531898" y="407166"/>
                  <a:pt x="352030" y="424631"/>
                  <a:pt x="459966" y="378372"/>
                </a:cubicBezTo>
                <a:cubicBezTo>
                  <a:pt x="484596" y="367816"/>
                  <a:pt x="512636" y="368420"/>
                  <a:pt x="538794" y="362607"/>
                </a:cubicBezTo>
                <a:cubicBezTo>
                  <a:pt x="559946" y="357907"/>
                  <a:pt x="581022" y="352794"/>
                  <a:pt x="601856" y="346841"/>
                </a:cubicBezTo>
                <a:cubicBezTo>
                  <a:pt x="617835" y="342276"/>
                  <a:pt x="632680" y="333272"/>
                  <a:pt x="649152" y="331076"/>
                </a:cubicBezTo>
                <a:cubicBezTo>
                  <a:pt x="711877" y="322713"/>
                  <a:pt x="775276" y="320565"/>
                  <a:pt x="838338" y="315310"/>
                </a:cubicBezTo>
                <a:cubicBezTo>
                  <a:pt x="828673" y="199324"/>
                  <a:pt x="872928" y="133654"/>
                  <a:pt x="775276" y="94593"/>
                </a:cubicBezTo>
                <a:cubicBezTo>
                  <a:pt x="765517" y="90690"/>
                  <a:pt x="796297" y="99848"/>
                  <a:pt x="791042" y="94593"/>
                </a:cubicBezTo>
                <a:close/>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Freeform 27"/>
          <p:cNvSpPr/>
          <p:nvPr/>
        </p:nvSpPr>
        <p:spPr>
          <a:xfrm>
            <a:off x="4713709" y="3277215"/>
            <a:ext cx="946112" cy="474978"/>
          </a:xfrm>
          <a:custGeom>
            <a:avLst/>
            <a:gdLst>
              <a:gd name="connsiteX0" fmla="*/ 804222 w 946112"/>
              <a:gd name="connsiteY0" fmla="*/ 143902 h 474978"/>
              <a:gd name="connsiteX1" fmla="*/ 662332 w 946112"/>
              <a:gd name="connsiteY1" fmla="*/ 80840 h 474978"/>
              <a:gd name="connsiteX2" fmla="*/ 615036 w 946112"/>
              <a:gd name="connsiteY2" fmla="*/ 65075 h 474978"/>
              <a:gd name="connsiteX3" fmla="*/ 567739 w 946112"/>
              <a:gd name="connsiteY3" fmla="*/ 33544 h 474978"/>
              <a:gd name="connsiteX4" fmla="*/ 79008 w 946112"/>
              <a:gd name="connsiteY4" fmla="*/ 33544 h 474978"/>
              <a:gd name="connsiteX5" fmla="*/ 181 w 946112"/>
              <a:gd name="connsiteY5" fmla="*/ 175433 h 474978"/>
              <a:gd name="connsiteX6" fmla="*/ 15946 w 946112"/>
              <a:gd name="connsiteY6" fmla="*/ 348854 h 474978"/>
              <a:gd name="connsiteX7" fmla="*/ 63243 w 946112"/>
              <a:gd name="connsiteY7" fmla="*/ 396151 h 474978"/>
              <a:gd name="connsiteX8" fmla="*/ 205132 w 946112"/>
              <a:gd name="connsiteY8" fmla="*/ 474978 h 474978"/>
              <a:gd name="connsiteX9" fmla="*/ 867284 w 946112"/>
              <a:gd name="connsiteY9" fmla="*/ 459213 h 474978"/>
              <a:gd name="connsiteX10" fmla="*/ 914581 w 946112"/>
              <a:gd name="connsiteY10" fmla="*/ 427682 h 474978"/>
              <a:gd name="connsiteX11" fmla="*/ 930346 w 946112"/>
              <a:gd name="connsiteY11" fmla="*/ 364619 h 474978"/>
              <a:gd name="connsiteX12" fmla="*/ 946112 w 946112"/>
              <a:gd name="connsiteY12" fmla="*/ 317323 h 474978"/>
              <a:gd name="connsiteX13" fmla="*/ 930346 w 946112"/>
              <a:gd name="connsiteY13" fmla="*/ 270026 h 474978"/>
              <a:gd name="connsiteX14" fmla="*/ 851519 w 946112"/>
              <a:gd name="connsiteY14" fmla="*/ 175433 h 474978"/>
              <a:gd name="connsiteX15" fmla="*/ 804222 w 946112"/>
              <a:gd name="connsiteY15" fmla="*/ 143902 h 474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6112" h="474978">
                <a:moveTo>
                  <a:pt x="804222" y="143902"/>
                </a:moveTo>
                <a:cubicBezTo>
                  <a:pt x="729271" y="93935"/>
                  <a:pt x="774900" y="118362"/>
                  <a:pt x="662332" y="80840"/>
                </a:cubicBezTo>
                <a:lnTo>
                  <a:pt x="615036" y="65075"/>
                </a:lnTo>
                <a:cubicBezTo>
                  <a:pt x="599270" y="54565"/>
                  <a:pt x="586571" y="35636"/>
                  <a:pt x="567739" y="33544"/>
                </a:cubicBezTo>
                <a:cubicBezTo>
                  <a:pt x="265850" y="0"/>
                  <a:pt x="280888" y="4703"/>
                  <a:pt x="79008" y="33544"/>
                </a:cubicBezTo>
                <a:cubicBezTo>
                  <a:pt x="6728" y="141964"/>
                  <a:pt x="27929" y="92186"/>
                  <a:pt x="181" y="175433"/>
                </a:cubicBezTo>
                <a:cubicBezTo>
                  <a:pt x="5436" y="233240"/>
                  <a:pt x="0" y="293042"/>
                  <a:pt x="15946" y="348854"/>
                </a:cubicBezTo>
                <a:cubicBezTo>
                  <a:pt x="22071" y="370292"/>
                  <a:pt x="45644" y="382463"/>
                  <a:pt x="63243" y="396151"/>
                </a:cubicBezTo>
                <a:cubicBezTo>
                  <a:pt x="144558" y="459396"/>
                  <a:pt x="133771" y="451192"/>
                  <a:pt x="205132" y="474978"/>
                </a:cubicBezTo>
                <a:cubicBezTo>
                  <a:pt x="425849" y="469723"/>
                  <a:pt x="646993" y="473899"/>
                  <a:pt x="867284" y="459213"/>
                </a:cubicBezTo>
                <a:cubicBezTo>
                  <a:pt x="886190" y="457953"/>
                  <a:pt x="904071" y="443448"/>
                  <a:pt x="914581" y="427682"/>
                </a:cubicBezTo>
                <a:cubicBezTo>
                  <a:pt x="926600" y="409653"/>
                  <a:pt x="924393" y="385453"/>
                  <a:pt x="930346" y="364619"/>
                </a:cubicBezTo>
                <a:cubicBezTo>
                  <a:pt x="934911" y="348640"/>
                  <a:pt x="940857" y="333088"/>
                  <a:pt x="946112" y="317323"/>
                </a:cubicBezTo>
                <a:cubicBezTo>
                  <a:pt x="940857" y="301557"/>
                  <a:pt x="937778" y="284890"/>
                  <a:pt x="930346" y="270026"/>
                </a:cubicBezTo>
                <a:cubicBezTo>
                  <a:pt x="912631" y="234596"/>
                  <a:pt x="881403" y="200336"/>
                  <a:pt x="851519" y="175433"/>
                </a:cubicBezTo>
                <a:cubicBezTo>
                  <a:pt x="810184" y="140987"/>
                  <a:pt x="820304" y="143902"/>
                  <a:pt x="804222" y="143902"/>
                </a:cubicBezTo>
                <a:close/>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33" name="Straight Arrow Connector 32"/>
          <p:cNvCxnSpPr/>
          <p:nvPr/>
        </p:nvCxnSpPr>
        <p:spPr>
          <a:xfrm flipH="1" flipV="1">
            <a:off x="5220072" y="3140968"/>
            <a:ext cx="2592288" cy="1008112"/>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80728"/>
            <a:ext cx="8352928" cy="5688632"/>
          </a:xfrm>
          <a:ln>
            <a:solidFill>
              <a:srgbClr val="0070C0"/>
            </a:solidFill>
          </a:ln>
        </p:spPr>
        <p:txBody>
          <a:bodyPr>
            <a:normAutofit/>
          </a:bodyPr>
          <a:lstStyle/>
          <a:p>
            <a:pPr marL="457200" indent="-457200">
              <a:buAutoNum type="arabicPeriod" startAt="2"/>
            </a:pPr>
            <a:r>
              <a:rPr lang="en-US" sz="2000" dirty="0" smtClean="0"/>
              <a:t>Assume that you plan to buy a condo 5years from now, and you estimate that you can save $2,500 per year. You plan to deposit the money in a bank that pays 4% interest, and you will make the first deposit at the end of the year. How much will you have after 5 years? How will your answer change if the interest rate is increased to 6% or lowered to 3%?</a:t>
            </a:r>
          </a:p>
          <a:p>
            <a:pPr marL="457200" indent="-457200">
              <a:buAutoNum type="arabicPeriod" startAt="2"/>
            </a:pPr>
            <a:endParaRPr lang="en-US" sz="2000" dirty="0" smtClean="0">
              <a:solidFill>
                <a:srgbClr val="0070C0"/>
              </a:solidFill>
            </a:endParaRPr>
          </a:p>
          <a:p>
            <a:pPr marL="457200" indent="-457200">
              <a:buAutoNum type="arabicPeriod" startAt="2"/>
            </a:pPr>
            <a:endParaRPr lang="en-US" sz="2000" dirty="0" smtClean="0">
              <a:solidFill>
                <a:srgbClr val="0070C0"/>
              </a:solidFill>
            </a:endParaRPr>
          </a:p>
          <a:p>
            <a:pPr marL="457200" indent="-457200">
              <a:buAutoNum type="arabicPeriod" startAt="2"/>
            </a:pPr>
            <a:endParaRPr lang="en-US" sz="2000" dirty="0" smtClean="0">
              <a:solidFill>
                <a:srgbClr val="0070C0"/>
              </a:solidFill>
            </a:endParaRPr>
          </a:p>
          <a:p>
            <a:pPr>
              <a:buNone/>
            </a:pPr>
            <a:endParaRPr lang="en-US" dirty="0" smtClean="0"/>
          </a:p>
          <a:p>
            <a:pPr>
              <a:buNone/>
            </a:pPr>
            <a:r>
              <a:rPr lang="en-US" dirty="0" smtClean="0"/>
              <a:t>	</a:t>
            </a:r>
            <a:r>
              <a:rPr lang="en-US" sz="2000" b="1" dirty="0" smtClean="0">
                <a:solidFill>
                  <a:srgbClr val="0070C0"/>
                </a:solidFill>
              </a:rPr>
              <a:t>a)	FVA</a:t>
            </a:r>
            <a:r>
              <a:rPr lang="en-US" sz="1400" b="1" dirty="0" smtClean="0">
                <a:solidFill>
                  <a:srgbClr val="0070C0"/>
                </a:solidFill>
              </a:rPr>
              <a:t>N</a:t>
            </a:r>
            <a:r>
              <a:rPr lang="en-US" sz="2000" b="1" dirty="0" smtClean="0">
                <a:solidFill>
                  <a:srgbClr val="0070C0"/>
                </a:solidFill>
              </a:rPr>
              <a:t>=?  , if I = 4%,   N=5 yrs</a:t>
            </a:r>
          </a:p>
          <a:p>
            <a:pPr>
              <a:buNone/>
            </a:pPr>
            <a:r>
              <a:rPr lang="en-US" sz="2000" b="1" dirty="0" smtClean="0">
                <a:solidFill>
                  <a:srgbClr val="0070C0"/>
                </a:solidFill>
              </a:rPr>
              <a:t>		</a:t>
            </a:r>
          </a:p>
          <a:p>
            <a:pPr>
              <a:buNone/>
            </a:pPr>
            <a:r>
              <a:rPr lang="en-US" sz="2000" b="1" dirty="0" smtClean="0">
                <a:solidFill>
                  <a:srgbClr val="0070C0"/>
                </a:solidFill>
              </a:rPr>
              <a:t>		 </a:t>
            </a:r>
            <a:endParaRPr lang="en-MY" dirty="0"/>
          </a:p>
        </p:txBody>
      </p:sp>
      <p:sp>
        <p:nvSpPr>
          <p:cNvPr id="4" name="Title 1"/>
          <p:cNvSpPr>
            <a:spLocks noGrp="1"/>
          </p:cNvSpPr>
          <p:nvPr>
            <p:ph type="title"/>
          </p:nvPr>
        </p:nvSpPr>
        <p:spPr>
          <a:xfrm>
            <a:off x="539552" y="188640"/>
            <a:ext cx="8229600" cy="432048"/>
          </a:xfrm>
          <a:solidFill>
            <a:srgbClr val="FFFF00"/>
          </a:solidFill>
        </p:spPr>
        <p:txBody>
          <a:bodyPr>
            <a:normAutofit fontScale="90000"/>
          </a:bodyPr>
          <a:lstStyle/>
          <a:p>
            <a:r>
              <a:rPr lang="en-US" sz="2400" dirty="0" smtClean="0"/>
              <a:t>Answer (Self-test) for Question 2:</a:t>
            </a:r>
            <a:endParaRPr lang="en-MY" sz="2400" dirty="0"/>
          </a:p>
        </p:txBody>
      </p:sp>
      <p:cxnSp>
        <p:nvCxnSpPr>
          <p:cNvPr id="6" name="Straight Connector 5"/>
          <p:cNvCxnSpPr/>
          <p:nvPr/>
        </p:nvCxnSpPr>
        <p:spPr>
          <a:xfrm>
            <a:off x="2267744" y="3861048"/>
            <a:ext cx="55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267744" y="3789040"/>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419872" y="3789040"/>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0" y="3789040"/>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4128" y="3789040"/>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732240" y="3789040"/>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812360" y="3789040"/>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123728" y="3356992"/>
            <a:ext cx="6336704" cy="369332"/>
          </a:xfrm>
          <a:prstGeom prst="rect">
            <a:avLst/>
          </a:prstGeom>
          <a:noFill/>
        </p:spPr>
        <p:txBody>
          <a:bodyPr wrap="square" rtlCol="0">
            <a:spAutoFit/>
          </a:bodyPr>
          <a:lstStyle/>
          <a:p>
            <a:r>
              <a:rPr lang="en-US" dirty="0" smtClean="0"/>
              <a:t>0                    1                    2                  3                  4                  5</a:t>
            </a:r>
            <a:endParaRPr lang="en-MY" dirty="0"/>
          </a:p>
        </p:txBody>
      </p:sp>
      <p:sp>
        <p:nvSpPr>
          <p:cNvPr id="16" name="TextBox 15"/>
          <p:cNvSpPr txBox="1"/>
          <p:nvPr/>
        </p:nvSpPr>
        <p:spPr>
          <a:xfrm>
            <a:off x="2699792" y="4005064"/>
            <a:ext cx="5904656" cy="369332"/>
          </a:xfrm>
          <a:prstGeom prst="rect">
            <a:avLst/>
          </a:prstGeom>
          <a:noFill/>
        </p:spPr>
        <p:txBody>
          <a:bodyPr wrap="square" rtlCol="0">
            <a:spAutoFit/>
          </a:bodyPr>
          <a:lstStyle/>
          <a:p>
            <a:r>
              <a:rPr lang="en-US" dirty="0" smtClean="0"/>
              <a:t>   -$2,500           -$2,500        -$2,500      -$2,500         -$2,500</a:t>
            </a:r>
            <a:endParaRPr lang="en-MY" dirty="0"/>
          </a:p>
        </p:txBody>
      </p:sp>
      <p:sp>
        <p:nvSpPr>
          <p:cNvPr id="19" name="TextBox 18"/>
          <p:cNvSpPr txBox="1"/>
          <p:nvPr/>
        </p:nvSpPr>
        <p:spPr>
          <a:xfrm>
            <a:off x="1043608" y="3501008"/>
            <a:ext cx="1080120" cy="830997"/>
          </a:xfrm>
          <a:prstGeom prst="rect">
            <a:avLst/>
          </a:prstGeom>
          <a:noFill/>
        </p:spPr>
        <p:txBody>
          <a:bodyPr wrap="square" rtlCol="0">
            <a:spAutoFit/>
          </a:bodyPr>
          <a:lstStyle/>
          <a:p>
            <a:r>
              <a:rPr lang="en-US" sz="1600" dirty="0" smtClean="0"/>
              <a:t>Periods</a:t>
            </a:r>
          </a:p>
          <a:p>
            <a:endParaRPr lang="en-US" sz="1600" dirty="0" smtClean="0"/>
          </a:p>
          <a:p>
            <a:r>
              <a:rPr lang="en-US" sz="1600" dirty="0" smtClean="0"/>
              <a:t>Payments</a:t>
            </a:r>
            <a:endParaRPr lang="en-MY" sz="1600" dirty="0"/>
          </a:p>
        </p:txBody>
      </p:sp>
      <p:sp>
        <p:nvSpPr>
          <p:cNvPr id="20" name="TextBox 19"/>
          <p:cNvSpPr txBox="1"/>
          <p:nvPr/>
        </p:nvSpPr>
        <p:spPr>
          <a:xfrm>
            <a:off x="2411760" y="2924944"/>
            <a:ext cx="936104" cy="923330"/>
          </a:xfrm>
          <a:prstGeom prst="rect">
            <a:avLst/>
          </a:prstGeom>
          <a:noFill/>
        </p:spPr>
        <p:txBody>
          <a:bodyPr wrap="square" rtlCol="0">
            <a:spAutoFit/>
          </a:bodyPr>
          <a:lstStyle/>
          <a:p>
            <a:r>
              <a:rPr lang="en-US" dirty="0" smtClean="0"/>
              <a:t>I₁ = 4%</a:t>
            </a:r>
          </a:p>
          <a:p>
            <a:r>
              <a:rPr lang="en-US" dirty="0" smtClean="0"/>
              <a:t>I₂ = 6%</a:t>
            </a:r>
          </a:p>
          <a:p>
            <a:r>
              <a:rPr lang="en-US" dirty="0" smtClean="0"/>
              <a:t>I₃ = 3%</a:t>
            </a:r>
            <a:endParaRPr lang="en-MY" dirty="0"/>
          </a:p>
        </p:txBody>
      </p:sp>
      <p:sp>
        <p:nvSpPr>
          <p:cNvPr id="21" name="TextBox 20"/>
          <p:cNvSpPr txBox="1"/>
          <p:nvPr/>
        </p:nvSpPr>
        <p:spPr>
          <a:xfrm>
            <a:off x="7452320" y="4365104"/>
            <a:ext cx="1080120" cy="369332"/>
          </a:xfrm>
          <a:prstGeom prst="rect">
            <a:avLst/>
          </a:prstGeom>
          <a:noFill/>
        </p:spPr>
        <p:txBody>
          <a:bodyPr wrap="square" rtlCol="0">
            <a:spAutoFit/>
          </a:bodyPr>
          <a:lstStyle/>
          <a:p>
            <a:r>
              <a:rPr lang="en-US" b="1" dirty="0" smtClean="0">
                <a:solidFill>
                  <a:srgbClr val="FF0000"/>
                </a:solidFill>
              </a:rPr>
              <a:t>FVA</a:t>
            </a:r>
            <a:r>
              <a:rPr lang="en-US" sz="1200" b="1" dirty="0" smtClean="0">
                <a:solidFill>
                  <a:srgbClr val="FF0000"/>
                </a:solidFill>
              </a:rPr>
              <a:t>N </a:t>
            </a:r>
            <a:r>
              <a:rPr lang="en-US" b="1" dirty="0" smtClean="0">
                <a:solidFill>
                  <a:srgbClr val="FF0000"/>
                </a:solidFill>
              </a:rPr>
              <a:t>=?</a:t>
            </a:r>
            <a:endParaRPr lang="en-MY" b="1" dirty="0">
              <a:solidFill>
                <a:srgbClr val="FF0000"/>
              </a:solidFill>
            </a:endParaRPr>
          </a:p>
        </p:txBody>
      </p:sp>
      <p:sp>
        <p:nvSpPr>
          <p:cNvPr id="50" name="TextBox 49"/>
          <p:cNvSpPr txBox="1"/>
          <p:nvPr/>
        </p:nvSpPr>
        <p:spPr>
          <a:xfrm>
            <a:off x="1403648" y="4549676"/>
            <a:ext cx="5904656" cy="2308324"/>
          </a:xfrm>
          <a:prstGeom prst="rect">
            <a:avLst/>
          </a:prstGeom>
          <a:noFill/>
        </p:spPr>
        <p:txBody>
          <a:bodyPr wrap="square" rtlCol="0">
            <a:spAutoFit/>
          </a:bodyPr>
          <a:lstStyle/>
          <a:p>
            <a:r>
              <a:rPr lang="en-US" b="1" dirty="0" smtClean="0">
                <a:solidFill>
                  <a:srgbClr val="0070C0"/>
                </a:solidFill>
              </a:rPr>
              <a:t> </a:t>
            </a:r>
          </a:p>
          <a:p>
            <a:r>
              <a:rPr lang="en-US" b="1" dirty="0" smtClean="0">
                <a:solidFill>
                  <a:srgbClr val="0070C0"/>
                </a:solidFill>
              </a:rPr>
              <a:t>FVA</a:t>
            </a:r>
            <a:r>
              <a:rPr lang="en-US" sz="1400" b="1" dirty="0" smtClean="0">
                <a:solidFill>
                  <a:srgbClr val="0070C0"/>
                </a:solidFill>
              </a:rPr>
              <a:t>N</a:t>
            </a:r>
            <a:r>
              <a:rPr lang="en-US" b="1" dirty="0" smtClean="0">
                <a:solidFill>
                  <a:srgbClr val="0070C0"/>
                </a:solidFill>
              </a:rPr>
              <a:t> = PMT   (1+I)ᶰ -1</a:t>
            </a:r>
          </a:p>
          <a:p>
            <a:endParaRPr lang="en-US" b="1" dirty="0" smtClean="0">
              <a:solidFill>
                <a:srgbClr val="0070C0"/>
              </a:solidFill>
            </a:endParaRPr>
          </a:p>
          <a:p>
            <a:endParaRPr lang="en-US" b="1" dirty="0" smtClean="0">
              <a:solidFill>
                <a:srgbClr val="0070C0"/>
              </a:solidFill>
            </a:endParaRPr>
          </a:p>
          <a:p>
            <a:r>
              <a:rPr lang="en-US" b="1" dirty="0" smtClean="0">
                <a:solidFill>
                  <a:srgbClr val="0070C0"/>
                </a:solidFill>
              </a:rPr>
              <a:t>FVA</a:t>
            </a:r>
            <a:r>
              <a:rPr lang="en-US" sz="1600" b="1" dirty="0" smtClean="0">
                <a:solidFill>
                  <a:srgbClr val="0070C0"/>
                </a:solidFill>
              </a:rPr>
              <a:t>5</a:t>
            </a:r>
            <a:r>
              <a:rPr lang="en-US" b="1" dirty="0" smtClean="0">
                <a:solidFill>
                  <a:srgbClr val="0070C0"/>
                </a:solidFill>
              </a:rPr>
              <a:t> = $2,500  (1.04)⁵ - 1	=     $13,540.81</a:t>
            </a:r>
          </a:p>
          <a:p>
            <a:r>
              <a:rPr lang="en-US" b="1" dirty="0" smtClean="0">
                <a:solidFill>
                  <a:srgbClr val="0070C0"/>
                </a:solidFill>
              </a:rPr>
              <a:t>          </a:t>
            </a:r>
          </a:p>
          <a:p>
            <a:endParaRPr lang="en-US" b="1" dirty="0" smtClean="0">
              <a:solidFill>
                <a:srgbClr val="0070C0"/>
              </a:solidFill>
            </a:endParaRPr>
          </a:p>
          <a:p>
            <a:r>
              <a:rPr lang="en-US" b="1" dirty="0" smtClean="0">
                <a:solidFill>
                  <a:srgbClr val="0070C0"/>
                </a:solidFill>
              </a:rPr>
              <a:t>  </a:t>
            </a:r>
            <a:endParaRPr lang="en-MY" dirty="0"/>
          </a:p>
        </p:txBody>
      </p:sp>
      <p:cxnSp>
        <p:nvCxnSpPr>
          <p:cNvPr id="56" name="Straight Connector 55"/>
          <p:cNvCxnSpPr/>
          <p:nvPr/>
        </p:nvCxnSpPr>
        <p:spPr>
          <a:xfrm>
            <a:off x="2699792" y="4797152"/>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2699792" y="479715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699792" y="537321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635896" y="4797152"/>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3491880" y="479715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3419872" y="5373216"/>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771800" y="5157192"/>
            <a:ext cx="792088" cy="0"/>
          </a:xfrm>
          <a:prstGeom prst="line">
            <a:avLst/>
          </a:prstGeom>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915816" y="5085184"/>
            <a:ext cx="432048" cy="369332"/>
          </a:xfrm>
          <a:prstGeom prst="rect">
            <a:avLst/>
          </a:prstGeom>
          <a:noFill/>
        </p:spPr>
        <p:txBody>
          <a:bodyPr wrap="square" rtlCol="0">
            <a:spAutoFit/>
          </a:bodyPr>
          <a:lstStyle/>
          <a:p>
            <a:r>
              <a:rPr lang="en-US" b="1" dirty="0" smtClean="0">
                <a:solidFill>
                  <a:srgbClr val="0070C0"/>
                </a:solidFill>
              </a:rPr>
              <a:t>I</a:t>
            </a:r>
            <a:endParaRPr lang="en-MY" b="1" dirty="0">
              <a:solidFill>
                <a:srgbClr val="0070C0"/>
              </a:solidFill>
            </a:endParaRPr>
          </a:p>
        </p:txBody>
      </p:sp>
      <p:cxnSp>
        <p:nvCxnSpPr>
          <p:cNvPr id="71" name="Straight Connector 70"/>
          <p:cNvCxnSpPr/>
          <p:nvPr/>
        </p:nvCxnSpPr>
        <p:spPr>
          <a:xfrm flipH="1">
            <a:off x="2843808" y="5589240"/>
            <a:ext cx="838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3923928" y="5589240"/>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2843808" y="6309320"/>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H="1">
            <a:off x="3724672" y="5589240"/>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a:off x="3707904" y="6309320"/>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H="1">
            <a:off x="2843808" y="5589240"/>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2987824" y="5949280"/>
            <a:ext cx="792088" cy="0"/>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987824" y="5949280"/>
            <a:ext cx="864096" cy="369332"/>
          </a:xfrm>
          <a:prstGeom prst="rect">
            <a:avLst/>
          </a:prstGeom>
          <a:noFill/>
        </p:spPr>
        <p:txBody>
          <a:bodyPr wrap="square" rtlCol="0">
            <a:spAutoFit/>
          </a:bodyPr>
          <a:lstStyle/>
          <a:p>
            <a:r>
              <a:rPr lang="en-US" b="1" dirty="0" smtClean="0">
                <a:solidFill>
                  <a:srgbClr val="0070C0"/>
                </a:solidFill>
              </a:rPr>
              <a:t>0.04</a:t>
            </a:r>
            <a:endParaRPr lang="en-MY" b="1" dirty="0">
              <a:solidFill>
                <a:srgbClr val="0070C0"/>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5"/>
            <a:ext cx="8229600" cy="3384376"/>
          </a:xfrm>
          <a:ln>
            <a:solidFill>
              <a:srgbClr val="0070C0"/>
            </a:solidFill>
          </a:ln>
        </p:spPr>
        <p:txBody>
          <a:bodyPr>
            <a:normAutofit/>
          </a:bodyPr>
          <a:lstStyle/>
          <a:p>
            <a:pPr marL="457200" indent="-457200">
              <a:buAutoNum type="alphaLcParenR" startAt="2"/>
            </a:pPr>
            <a:r>
              <a:rPr lang="en-US" sz="2000" b="1" dirty="0" smtClean="0">
                <a:solidFill>
                  <a:srgbClr val="0070C0"/>
                </a:solidFill>
              </a:rPr>
              <a:t>FVA</a:t>
            </a:r>
            <a:r>
              <a:rPr lang="en-US" sz="1400" b="1" dirty="0" smtClean="0">
                <a:solidFill>
                  <a:srgbClr val="0070C0"/>
                </a:solidFill>
              </a:rPr>
              <a:t>N</a:t>
            </a:r>
            <a:r>
              <a:rPr lang="en-US" sz="2000" b="1" dirty="0" smtClean="0">
                <a:solidFill>
                  <a:srgbClr val="0070C0"/>
                </a:solidFill>
              </a:rPr>
              <a:t>=?  , if I = 6%,   N=5 yrs</a:t>
            </a:r>
          </a:p>
          <a:p>
            <a:pPr marL="457200" indent="-457200">
              <a:buNone/>
            </a:pPr>
            <a:r>
              <a:rPr lang="en-US" sz="2000" b="1" dirty="0" smtClean="0">
                <a:solidFill>
                  <a:srgbClr val="0070C0"/>
                </a:solidFill>
              </a:rPr>
              <a:t>	FVA</a:t>
            </a:r>
            <a:r>
              <a:rPr lang="en-US" sz="1600" b="1" dirty="0" smtClean="0">
                <a:solidFill>
                  <a:srgbClr val="0070C0"/>
                </a:solidFill>
              </a:rPr>
              <a:t>5</a:t>
            </a:r>
            <a:r>
              <a:rPr lang="en-US" sz="2000" b="1" dirty="0" smtClean="0">
                <a:solidFill>
                  <a:srgbClr val="0070C0"/>
                </a:solidFill>
              </a:rPr>
              <a:t> = $2,500 (1.06)⁵ -1   	= $14,092.73</a:t>
            </a:r>
          </a:p>
          <a:p>
            <a:pPr marL="457200" indent="-457200">
              <a:buNone/>
            </a:pPr>
            <a:endParaRPr lang="en-US" sz="2000" b="1" dirty="0" smtClean="0">
              <a:solidFill>
                <a:srgbClr val="0070C0"/>
              </a:solidFill>
            </a:endParaRPr>
          </a:p>
          <a:p>
            <a:pPr marL="457200" indent="-457200">
              <a:buNone/>
            </a:pPr>
            <a:endParaRPr lang="en-US" sz="2000" b="1" dirty="0" smtClean="0">
              <a:solidFill>
                <a:srgbClr val="0070C0"/>
              </a:solidFill>
            </a:endParaRPr>
          </a:p>
          <a:p>
            <a:pPr marL="457200" indent="-457200">
              <a:buNone/>
            </a:pPr>
            <a:endParaRPr lang="en-US" sz="2000" b="1" dirty="0" smtClean="0">
              <a:solidFill>
                <a:srgbClr val="0070C0"/>
              </a:solidFill>
            </a:endParaRPr>
          </a:p>
          <a:p>
            <a:pPr marL="457200" indent="-457200">
              <a:buNone/>
            </a:pPr>
            <a:r>
              <a:rPr lang="en-US" sz="2000" b="1" dirty="0" smtClean="0">
                <a:solidFill>
                  <a:srgbClr val="0070C0"/>
                </a:solidFill>
              </a:rPr>
              <a:t>c) 	FVA</a:t>
            </a:r>
            <a:r>
              <a:rPr lang="en-US" sz="1400" b="1" dirty="0" smtClean="0">
                <a:solidFill>
                  <a:srgbClr val="0070C0"/>
                </a:solidFill>
              </a:rPr>
              <a:t>N</a:t>
            </a:r>
            <a:r>
              <a:rPr lang="en-US" sz="2000" b="1" dirty="0" smtClean="0">
                <a:solidFill>
                  <a:srgbClr val="0070C0"/>
                </a:solidFill>
              </a:rPr>
              <a:t>=?  , if I = 3%,   N=5 yrs</a:t>
            </a:r>
          </a:p>
          <a:p>
            <a:pPr marL="457200" indent="-457200">
              <a:buNone/>
            </a:pPr>
            <a:r>
              <a:rPr lang="en-US" sz="2000" b="1" dirty="0" smtClean="0">
                <a:solidFill>
                  <a:srgbClr val="0070C0"/>
                </a:solidFill>
              </a:rPr>
              <a:t>	FVA</a:t>
            </a:r>
            <a:r>
              <a:rPr lang="en-US" sz="1600" b="1" dirty="0" smtClean="0">
                <a:solidFill>
                  <a:srgbClr val="0070C0"/>
                </a:solidFill>
              </a:rPr>
              <a:t>5</a:t>
            </a:r>
            <a:r>
              <a:rPr lang="en-US" sz="2000" b="1" dirty="0" smtClean="0">
                <a:solidFill>
                  <a:srgbClr val="0070C0"/>
                </a:solidFill>
              </a:rPr>
              <a:t> = $2,500  (1.03)⁵ -1  	= $13,272.84</a:t>
            </a:r>
            <a:endParaRPr lang="en-MY" sz="2000" dirty="0"/>
          </a:p>
        </p:txBody>
      </p:sp>
      <p:sp>
        <p:nvSpPr>
          <p:cNvPr id="4" name="TextBox 3"/>
          <p:cNvSpPr txBox="1"/>
          <p:nvPr/>
        </p:nvSpPr>
        <p:spPr>
          <a:xfrm>
            <a:off x="2699792" y="1124744"/>
            <a:ext cx="648072" cy="400110"/>
          </a:xfrm>
          <a:prstGeom prst="rect">
            <a:avLst/>
          </a:prstGeom>
          <a:noFill/>
        </p:spPr>
        <p:txBody>
          <a:bodyPr wrap="square" rtlCol="0">
            <a:spAutoFit/>
          </a:bodyPr>
          <a:lstStyle/>
          <a:p>
            <a:r>
              <a:rPr lang="en-US" sz="2000" b="1" dirty="0" smtClean="0">
                <a:solidFill>
                  <a:srgbClr val="0070C0"/>
                </a:solidFill>
              </a:rPr>
              <a:t>0.06</a:t>
            </a:r>
            <a:endParaRPr lang="en-MY" sz="2000" b="1" dirty="0">
              <a:solidFill>
                <a:srgbClr val="0070C0"/>
              </a:solidFill>
            </a:endParaRPr>
          </a:p>
        </p:txBody>
      </p:sp>
      <p:cxnSp>
        <p:nvCxnSpPr>
          <p:cNvPr id="6" name="Straight Connector 5"/>
          <p:cNvCxnSpPr/>
          <p:nvPr/>
        </p:nvCxnSpPr>
        <p:spPr>
          <a:xfrm>
            <a:off x="2483768" y="1196752"/>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83768" y="836712"/>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635896" y="836712"/>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483768" y="83671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491880" y="83671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91880" y="155679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483768" y="1556792"/>
            <a:ext cx="144016"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99792" y="2996952"/>
            <a:ext cx="648072" cy="400110"/>
          </a:xfrm>
          <a:prstGeom prst="rect">
            <a:avLst/>
          </a:prstGeom>
          <a:noFill/>
        </p:spPr>
        <p:txBody>
          <a:bodyPr wrap="square" rtlCol="0">
            <a:spAutoFit/>
          </a:bodyPr>
          <a:lstStyle/>
          <a:p>
            <a:r>
              <a:rPr lang="en-US" sz="2000" b="1" dirty="0" smtClean="0">
                <a:solidFill>
                  <a:srgbClr val="0070C0"/>
                </a:solidFill>
              </a:rPr>
              <a:t>0.03</a:t>
            </a:r>
            <a:endParaRPr lang="en-MY" sz="2000" b="1" dirty="0">
              <a:solidFill>
                <a:srgbClr val="0070C0"/>
              </a:solidFill>
            </a:endParaRPr>
          </a:p>
        </p:txBody>
      </p:sp>
      <p:cxnSp>
        <p:nvCxnSpPr>
          <p:cNvPr id="16" name="Straight Connector 15"/>
          <p:cNvCxnSpPr/>
          <p:nvPr/>
        </p:nvCxnSpPr>
        <p:spPr>
          <a:xfrm>
            <a:off x="2555776" y="2996952"/>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483768" y="2636912"/>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707904" y="2636912"/>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63888" y="335699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483768" y="263691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563888" y="263691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483768" y="3356992"/>
            <a:ext cx="14401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a:solidFill>
            <a:schemeClr val="accent3">
              <a:lumMod val="40000"/>
              <a:lumOff val="60000"/>
            </a:schemeClr>
          </a:solidFill>
        </p:spPr>
        <p:txBody>
          <a:bodyPr>
            <a:normAutofit fontScale="90000"/>
          </a:bodyPr>
          <a:lstStyle/>
          <a:p>
            <a:r>
              <a:rPr lang="en-US" sz="4000" dirty="0" smtClean="0"/>
              <a:t/>
            </a:r>
            <a:br>
              <a:rPr lang="en-US" sz="4000" dirty="0" smtClean="0"/>
            </a:br>
            <a:r>
              <a:rPr lang="en-US" sz="4000" dirty="0" smtClean="0"/>
              <a:t>6-8: FUTURE VALUE OF AN ANNUITY DUE</a:t>
            </a:r>
            <a:r>
              <a:rPr lang="en-US" dirty="0" smtClean="0"/>
              <a:t/>
            </a:r>
            <a:br>
              <a:rPr lang="en-US" dirty="0" smtClean="0"/>
            </a:br>
            <a:endParaRPr lang="en-MY" dirty="0"/>
          </a:p>
        </p:txBody>
      </p:sp>
      <p:sp>
        <p:nvSpPr>
          <p:cNvPr id="3" name="Content Placeholder 2"/>
          <p:cNvSpPr>
            <a:spLocks noGrp="1"/>
          </p:cNvSpPr>
          <p:nvPr>
            <p:ph idx="1"/>
          </p:nvPr>
        </p:nvSpPr>
        <p:spPr>
          <a:xfrm>
            <a:off x="457200" y="980728"/>
            <a:ext cx="8229600" cy="5544616"/>
          </a:xfrm>
        </p:spPr>
        <p:txBody>
          <a:bodyPr>
            <a:normAutofit/>
          </a:bodyPr>
          <a:lstStyle/>
          <a:p>
            <a:r>
              <a:rPr lang="en-US" sz="2400" dirty="0" smtClean="0"/>
              <a:t>Because each payment occurs one period earlier with an annuity due, all of the payments earn interest for one additional period.</a:t>
            </a:r>
          </a:p>
          <a:p>
            <a:pPr>
              <a:buNone/>
            </a:pPr>
            <a:endParaRPr lang="en-US" sz="2400" dirty="0" smtClean="0"/>
          </a:p>
          <a:p>
            <a:r>
              <a:rPr lang="en-US" sz="2400" dirty="0" smtClean="0"/>
              <a:t>Therefore the FV of an annuity due will be greater than that a similar ordinary annuity.</a:t>
            </a:r>
          </a:p>
          <a:p>
            <a:pPr>
              <a:buNone/>
            </a:pPr>
            <a:endParaRPr lang="en-US" sz="2400" dirty="0" smtClean="0"/>
          </a:p>
          <a:p>
            <a:r>
              <a:rPr lang="en-US" sz="2400" dirty="0" smtClean="0"/>
              <a:t>Formula:</a:t>
            </a:r>
          </a:p>
          <a:p>
            <a:pPr>
              <a:buNone/>
            </a:pPr>
            <a:r>
              <a:rPr lang="en-US" sz="2400" dirty="0" smtClean="0"/>
              <a:t>			</a:t>
            </a:r>
            <a:endParaRPr lang="en-US" dirty="0" smtClean="0"/>
          </a:p>
          <a:p>
            <a:pPr>
              <a:buNone/>
            </a:pPr>
            <a:endParaRPr lang="en-MY" dirty="0"/>
          </a:p>
        </p:txBody>
      </p:sp>
      <p:sp>
        <p:nvSpPr>
          <p:cNvPr id="4" name="TextBox 3"/>
          <p:cNvSpPr txBox="1"/>
          <p:nvPr/>
        </p:nvSpPr>
        <p:spPr>
          <a:xfrm>
            <a:off x="1331640" y="4437112"/>
            <a:ext cx="7056784" cy="461665"/>
          </a:xfrm>
          <a:prstGeom prst="rect">
            <a:avLst/>
          </a:prstGeom>
          <a:solidFill>
            <a:srgbClr val="FFFF00"/>
          </a:solidFill>
          <a:ln w="57150">
            <a:solidFill>
              <a:srgbClr val="FF66FF"/>
            </a:solidFill>
          </a:ln>
        </p:spPr>
        <p:txBody>
          <a:bodyPr wrap="square" rtlCol="0">
            <a:spAutoFit/>
          </a:bodyPr>
          <a:lstStyle/>
          <a:p>
            <a:pPr algn="ctr"/>
            <a:r>
              <a:rPr lang="en-US" sz="2400" dirty="0" smtClean="0"/>
              <a:t> </a:t>
            </a:r>
            <a:r>
              <a:rPr lang="en-US" sz="2400" b="1" dirty="0" smtClean="0"/>
              <a:t>FVA of annuity due  =   FVA ordinary annuity  (1+I)</a:t>
            </a:r>
            <a:endParaRPr lang="en-MY" sz="2400" b="1" dirty="0"/>
          </a:p>
        </p:txBody>
      </p:sp>
      <p:sp>
        <p:nvSpPr>
          <p:cNvPr id="5" name="TextBox 4"/>
          <p:cNvSpPr txBox="1"/>
          <p:nvPr/>
        </p:nvSpPr>
        <p:spPr>
          <a:xfrm>
            <a:off x="1331640" y="5085184"/>
            <a:ext cx="7056784" cy="1569660"/>
          </a:xfrm>
          <a:prstGeom prst="rect">
            <a:avLst/>
          </a:prstGeom>
          <a:solidFill>
            <a:srgbClr val="66FF33"/>
          </a:solidFill>
          <a:ln w="57150">
            <a:solidFill>
              <a:srgbClr val="FF66FF"/>
            </a:solidFill>
          </a:ln>
        </p:spPr>
        <p:txBody>
          <a:bodyPr wrap="square" rtlCol="0">
            <a:spAutoFit/>
          </a:bodyPr>
          <a:lstStyle/>
          <a:p>
            <a:pPr algn="ctr"/>
            <a:r>
              <a:rPr lang="en-US" sz="2400" dirty="0" smtClean="0"/>
              <a:t> </a:t>
            </a:r>
          </a:p>
          <a:p>
            <a:pPr algn="ctr"/>
            <a:r>
              <a:rPr lang="en-US" sz="2400" b="1" dirty="0" smtClean="0"/>
              <a:t>FVA of annuity due  =  (1+I) x PMT  (1+I)ᶰ - 1</a:t>
            </a:r>
          </a:p>
          <a:p>
            <a:pPr algn="ctr"/>
            <a:r>
              <a:rPr lang="en-US" sz="2400" b="1" dirty="0" smtClean="0"/>
              <a:t>			                          I</a:t>
            </a:r>
          </a:p>
          <a:p>
            <a:pPr algn="ctr"/>
            <a:endParaRPr lang="en-MY" sz="2400" b="1" dirty="0"/>
          </a:p>
        </p:txBody>
      </p:sp>
      <p:cxnSp>
        <p:nvCxnSpPr>
          <p:cNvPr id="7" name="Straight Connector 6"/>
          <p:cNvCxnSpPr/>
          <p:nvPr/>
        </p:nvCxnSpPr>
        <p:spPr>
          <a:xfrm>
            <a:off x="6444208" y="5877272"/>
            <a:ext cx="108012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372200" y="5373216"/>
            <a:ext cx="0" cy="864096"/>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68344" y="5373216"/>
            <a:ext cx="0" cy="864096"/>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372200" y="5373216"/>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372200" y="6237312"/>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452320" y="5373216"/>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452320" y="6237312"/>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507288" cy="5865515"/>
          </a:xfrm>
        </p:spPr>
        <p:txBody>
          <a:bodyPr>
            <a:normAutofit/>
          </a:bodyPr>
          <a:lstStyle/>
          <a:p>
            <a:pPr>
              <a:buNone/>
            </a:pPr>
            <a:r>
              <a:rPr lang="en-US" sz="2400" dirty="0" smtClean="0"/>
              <a:t>Example: </a:t>
            </a:r>
          </a:p>
          <a:p>
            <a:pPr>
              <a:buNone/>
            </a:pPr>
            <a:r>
              <a:rPr lang="en-US" sz="2400" dirty="0" smtClean="0"/>
              <a:t>	You deposit $100 at the end of each year for 3 years and earn 5% per year. How much you will have at the end of the 3</a:t>
            </a:r>
            <a:r>
              <a:rPr lang="en-US" sz="2400" baseline="30000" dirty="0" smtClean="0"/>
              <a:t>rd</a:t>
            </a:r>
            <a:r>
              <a:rPr lang="en-US" sz="2400" dirty="0" smtClean="0"/>
              <a:t> year?</a:t>
            </a:r>
          </a:p>
          <a:p>
            <a:pPr>
              <a:buNone/>
            </a:pPr>
            <a:endParaRPr lang="en-US" sz="2400" dirty="0" smtClean="0"/>
          </a:p>
          <a:p>
            <a:pPr>
              <a:buNone/>
            </a:pPr>
            <a:r>
              <a:rPr lang="en-US" sz="2000" u="sng" dirty="0" smtClean="0"/>
              <a:t>Future Value Ordinary annuity:</a:t>
            </a:r>
          </a:p>
          <a:p>
            <a:pPr>
              <a:buNone/>
            </a:pPr>
            <a:r>
              <a:rPr lang="en-US" sz="2400" b="1" dirty="0" smtClean="0"/>
              <a:t>FVA</a:t>
            </a:r>
            <a:r>
              <a:rPr lang="en-US" sz="1400" b="1" dirty="0" smtClean="0"/>
              <a:t>N</a:t>
            </a:r>
            <a:r>
              <a:rPr lang="en-US" sz="2400" b="1" dirty="0" smtClean="0"/>
              <a:t>  = PMT (1+I)ᶰ¯¹ + PMT (1+I)ᶰ¯² + PMT (1+I)ᶰ¯³</a:t>
            </a:r>
          </a:p>
          <a:p>
            <a:pPr>
              <a:buNone/>
            </a:pPr>
            <a:r>
              <a:rPr lang="en-US" sz="2400" b="1" dirty="0" smtClean="0"/>
              <a:t>	      = $100(1.05) ³¯¹ + $100(1.05)²¯¹ + $100(1.05)¹¯¹</a:t>
            </a:r>
          </a:p>
          <a:p>
            <a:pPr>
              <a:buNone/>
            </a:pPr>
            <a:r>
              <a:rPr lang="en-US" sz="2400" b="1" dirty="0" smtClean="0"/>
              <a:t>	      = $100(1.05) ² + $100(1.05)¹ + $100(1.05)⁰</a:t>
            </a:r>
          </a:p>
          <a:p>
            <a:pPr>
              <a:buNone/>
            </a:pPr>
            <a:r>
              <a:rPr lang="en-US" sz="2400" b="1" dirty="0" smtClean="0"/>
              <a:t>	      = $315.25</a:t>
            </a:r>
            <a:endParaRPr lang="en-MY" sz="2400" b="1" dirty="0" smtClean="0"/>
          </a:p>
          <a:p>
            <a:pPr>
              <a:buNone/>
            </a:pPr>
            <a:r>
              <a:rPr lang="en-US" sz="2400" dirty="0" smtClean="0"/>
              <a:t>Therefore, 		</a:t>
            </a:r>
            <a:r>
              <a:rPr lang="en-US" sz="2400" b="1" dirty="0" smtClean="0"/>
              <a:t>FVA</a:t>
            </a:r>
            <a:r>
              <a:rPr lang="en-US" sz="1800" b="1" dirty="0" smtClean="0"/>
              <a:t>due</a:t>
            </a:r>
            <a:r>
              <a:rPr lang="en-US" sz="2400" b="1" dirty="0" smtClean="0"/>
              <a:t>  </a:t>
            </a:r>
            <a:r>
              <a:rPr lang="en-US" b="1" dirty="0" smtClean="0"/>
              <a:t>=   </a:t>
            </a:r>
            <a:r>
              <a:rPr lang="en-US" sz="2400" b="1" dirty="0" smtClean="0"/>
              <a:t>FVA</a:t>
            </a:r>
            <a:r>
              <a:rPr lang="en-US" sz="1800" b="1" dirty="0" smtClean="0"/>
              <a:t>ordinary     </a:t>
            </a:r>
            <a:r>
              <a:rPr lang="en-US" sz="2400" b="1" dirty="0" smtClean="0"/>
              <a:t>(1+I</a:t>
            </a:r>
            <a:r>
              <a:rPr lang="en-US" sz="2400" dirty="0" smtClean="0"/>
              <a:t>)</a:t>
            </a:r>
          </a:p>
          <a:p>
            <a:pPr>
              <a:buNone/>
            </a:pPr>
            <a:r>
              <a:rPr lang="en-US" dirty="0" smtClean="0"/>
              <a:t>					</a:t>
            </a:r>
            <a:r>
              <a:rPr lang="en-US" sz="2400" b="1" dirty="0" smtClean="0"/>
              <a:t> =   $315.25(1.05)</a:t>
            </a:r>
          </a:p>
          <a:p>
            <a:pPr>
              <a:buNone/>
            </a:pPr>
            <a:r>
              <a:rPr lang="en-US" sz="2400" dirty="0" smtClean="0"/>
              <a:t>					 </a:t>
            </a:r>
            <a:r>
              <a:rPr lang="en-US" sz="2400" b="1" dirty="0" smtClean="0"/>
              <a:t>=   $331.01</a:t>
            </a:r>
            <a:endParaRPr lang="en-MY" sz="2400" b="1" dirty="0"/>
          </a:p>
        </p:txBody>
      </p:sp>
      <p:cxnSp>
        <p:nvCxnSpPr>
          <p:cNvPr id="5" name="Straight Arrow Connector 4"/>
          <p:cNvCxnSpPr>
            <a:stCxn id="9" idx="6"/>
          </p:cNvCxnSpPr>
          <p:nvPr/>
        </p:nvCxnSpPr>
        <p:spPr>
          <a:xfrm flipH="1" flipV="1">
            <a:off x="2699792" y="3861048"/>
            <a:ext cx="1951036" cy="26951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4556234" y="3980206"/>
            <a:ext cx="1679342" cy="809377"/>
          </a:xfrm>
          <a:custGeom>
            <a:avLst/>
            <a:gdLst>
              <a:gd name="connsiteX0" fmla="*/ 662152 w 1679342"/>
              <a:gd name="connsiteY0" fmla="*/ 87297 h 809377"/>
              <a:gd name="connsiteX1" fmla="*/ 488732 w 1679342"/>
              <a:gd name="connsiteY1" fmla="*/ 71532 h 809377"/>
              <a:gd name="connsiteX2" fmla="*/ 362607 w 1679342"/>
              <a:gd name="connsiteY2" fmla="*/ 40001 h 809377"/>
              <a:gd name="connsiteX3" fmla="*/ 315311 w 1679342"/>
              <a:gd name="connsiteY3" fmla="*/ 8470 h 809377"/>
              <a:gd name="connsiteX4" fmla="*/ 173421 w 1679342"/>
              <a:gd name="connsiteY4" fmla="*/ 71532 h 809377"/>
              <a:gd name="connsiteX5" fmla="*/ 126125 w 1679342"/>
              <a:gd name="connsiteY5" fmla="*/ 103063 h 809377"/>
              <a:gd name="connsiteX6" fmla="*/ 94594 w 1679342"/>
              <a:gd name="connsiteY6" fmla="*/ 150360 h 809377"/>
              <a:gd name="connsiteX7" fmla="*/ 47297 w 1679342"/>
              <a:gd name="connsiteY7" fmla="*/ 197656 h 809377"/>
              <a:gd name="connsiteX8" fmla="*/ 15766 w 1679342"/>
              <a:gd name="connsiteY8" fmla="*/ 292249 h 809377"/>
              <a:gd name="connsiteX9" fmla="*/ 0 w 1679342"/>
              <a:gd name="connsiteY9" fmla="*/ 339546 h 809377"/>
              <a:gd name="connsiteX10" fmla="*/ 15766 w 1679342"/>
              <a:gd name="connsiteY10" fmla="*/ 639091 h 809377"/>
              <a:gd name="connsiteX11" fmla="*/ 173421 w 1679342"/>
              <a:gd name="connsiteY11" fmla="*/ 733684 h 809377"/>
              <a:gd name="connsiteX12" fmla="*/ 362607 w 1679342"/>
              <a:gd name="connsiteY12" fmla="*/ 749449 h 809377"/>
              <a:gd name="connsiteX13" fmla="*/ 898635 w 1679342"/>
              <a:gd name="connsiteY13" fmla="*/ 780980 h 809377"/>
              <a:gd name="connsiteX14" fmla="*/ 1277007 w 1679342"/>
              <a:gd name="connsiteY14" fmla="*/ 780980 h 809377"/>
              <a:gd name="connsiteX15" fmla="*/ 1371600 w 1679342"/>
              <a:gd name="connsiteY15" fmla="*/ 749449 h 809377"/>
              <a:gd name="connsiteX16" fmla="*/ 1466194 w 1679342"/>
              <a:gd name="connsiteY16" fmla="*/ 733684 h 809377"/>
              <a:gd name="connsiteX17" fmla="*/ 1576552 w 1679342"/>
              <a:gd name="connsiteY17" fmla="*/ 670622 h 809377"/>
              <a:gd name="connsiteX18" fmla="*/ 1623849 w 1679342"/>
              <a:gd name="connsiteY18" fmla="*/ 607560 h 809377"/>
              <a:gd name="connsiteX19" fmla="*/ 1623849 w 1679342"/>
              <a:gd name="connsiteY19" fmla="*/ 323780 h 809377"/>
              <a:gd name="connsiteX20" fmla="*/ 1576552 w 1679342"/>
              <a:gd name="connsiteY20" fmla="*/ 276484 h 809377"/>
              <a:gd name="connsiteX21" fmla="*/ 1418897 w 1679342"/>
              <a:gd name="connsiteY21" fmla="*/ 197656 h 809377"/>
              <a:gd name="connsiteX22" fmla="*/ 1324304 w 1679342"/>
              <a:gd name="connsiteY22" fmla="*/ 166125 h 809377"/>
              <a:gd name="connsiteX23" fmla="*/ 1277007 w 1679342"/>
              <a:gd name="connsiteY23" fmla="*/ 150360 h 809377"/>
              <a:gd name="connsiteX24" fmla="*/ 1103587 w 1679342"/>
              <a:gd name="connsiteY24" fmla="*/ 118828 h 809377"/>
              <a:gd name="connsiteX25" fmla="*/ 851338 w 1679342"/>
              <a:gd name="connsiteY25" fmla="*/ 87297 h 809377"/>
              <a:gd name="connsiteX26" fmla="*/ 662152 w 1679342"/>
              <a:gd name="connsiteY26" fmla="*/ 87297 h 80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9342" h="809377">
                <a:moveTo>
                  <a:pt x="662152" y="87297"/>
                </a:moveTo>
                <a:cubicBezTo>
                  <a:pt x="601718" y="84670"/>
                  <a:pt x="546067" y="80585"/>
                  <a:pt x="488732" y="71532"/>
                </a:cubicBezTo>
                <a:cubicBezTo>
                  <a:pt x="445927" y="64773"/>
                  <a:pt x="362607" y="40001"/>
                  <a:pt x="362607" y="40001"/>
                </a:cubicBezTo>
                <a:cubicBezTo>
                  <a:pt x="346842" y="29491"/>
                  <a:pt x="334112" y="10820"/>
                  <a:pt x="315311" y="8470"/>
                </a:cubicBezTo>
                <a:cubicBezTo>
                  <a:pt x="247552" y="0"/>
                  <a:pt x="221801" y="36975"/>
                  <a:pt x="173421" y="71532"/>
                </a:cubicBezTo>
                <a:cubicBezTo>
                  <a:pt x="158003" y="82545"/>
                  <a:pt x="141890" y="92553"/>
                  <a:pt x="126125" y="103063"/>
                </a:cubicBezTo>
                <a:cubicBezTo>
                  <a:pt x="115615" y="118829"/>
                  <a:pt x="106724" y="135804"/>
                  <a:pt x="94594" y="150360"/>
                </a:cubicBezTo>
                <a:cubicBezTo>
                  <a:pt x="80321" y="167488"/>
                  <a:pt x="58125" y="178166"/>
                  <a:pt x="47297" y="197656"/>
                </a:cubicBezTo>
                <a:cubicBezTo>
                  <a:pt x="31156" y="226710"/>
                  <a:pt x="26276" y="260718"/>
                  <a:pt x="15766" y="292249"/>
                </a:cubicBezTo>
                <a:lnTo>
                  <a:pt x="0" y="339546"/>
                </a:lnTo>
                <a:cubicBezTo>
                  <a:pt x="5255" y="439394"/>
                  <a:pt x="2256" y="540021"/>
                  <a:pt x="15766" y="639091"/>
                </a:cubicBezTo>
                <a:cubicBezTo>
                  <a:pt x="24562" y="703593"/>
                  <a:pt x="142452" y="727490"/>
                  <a:pt x="173421" y="733684"/>
                </a:cubicBezTo>
                <a:cubicBezTo>
                  <a:pt x="235473" y="746094"/>
                  <a:pt x="299487" y="744940"/>
                  <a:pt x="362607" y="749449"/>
                </a:cubicBezTo>
                <a:cubicBezTo>
                  <a:pt x="514395" y="760291"/>
                  <a:pt x="750041" y="772725"/>
                  <a:pt x="898635" y="780980"/>
                </a:cubicBezTo>
                <a:cubicBezTo>
                  <a:pt x="1067731" y="799769"/>
                  <a:pt x="1078230" y="809377"/>
                  <a:pt x="1277007" y="780980"/>
                </a:cubicBezTo>
                <a:cubicBezTo>
                  <a:pt x="1309910" y="776280"/>
                  <a:pt x="1338816" y="754913"/>
                  <a:pt x="1371600" y="749449"/>
                </a:cubicBezTo>
                <a:lnTo>
                  <a:pt x="1466194" y="733684"/>
                </a:lnTo>
                <a:cubicBezTo>
                  <a:pt x="1490925" y="721318"/>
                  <a:pt x="1554268" y="692906"/>
                  <a:pt x="1576552" y="670622"/>
                </a:cubicBezTo>
                <a:cubicBezTo>
                  <a:pt x="1595132" y="652042"/>
                  <a:pt x="1608083" y="628581"/>
                  <a:pt x="1623849" y="607560"/>
                </a:cubicBezTo>
                <a:cubicBezTo>
                  <a:pt x="1665980" y="481165"/>
                  <a:pt x="1679342" y="490257"/>
                  <a:pt x="1623849" y="323780"/>
                </a:cubicBezTo>
                <a:cubicBezTo>
                  <a:pt x="1616798" y="302628"/>
                  <a:pt x="1594151" y="290172"/>
                  <a:pt x="1576552" y="276484"/>
                </a:cubicBezTo>
                <a:cubicBezTo>
                  <a:pt x="1471851" y="195050"/>
                  <a:pt x="1514194" y="226246"/>
                  <a:pt x="1418897" y="197656"/>
                </a:cubicBezTo>
                <a:cubicBezTo>
                  <a:pt x="1387062" y="188105"/>
                  <a:pt x="1355835" y="176635"/>
                  <a:pt x="1324304" y="166125"/>
                </a:cubicBezTo>
                <a:cubicBezTo>
                  <a:pt x="1308538" y="160870"/>
                  <a:pt x="1293129" y="154391"/>
                  <a:pt x="1277007" y="150360"/>
                </a:cubicBezTo>
                <a:cubicBezTo>
                  <a:pt x="1133987" y="114604"/>
                  <a:pt x="1310696" y="156484"/>
                  <a:pt x="1103587" y="118828"/>
                </a:cubicBezTo>
                <a:cubicBezTo>
                  <a:pt x="941360" y="89332"/>
                  <a:pt x="1172436" y="100141"/>
                  <a:pt x="851338" y="87297"/>
                </a:cubicBezTo>
                <a:cubicBezTo>
                  <a:pt x="783076" y="84566"/>
                  <a:pt x="722586" y="89924"/>
                  <a:pt x="662152" y="87297"/>
                </a:cubicBezTo>
                <a:close/>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US" sz="2800" b="1" dirty="0" smtClean="0"/>
              <a:t>Self-test Question</a:t>
            </a:r>
            <a:endParaRPr lang="en-MY" sz="2800" b="1" dirty="0"/>
          </a:p>
        </p:txBody>
      </p:sp>
      <p:sp>
        <p:nvSpPr>
          <p:cNvPr id="3" name="Content Placeholder 2"/>
          <p:cNvSpPr>
            <a:spLocks noGrp="1"/>
          </p:cNvSpPr>
          <p:nvPr>
            <p:ph idx="1"/>
          </p:nvPr>
        </p:nvSpPr>
        <p:spPr>
          <a:xfrm>
            <a:off x="457200" y="908720"/>
            <a:ext cx="8229600" cy="5616624"/>
          </a:xfrm>
        </p:spPr>
        <p:txBody>
          <a:bodyPr>
            <a:normAutofit/>
          </a:bodyPr>
          <a:lstStyle/>
          <a:p>
            <a:pPr marL="514350" indent="-514350">
              <a:buAutoNum type="arabicPeriod"/>
            </a:pPr>
            <a:r>
              <a:rPr lang="en-US" sz="2400" dirty="0" smtClean="0"/>
              <a:t>Why does an annuity due always have a higher future value than an ordinary annuity?</a:t>
            </a:r>
          </a:p>
          <a:p>
            <a:pPr marL="514350" indent="-514350">
              <a:buNone/>
            </a:pPr>
            <a:endParaRPr lang="en-US" sz="2400" dirty="0" smtClean="0"/>
          </a:p>
          <a:p>
            <a:pPr marL="514350" indent="-514350">
              <a:buAutoNum type="arabicPeriod" startAt="2"/>
            </a:pPr>
            <a:r>
              <a:rPr lang="en-US" sz="2400" dirty="0" smtClean="0"/>
              <a:t>If you calculated the value of an ordinary annuity, how could you find the value of the corresponding annuity due?</a:t>
            </a:r>
          </a:p>
          <a:p>
            <a:pPr marL="514350" indent="-514350">
              <a:buAutoNum type="arabicPeriod" startAt="2"/>
            </a:pPr>
            <a:endParaRPr lang="en-US" sz="2400" dirty="0" smtClean="0"/>
          </a:p>
          <a:p>
            <a:pPr marL="514350" indent="-514350">
              <a:buAutoNum type="arabicPeriod" startAt="2"/>
            </a:pPr>
            <a:r>
              <a:rPr lang="en-US" sz="2400" dirty="0" smtClean="0"/>
              <a:t>Assume that you plan to buy a condo 5 years from now and you need to save for a down payment. You plan to save $2,500 per year (with the first deposit made immediately), and you will deposit the funds in a  bank account that pays 4% interest. How much will you have after 5 years? How much will you have if you make deposits at the end of each year?</a:t>
            </a:r>
          </a:p>
          <a:p>
            <a:pPr marL="514350" indent="-514350">
              <a:buNone/>
            </a:pPr>
            <a:r>
              <a:rPr lang="en-US" sz="2400" dirty="0" smtClean="0"/>
              <a:t>	</a:t>
            </a:r>
            <a:r>
              <a:rPr lang="en-US" sz="2000" b="1" dirty="0" smtClean="0"/>
              <a:t>($14,082.44;   $13,540.81)</a:t>
            </a:r>
          </a:p>
          <a:p>
            <a:pPr marL="514350" indent="-514350">
              <a:buNone/>
            </a:pPr>
            <a:endParaRPr lang="en-MY"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620688"/>
          </a:xfrm>
          <a:solidFill>
            <a:schemeClr val="accent3">
              <a:lumMod val="60000"/>
              <a:lumOff val="40000"/>
            </a:schemeClr>
          </a:solidFill>
        </p:spPr>
        <p:txBody>
          <a:bodyPr>
            <a:normAutofit fontScale="90000"/>
          </a:bodyPr>
          <a:lstStyle/>
          <a:p>
            <a:r>
              <a:rPr lang="en-US" sz="4000" dirty="0" smtClean="0"/>
              <a:t/>
            </a:r>
            <a:br>
              <a:rPr lang="en-US" sz="4000" dirty="0" smtClean="0"/>
            </a:br>
            <a:r>
              <a:rPr lang="en-US" sz="3600" dirty="0" smtClean="0"/>
              <a:t>6-9: 	PRESENT VALUE OF AN ORDINARY ANNUITY</a:t>
            </a:r>
            <a:r>
              <a:rPr lang="en-US" dirty="0" smtClean="0"/>
              <a:t/>
            </a:r>
            <a:br>
              <a:rPr lang="en-US" dirty="0" smtClean="0"/>
            </a:br>
            <a:endParaRPr lang="en-MY" dirty="0"/>
          </a:p>
        </p:txBody>
      </p:sp>
      <p:sp>
        <p:nvSpPr>
          <p:cNvPr id="3" name="Content Placeholder 2"/>
          <p:cNvSpPr>
            <a:spLocks noGrp="1"/>
          </p:cNvSpPr>
          <p:nvPr>
            <p:ph idx="1"/>
          </p:nvPr>
        </p:nvSpPr>
        <p:spPr>
          <a:xfrm>
            <a:off x="457200" y="980728"/>
            <a:ext cx="8507288" cy="5544616"/>
          </a:xfrm>
        </p:spPr>
        <p:txBody>
          <a:bodyPr>
            <a:normAutofit/>
          </a:bodyPr>
          <a:lstStyle/>
          <a:p>
            <a:r>
              <a:rPr lang="en-US" sz="2400" dirty="0" smtClean="0"/>
              <a:t>The </a:t>
            </a:r>
            <a:r>
              <a:rPr lang="en-US" sz="2400" b="1" dirty="0" smtClean="0"/>
              <a:t>present value of an annuity</a:t>
            </a:r>
            <a:r>
              <a:rPr lang="en-US" sz="2400" dirty="0" smtClean="0"/>
              <a:t>, </a:t>
            </a:r>
            <a:r>
              <a:rPr lang="en-US" sz="2400" b="1" dirty="0" smtClean="0"/>
              <a:t>PVA</a:t>
            </a:r>
            <a:r>
              <a:rPr lang="en-US" sz="1600" b="1" dirty="0" smtClean="0"/>
              <a:t>N</a:t>
            </a:r>
            <a:r>
              <a:rPr lang="en-US" sz="1600" dirty="0" smtClean="0"/>
              <a:t> </a:t>
            </a:r>
            <a:r>
              <a:rPr lang="en-US" sz="2400" dirty="0" smtClean="0"/>
              <a:t>can be found using the step-by-step approach or by using formula .</a:t>
            </a:r>
          </a:p>
          <a:p>
            <a:pPr>
              <a:buNone/>
            </a:pPr>
            <a:r>
              <a:rPr lang="en-US" dirty="0" smtClean="0"/>
              <a:t>	</a:t>
            </a:r>
            <a:r>
              <a:rPr lang="en-US" sz="2800" dirty="0" smtClean="0"/>
              <a:t>6-9a: Step-by-step Approach</a:t>
            </a:r>
          </a:p>
          <a:p>
            <a:pPr lvl="1">
              <a:buFont typeface="Wingdings" pitchFamily="2" charset="2"/>
              <a:buChar char="§"/>
            </a:pPr>
            <a:r>
              <a:rPr lang="en-US" sz="2400" dirty="0" smtClean="0"/>
              <a:t>To find the PV, we discount them, </a:t>
            </a:r>
            <a:r>
              <a:rPr lang="en-US" sz="2400" b="1" dirty="0" smtClean="0"/>
              <a:t>dividing each payment by (1+I) ᵗ</a:t>
            </a:r>
            <a:r>
              <a:rPr lang="en-US" sz="2400" dirty="0" smtClean="0"/>
              <a:t>. The step-by-step procedure is as follows:</a:t>
            </a:r>
          </a:p>
          <a:p>
            <a:pPr>
              <a:buNone/>
            </a:pPr>
            <a:r>
              <a:rPr lang="en-US" sz="2400" dirty="0" smtClean="0"/>
              <a:t>		</a:t>
            </a:r>
            <a:endParaRPr lang="en-MY" sz="1800" dirty="0"/>
          </a:p>
        </p:txBody>
      </p:sp>
      <p:sp>
        <p:nvSpPr>
          <p:cNvPr id="4" name="TextBox 3"/>
          <p:cNvSpPr txBox="1"/>
          <p:nvPr/>
        </p:nvSpPr>
        <p:spPr>
          <a:xfrm>
            <a:off x="1547664" y="3933056"/>
            <a:ext cx="1080120" cy="830997"/>
          </a:xfrm>
          <a:prstGeom prst="rect">
            <a:avLst/>
          </a:prstGeom>
          <a:noFill/>
        </p:spPr>
        <p:txBody>
          <a:bodyPr wrap="square" rtlCol="0">
            <a:spAutoFit/>
          </a:bodyPr>
          <a:lstStyle/>
          <a:p>
            <a:r>
              <a:rPr lang="en-US" sz="1600" dirty="0" smtClean="0"/>
              <a:t>Periods</a:t>
            </a:r>
          </a:p>
          <a:p>
            <a:endParaRPr lang="en-US" sz="1600" dirty="0" smtClean="0"/>
          </a:p>
          <a:p>
            <a:r>
              <a:rPr lang="en-US" sz="1600" dirty="0" smtClean="0"/>
              <a:t>Payments</a:t>
            </a:r>
            <a:endParaRPr lang="en-MY" sz="1600" dirty="0"/>
          </a:p>
        </p:txBody>
      </p:sp>
      <p:cxnSp>
        <p:nvCxnSpPr>
          <p:cNvPr id="6" name="Straight Connector 5"/>
          <p:cNvCxnSpPr/>
          <p:nvPr/>
        </p:nvCxnSpPr>
        <p:spPr>
          <a:xfrm>
            <a:off x="2771800" y="4365104"/>
            <a:ext cx="56166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771800" y="4293096"/>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716016" y="4221088"/>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588224" y="4221088"/>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388424" y="4293096"/>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699792" y="3933056"/>
            <a:ext cx="5976664" cy="369332"/>
          </a:xfrm>
          <a:prstGeom prst="rect">
            <a:avLst/>
          </a:prstGeom>
          <a:noFill/>
        </p:spPr>
        <p:txBody>
          <a:bodyPr wrap="square" rtlCol="0">
            <a:spAutoFit/>
          </a:bodyPr>
          <a:lstStyle/>
          <a:p>
            <a:r>
              <a:rPr lang="en-US" dirty="0" smtClean="0"/>
              <a:t>0                                  1                                   2                                3</a:t>
            </a:r>
            <a:endParaRPr lang="en-MY" dirty="0"/>
          </a:p>
        </p:txBody>
      </p:sp>
      <p:sp>
        <p:nvSpPr>
          <p:cNvPr id="13" name="TextBox 12"/>
          <p:cNvSpPr txBox="1"/>
          <p:nvPr/>
        </p:nvSpPr>
        <p:spPr>
          <a:xfrm>
            <a:off x="3275856" y="4005064"/>
            <a:ext cx="648072" cy="369332"/>
          </a:xfrm>
          <a:prstGeom prst="rect">
            <a:avLst/>
          </a:prstGeom>
          <a:noFill/>
        </p:spPr>
        <p:txBody>
          <a:bodyPr wrap="square" rtlCol="0">
            <a:spAutoFit/>
          </a:bodyPr>
          <a:lstStyle/>
          <a:p>
            <a:r>
              <a:rPr lang="en-US" dirty="0" smtClean="0"/>
              <a:t>5%</a:t>
            </a:r>
            <a:endParaRPr lang="en-MY" dirty="0"/>
          </a:p>
        </p:txBody>
      </p:sp>
      <p:sp>
        <p:nvSpPr>
          <p:cNvPr id="14" name="TextBox 13"/>
          <p:cNvSpPr txBox="1"/>
          <p:nvPr/>
        </p:nvSpPr>
        <p:spPr>
          <a:xfrm>
            <a:off x="4355976" y="4365104"/>
            <a:ext cx="4392488" cy="369332"/>
          </a:xfrm>
          <a:prstGeom prst="rect">
            <a:avLst/>
          </a:prstGeom>
          <a:noFill/>
        </p:spPr>
        <p:txBody>
          <a:bodyPr wrap="square" rtlCol="0">
            <a:spAutoFit/>
          </a:bodyPr>
          <a:lstStyle/>
          <a:p>
            <a:r>
              <a:rPr lang="en-US" dirty="0" smtClean="0"/>
              <a:t>-$100                        -$100                        -$100</a:t>
            </a:r>
            <a:endParaRPr lang="en-MY" dirty="0"/>
          </a:p>
        </p:txBody>
      </p:sp>
      <p:sp>
        <p:nvSpPr>
          <p:cNvPr id="15" name="TextBox 14"/>
          <p:cNvSpPr txBox="1"/>
          <p:nvPr/>
        </p:nvSpPr>
        <p:spPr>
          <a:xfrm>
            <a:off x="2483768" y="4653136"/>
            <a:ext cx="1440160" cy="1938992"/>
          </a:xfrm>
          <a:prstGeom prst="rect">
            <a:avLst/>
          </a:prstGeom>
          <a:noFill/>
        </p:spPr>
        <p:txBody>
          <a:bodyPr wrap="square" rtlCol="0">
            <a:spAutoFit/>
          </a:bodyPr>
          <a:lstStyle/>
          <a:p>
            <a:r>
              <a:rPr lang="en-US" sz="2000" b="1" dirty="0" smtClean="0"/>
              <a:t>$   95.24</a:t>
            </a:r>
          </a:p>
          <a:p>
            <a:r>
              <a:rPr lang="en-US" sz="2000" b="1" dirty="0" smtClean="0"/>
              <a:t>     90.70</a:t>
            </a:r>
          </a:p>
          <a:p>
            <a:r>
              <a:rPr lang="en-US" sz="2000" b="1" dirty="0" smtClean="0"/>
              <a:t>     86.38</a:t>
            </a:r>
          </a:p>
          <a:p>
            <a:r>
              <a:rPr lang="en-US" sz="2000" b="1" dirty="0" smtClean="0"/>
              <a:t>-------------</a:t>
            </a:r>
          </a:p>
          <a:p>
            <a:r>
              <a:rPr lang="en-US" sz="2000" b="1" dirty="0" smtClean="0"/>
              <a:t>$ 272.32</a:t>
            </a:r>
          </a:p>
          <a:p>
            <a:r>
              <a:rPr lang="en-US" sz="2000" b="1" dirty="0" smtClean="0"/>
              <a:t>========</a:t>
            </a:r>
            <a:endParaRPr lang="en-MY" sz="2000" b="1" dirty="0"/>
          </a:p>
        </p:txBody>
      </p:sp>
      <p:cxnSp>
        <p:nvCxnSpPr>
          <p:cNvPr id="24" name="Straight Arrow Connector 23"/>
          <p:cNvCxnSpPr/>
          <p:nvPr/>
        </p:nvCxnSpPr>
        <p:spPr>
          <a:xfrm flipH="1">
            <a:off x="3491880" y="4869160"/>
            <a:ext cx="122413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3491880" y="5157192"/>
            <a:ext cx="309634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3491880" y="5445224"/>
            <a:ext cx="489654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4716016" y="4653136"/>
            <a:ext cx="0" cy="2160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6588224" y="4653136"/>
            <a:ext cx="0" cy="5040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388424" y="4653136"/>
            <a:ext cx="0" cy="7920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563888" y="5733256"/>
            <a:ext cx="5580112" cy="461665"/>
          </a:xfrm>
          <a:prstGeom prst="rect">
            <a:avLst/>
          </a:prstGeom>
          <a:noFill/>
        </p:spPr>
        <p:txBody>
          <a:bodyPr wrap="square" rtlCol="0">
            <a:spAutoFit/>
          </a:bodyPr>
          <a:lstStyle/>
          <a:p>
            <a:r>
              <a:rPr lang="en-US" sz="2400" b="1" dirty="0" smtClean="0"/>
              <a:t> =</a:t>
            </a:r>
            <a:r>
              <a:rPr lang="en-US" dirty="0" smtClean="0"/>
              <a:t> </a:t>
            </a:r>
            <a:r>
              <a:rPr lang="en-US" sz="2400" b="1" dirty="0" smtClean="0"/>
              <a:t>The Present Value of the Annuity (PVA</a:t>
            </a:r>
            <a:r>
              <a:rPr lang="en-US" b="1" dirty="0" smtClean="0"/>
              <a:t>N</a:t>
            </a:r>
            <a:r>
              <a:rPr lang="en-US" sz="2400" b="1" dirty="0" smtClean="0"/>
              <a:t>)</a:t>
            </a:r>
            <a:endParaRPr lang="en-MY" sz="2400" b="1" dirty="0"/>
          </a:p>
        </p:txBody>
      </p:sp>
      <p:sp>
        <p:nvSpPr>
          <p:cNvPr id="22" name="TextBox 21"/>
          <p:cNvSpPr txBox="1"/>
          <p:nvPr/>
        </p:nvSpPr>
        <p:spPr>
          <a:xfrm>
            <a:off x="3275856" y="3429000"/>
            <a:ext cx="3456384" cy="461665"/>
          </a:xfrm>
          <a:prstGeom prst="rect">
            <a:avLst/>
          </a:prstGeom>
          <a:solidFill>
            <a:srgbClr val="FFFF00"/>
          </a:solidFill>
          <a:ln w="57150">
            <a:solidFill>
              <a:srgbClr val="FF6600"/>
            </a:solidFill>
          </a:ln>
        </p:spPr>
        <p:txBody>
          <a:bodyPr wrap="square" rtlCol="0">
            <a:spAutoFit/>
          </a:bodyPr>
          <a:lstStyle/>
          <a:p>
            <a:pPr algn="ctr"/>
            <a:r>
              <a:rPr lang="en-US" sz="2400" b="1" dirty="0" smtClean="0"/>
              <a:t>PVA</a:t>
            </a:r>
            <a:r>
              <a:rPr lang="en-US" sz="1400" b="1" dirty="0" smtClean="0"/>
              <a:t>T </a:t>
            </a:r>
            <a:r>
              <a:rPr lang="en-US" sz="2400" b="1" dirty="0" smtClean="0"/>
              <a:t>= PMT / (1+ I)ᵀ</a:t>
            </a:r>
            <a:endParaRPr lang="en-MY" sz="2400" b="1" dirty="0"/>
          </a:p>
        </p:txBody>
      </p:sp>
      <p:sp>
        <p:nvSpPr>
          <p:cNvPr id="23" name="TextBox 22"/>
          <p:cNvSpPr txBox="1"/>
          <p:nvPr/>
        </p:nvSpPr>
        <p:spPr>
          <a:xfrm>
            <a:off x="0" y="4653136"/>
            <a:ext cx="2411760" cy="1261884"/>
          </a:xfrm>
          <a:prstGeom prst="rect">
            <a:avLst/>
          </a:prstGeom>
          <a:noFill/>
        </p:spPr>
        <p:txBody>
          <a:bodyPr wrap="square" rtlCol="0">
            <a:spAutoFit/>
          </a:bodyPr>
          <a:lstStyle/>
          <a:p>
            <a:r>
              <a:rPr lang="en-US" sz="2000" b="1" dirty="0" smtClean="0">
                <a:solidFill>
                  <a:srgbClr val="FF0000"/>
                </a:solidFill>
              </a:rPr>
              <a:t>PVA₁ = $100 / (1.05)¹</a:t>
            </a:r>
          </a:p>
          <a:p>
            <a:r>
              <a:rPr lang="en-US" sz="2000" b="1" dirty="0" smtClean="0">
                <a:solidFill>
                  <a:srgbClr val="FF0000"/>
                </a:solidFill>
              </a:rPr>
              <a:t>PVA₂ =$100 / (1.05)²</a:t>
            </a:r>
          </a:p>
          <a:p>
            <a:r>
              <a:rPr lang="en-US" sz="2000" b="1" dirty="0" smtClean="0">
                <a:solidFill>
                  <a:srgbClr val="FF0000"/>
                </a:solidFill>
              </a:rPr>
              <a:t>PVA₃ = $100 / (1.05)³</a:t>
            </a:r>
          </a:p>
          <a:p>
            <a:endParaRPr lang="en-MY" sz="1600" dirty="0"/>
          </a:p>
        </p:txBody>
      </p:sp>
      <p:cxnSp>
        <p:nvCxnSpPr>
          <p:cNvPr id="30" name="Straight Connector 29"/>
          <p:cNvCxnSpPr/>
          <p:nvPr/>
        </p:nvCxnSpPr>
        <p:spPr>
          <a:xfrm flipH="1">
            <a:off x="899592" y="3618602"/>
            <a:ext cx="2376264" cy="26422"/>
          </a:xfrm>
          <a:prstGeom prst="line">
            <a:avLst/>
          </a:prstGeom>
          <a:ln w="57150">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899592" y="3645024"/>
            <a:ext cx="0" cy="93610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pPr>
              <a:buNone/>
            </a:pPr>
            <a:r>
              <a:rPr lang="en-US" sz="2800" dirty="0" smtClean="0"/>
              <a:t>6-9b: Using Formula or equation:</a:t>
            </a:r>
          </a:p>
          <a:p>
            <a:pPr>
              <a:buNone/>
            </a:pPr>
            <a:endParaRPr lang="en-US" sz="2400" b="1" dirty="0" smtClean="0"/>
          </a:p>
          <a:p>
            <a:pPr>
              <a:buNone/>
            </a:pPr>
            <a:r>
              <a:rPr lang="en-US" sz="2400" b="1" dirty="0" smtClean="0"/>
              <a:t>	PVA</a:t>
            </a:r>
            <a:r>
              <a:rPr lang="en-US" sz="1600" b="1" dirty="0" smtClean="0"/>
              <a:t>N</a:t>
            </a:r>
            <a:r>
              <a:rPr lang="en-US" sz="2400" b="1" dirty="0" smtClean="0"/>
              <a:t>  = PMT / (1+I)¹ + PMT /(1+I)² + …..+ PMT / (1+I)ᶰ</a:t>
            </a:r>
          </a:p>
          <a:p>
            <a:pPr>
              <a:buNone/>
            </a:pPr>
            <a:r>
              <a:rPr lang="en-US" sz="2400" b="1" dirty="0" smtClean="0"/>
              <a:t>		       		</a:t>
            </a:r>
          </a:p>
          <a:p>
            <a:pPr>
              <a:buNone/>
            </a:pPr>
            <a:r>
              <a:rPr lang="en-US" sz="2400" b="1" dirty="0" smtClean="0"/>
              <a:t>		            </a:t>
            </a:r>
          </a:p>
          <a:p>
            <a:pPr>
              <a:buNone/>
            </a:pPr>
            <a:endParaRPr lang="en-US" dirty="0" smtClean="0"/>
          </a:p>
          <a:p>
            <a:pPr>
              <a:buNone/>
            </a:pPr>
            <a:endParaRPr lang="en-MY" dirty="0"/>
          </a:p>
        </p:txBody>
      </p:sp>
      <p:cxnSp>
        <p:nvCxnSpPr>
          <p:cNvPr id="5" name="Straight Connector 4"/>
          <p:cNvCxnSpPr/>
          <p:nvPr/>
        </p:nvCxnSpPr>
        <p:spPr>
          <a:xfrm>
            <a:off x="4427984" y="2708920"/>
            <a:ext cx="6480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83968" y="2636912"/>
            <a:ext cx="936104" cy="461665"/>
          </a:xfrm>
          <a:prstGeom prst="rect">
            <a:avLst/>
          </a:prstGeom>
          <a:noFill/>
        </p:spPr>
        <p:txBody>
          <a:bodyPr wrap="square" rtlCol="0">
            <a:spAutoFit/>
          </a:bodyPr>
          <a:lstStyle/>
          <a:p>
            <a:r>
              <a:rPr lang="en-US" sz="2400" b="1" dirty="0" smtClean="0"/>
              <a:t>(1+I)ᶰ</a:t>
            </a:r>
            <a:endParaRPr lang="en-MY" sz="2400" b="1" dirty="0"/>
          </a:p>
        </p:txBody>
      </p:sp>
      <p:cxnSp>
        <p:nvCxnSpPr>
          <p:cNvPr id="8" name="Straight Connector 7"/>
          <p:cNvCxnSpPr/>
          <p:nvPr/>
        </p:nvCxnSpPr>
        <p:spPr>
          <a:xfrm>
            <a:off x="3203848" y="3140968"/>
            <a:ext cx="20882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flipH="1">
            <a:off x="3419872" y="2564904"/>
            <a:ext cx="432048" cy="523220"/>
          </a:xfrm>
          <a:prstGeom prst="rect">
            <a:avLst/>
          </a:prstGeom>
          <a:noFill/>
        </p:spPr>
        <p:txBody>
          <a:bodyPr wrap="square" rtlCol="0">
            <a:spAutoFit/>
          </a:bodyPr>
          <a:lstStyle/>
          <a:p>
            <a:r>
              <a:rPr lang="en-US" sz="2800" b="1" dirty="0" smtClean="0"/>
              <a:t>1</a:t>
            </a:r>
            <a:endParaRPr lang="en-MY" sz="2800" b="1" dirty="0"/>
          </a:p>
        </p:txBody>
      </p:sp>
      <p:sp>
        <p:nvSpPr>
          <p:cNvPr id="11" name="TextBox 10"/>
          <p:cNvSpPr txBox="1"/>
          <p:nvPr/>
        </p:nvSpPr>
        <p:spPr>
          <a:xfrm>
            <a:off x="3779912" y="2276872"/>
            <a:ext cx="720080" cy="923330"/>
          </a:xfrm>
          <a:prstGeom prst="rect">
            <a:avLst/>
          </a:prstGeom>
          <a:noFill/>
        </p:spPr>
        <p:txBody>
          <a:bodyPr wrap="square" rtlCol="0">
            <a:spAutoFit/>
          </a:bodyPr>
          <a:lstStyle/>
          <a:p>
            <a:r>
              <a:rPr lang="en-US" sz="5400" dirty="0" smtClean="0"/>
              <a:t> </a:t>
            </a:r>
            <a:r>
              <a:rPr lang="en-US" sz="4000" dirty="0" smtClean="0"/>
              <a:t>-</a:t>
            </a:r>
            <a:endParaRPr lang="en-MY" sz="4000" dirty="0"/>
          </a:p>
        </p:txBody>
      </p:sp>
      <p:sp>
        <p:nvSpPr>
          <p:cNvPr id="12" name="TextBox 11"/>
          <p:cNvSpPr txBox="1"/>
          <p:nvPr/>
        </p:nvSpPr>
        <p:spPr>
          <a:xfrm>
            <a:off x="4427984" y="2204864"/>
            <a:ext cx="504056" cy="461665"/>
          </a:xfrm>
          <a:prstGeom prst="rect">
            <a:avLst/>
          </a:prstGeom>
          <a:noFill/>
        </p:spPr>
        <p:txBody>
          <a:bodyPr wrap="square" rtlCol="0">
            <a:spAutoFit/>
          </a:bodyPr>
          <a:lstStyle/>
          <a:p>
            <a:r>
              <a:rPr lang="en-US" sz="2400" b="1" dirty="0" smtClean="0"/>
              <a:t>1</a:t>
            </a:r>
            <a:endParaRPr lang="en-MY" sz="2400" b="1" dirty="0"/>
          </a:p>
        </p:txBody>
      </p:sp>
      <p:sp>
        <p:nvSpPr>
          <p:cNvPr id="14" name="TextBox 13"/>
          <p:cNvSpPr txBox="1"/>
          <p:nvPr/>
        </p:nvSpPr>
        <p:spPr>
          <a:xfrm flipH="1">
            <a:off x="4067944" y="3140968"/>
            <a:ext cx="432048" cy="523220"/>
          </a:xfrm>
          <a:prstGeom prst="rect">
            <a:avLst/>
          </a:prstGeom>
          <a:noFill/>
        </p:spPr>
        <p:txBody>
          <a:bodyPr wrap="square" rtlCol="0">
            <a:spAutoFit/>
          </a:bodyPr>
          <a:lstStyle/>
          <a:p>
            <a:r>
              <a:rPr lang="en-US" sz="2800" b="1" dirty="0" smtClean="0"/>
              <a:t>I</a:t>
            </a:r>
            <a:endParaRPr lang="en-MY" sz="2800" b="1" dirty="0"/>
          </a:p>
        </p:txBody>
      </p:sp>
      <p:sp>
        <p:nvSpPr>
          <p:cNvPr id="15" name="TextBox 14"/>
          <p:cNvSpPr txBox="1"/>
          <p:nvPr/>
        </p:nvSpPr>
        <p:spPr>
          <a:xfrm>
            <a:off x="1835696" y="2780928"/>
            <a:ext cx="1224136" cy="523220"/>
          </a:xfrm>
          <a:prstGeom prst="rect">
            <a:avLst/>
          </a:prstGeom>
          <a:noFill/>
        </p:spPr>
        <p:txBody>
          <a:bodyPr wrap="square" rtlCol="0">
            <a:spAutoFit/>
          </a:bodyPr>
          <a:lstStyle/>
          <a:p>
            <a:r>
              <a:rPr lang="en-US" sz="2800" b="1" dirty="0" smtClean="0"/>
              <a:t> = PMT</a:t>
            </a:r>
            <a:endParaRPr lang="en-MY" sz="2800" b="1" dirty="0"/>
          </a:p>
        </p:txBody>
      </p:sp>
      <p:cxnSp>
        <p:nvCxnSpPr>
          <p:cNvPr id="17" name="Straight Connector 16"/>
          <p:cNvCxnSpPr/>
          <p:nvPr/>
        </p:nvCxnSpPr>
        <p:spPr>
          <a:xfrm>
            <a:off x="3203848" y="2492896"/>
            <a:ext cx="0" cy="10801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92080" y="2420888"/>
            <a:ext cx="0" cy="11521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5004048" y="2420888"/>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004048" y="3573016"/>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203848" y="2492896"/>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203848" y="3573016"/>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907704" y="3861048"/>
            <a:ext cx="6336704" cy="523220"/>
          </a:xfrm>
          <a:prstGeom prst="rect">
            <a:avLst/>
          </a:prstGeom>
          <a:noFill/>
        </p:spPr>
        <p:txBody>
          <a:bodyPr wrap="square" rtlCol="0">
            <a:spAutoFit/>
          </a:bodyPr>
          <a:lstStyle/>
          <a:p>
            <a:r>
              <a:rPr lang="en-US" sz="2800" b="1" dirty="0" smtClean="0"/>
              <a:t>=    $100 x  [ 1 – 1 / (1.05) ³] / 0.05</a:t>
            </a:r>
            <a:endParaRPr lang="en-MY" sz="2800" b="1" dirty="0"/>
          </a:p>
        </p:txBody>
      </p:sp>
      <p:sp>
        <p:nvSpPr>
          <p:cNvPr id="28" name="TextBox 27"/>
          <p:cNvSpPr txBox="1"/>
          <p:nvPr/>
        </p:nvSpPr>
        <p:spPr>
          <a:xfrm>
            <a:off x="1979712" y="4725144"/>
            <a:ext cx="2736304" cy="523220"/>
          </a:xfrm>
          <a:prstGeom prst="rect">
            <a:avLst/>
          </a:prstGeom>
          <a:noFill/>
        </p:spPr>
        <p:txBody>
          <a:bodyPr wrap="square" rtlCol="0">
            <a:spAutoFit/>
          </a:bodyPr>
          <a:lstStyle/>
          <a:p>
            <a:r>
              <a:rPr lang="en-US" sz="2800" b="1" dirty="0" smtClean="0"/>
              <a:t>=   $272.32</a:t>
            </a:r>
            <a:endParaRPr lang="en-MY" sz="2800"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dirty="0" smtClean="0"/>
              <a:t>Quick Question:</a:t>
            </a:r>
            <a:endParaRPr lang="en-MY" dirty="0"/>
          </a:p>
        </p:txBody>
      </p:sp>
      <p:sp>
        <p:nvSpPr>
          <p:cNvPr id="3" name="Content Placeholder 2"/>
          <p:cNvSpPr>
            <a:spLocks noGrp="1"/>
          </p:cNvSpPr>
          <p:nvPr>
            <p:ph idx="1"/>
          </p:nvPr>
        </p:nvSpPr>
        <p:spPr>
          <a:xfrm>
            <a:off x="457200" y="980728"/>
            <a:ext cx="8229600" cy="5145435"/>
          </a:xfrm>
        </p:spPr>
        <p:txBody>
          <a:bodyPr/>
          <a:lstStyle/>
          <a:p>
            <a:pPr>
              <a:buNone/>
            </a:pPr>
            <a:r>
              <a:rPr lang="en-US" sz="2400" dirty="0" smtClean="0"/>
              <a:t>	You just won the Florida lottery. To receive your winnings, you must select one of the two following choices:</a:t>
            </a:r>
          </a:p>
          <a:p>
            <a:pPr>
              <a:buNone/>
            </a:pPr>
            <a:endParaRPr lang="en-US" sz="2400" dirty="0" smtClean="0"/>
          </a:p>
          <a:p>
            <a:pPr marL="457200" indent="-457200">
              <a:buAutoNum type="arabicPeriod"/>
            </a:pPr>
            <a:r>
              <a:rPr lang="en-US" sz="2400" dirty="0" smtClean="0"/>
              <a:t>You can receive </a:t>
            </a:r>
            <a:r>
              <a:rPr lang="en-US" sz="2400" smtClean="0"/>
              <a:t>$1,000,000 </a:t>
            </a:r>
            <a:r>
              <a:rPr lang="en-US" sz="2400" dirty="0" smtClean="0"/>
              <a:t>a year at the end of each of the next 30 years;  OR</a:t>
            </a:r>
          </a:p>
          <a:p>
            <a:pPr marL="457200" indent="-457200">
              <a:buAutoNum type="arabicPeriod"/>
            </a:pPr>
            <a:r>
              <a:rPr lang="en-US" sz="2400" dirty="0" smtClean="0"/>
              <a:t>You can receive a one-time payment of $15,000, 000 today.</a:t>
            </a:r>
          </a:p>
          <a:p>
            <a:pPr marL="457200" indent="-457200">
              <a:buNone/>
            </a:pPr>
            <a:endParaRPr lang="en-US" sz="2400" dirty="0" smtClean="0"/>
          </a:p>
          <a:p>
            <a:pPr marL="457200" indent="-457200">
              <a:buNone/>
            </a:pPr>
            <a:r>
              <a:rPr lang="en-US" sz="2400" dirty="0" smtClean="0"/>
              <a:t>	Assume that the current interest rate is 6%. </a:t>
            </a:r>
            <a:r>
              <a:rPr lang="en-US" sz="2400" b="1" dirty="0" smtClean="0"/>
              <a:t>Which option is valuable?</a:t>
            </a:r>
            <a:endParaRPr lang="en-MY" sz="2400"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74042"/>
          </a:xfrm>
        </p:spPr>
        <p:txBody>
          <a:bodyPr>
            <a:normAutofit fontScale="90000"/>
          </a:bodyPr>
          <a:lstStyle/>
          <a:p>
            <a:r>
              <a:rPr lang="en-US" dirty="0" smtClean="0"/>
              <a:t>Answer:</a:t>
            </a:r>
            <a:endParaRPr lang="en-MY" dirty="0"/>
          </a:p>
        </p:txBody>
      </p:sp>
      <p:sp>
        <p:nvSpPr>
          <p:cNvPr id="3" name="Content Placeholder 2"/>
          <p:cNvSpPr>
            <a:spLocks noGrp="1"/>
          </p:cNvSpPr>
          <p:nvPr>
            <p:ph idx="1"/>
          </p:nvPr>
        </p:nvSpPr>
        <p:spPr>
          <a:xfrm>
            <a:off x="251520" y="764704"/>
            <a:ext cx="8604448" cy="5577483"/>
          </a:xfrm>
          <a:ln>
            <a:solidFill>
              <a:srgbClr val="0070C0"/>
            </a:solidFill>
          </a:ln>
        </p:spPr>
        <p:txBody>
          <a:bodyPr>
            <a:normAutofit/>
          </a:bodyPr>
          <a:lstStyle/>
          <a:p>
            <a:pPr>
              <a:buNone/>
            </a:pPr>
            <a:r>
              <a:rPr lang="en-US" sz="2400" dirty="0" smtClean="0"/>
              <a:t>	</a:t>
            </a:r>
            <a:r>
              <a:rPr lang="en-US" sz="2000" b="1" dirty="0" smtClean="0">
                <a:solidFill>
                  <a:srgbClr val="0070C0"/>
                </a:solidFill>
              </a:rPr>
              <a:t>The most valuable option is the one with the </a:t>
            </a:r>
            <a:r>
              <a:rPr lang="en-US" sz="2000" b="1" u="sng" dirty="0" smtClean="0">
                <a:solidFill>
                  <a:srgbClr val="0070C0"/>
                </a:solidFill>
              </a:rPr>
              <a:t>largest present value.</a:t>
            </a:r>
            <a:r>
              <a:rPr lang="en-US" sz="2000" b="1" dirty="0" smtClean="0">
                <a:solidFill>
                  <a:srgbClr val="0070C0"/>
                </a:solidFill>
              </a:rPr>
              <a:t> </a:t>
            </a:r>
          </a:p>
          <a:p>
            <a:pPr>
              <a:buNone/>
            </a:pPr>
            <a:r>
              <a:rPr lang="en-US" sz="2000" dirty="0" smtClean="0">
                <a:solidFill>
                  <a:srgbClr val="0070C0"/>
                </a:solidFill>
              </a:rPr>
              <a:t>	You know that the 2</a:t>
            </a:r>
            <a:r>
              <a:rPr lang="en-US" sz="2000" baseline="30000" dirty="0" smtClean="0">
                <a:solidFill>
                  <a:srgbClr val="0070C0"/>
                </a:solidFill>
              </a:rPr>
              <a:t>nd</a:t>
            </a:r>
            <a:r>
              <a:rPr lang="en-US" sz="2000" dirty="0" smtClean="0">
                <a:solidFill>
                  <a:srgbClr val="0070C0"/>
                </a:solidFill>
              </a:rPr>
              <a:t> option has a present value of $15,000,000, so, we need to determine the present value of $1,000,000 30-year ordinary annuity </a:t>
            </a:r>
            <a:r>
              <a:rPr lang="en-US" sz="2000" b="1" dirty="0" smtClean="0">
                <a:solidFill>
                  <a:srgbClr val="0070C0"/>
                </a:solidFill>
              </a:rPr>
              <a:t>exceeds $15,000,000</a:t>
            </a:r>
          </a:p>
          <a:p>
            <a:pPr>
              <a:buNone/>
            </a:pPr>
            <a:endParaRPr lang="en-US" sz="2000" b="1" u="sng" dirty="0" smtClean="0">
              <a:solidFill>
                <a:srgbClr val="0070C0"/>
              </a:solidFill>
            </a:endParaRPr>
          </a:p>
          <a:p>
            <a:pPr>
              <a:buNone/>
            </a:pPr>
            <a:r>
              <a:rPr lang="en-US" sz="2000" b="1" dirty="0" smtClean="0">
                <a:solidFill>
                  <a:srgbClr val="0070C0"/>
                </a:solidFill>
              </a:rPr>
              <a:t>	</a:t>
            </a:r>
            <a:r>
              <a:rPr lang="en-US" sz="2000" b="1" u="sng" dirty="0" smtClean="0">
                <a:solidFill>
                  <a:srgbClr val="0070C0"/>
                </a:solidFill>
              </a:rPr>
              <a:t>Using formula to calculate PVAN</a:t>
            </a:r>
          </a:p>
          <a:p>
            <a:pPr>
              <a:buNone/>
            </a:pPr>
            <a:endParaRPr lang="en-US" sz="1600" b="1" u="sng" dirty="0" smtClean="0"/>
          </a:p>
          <a:p>
            <a:pPr>
              <a:buNone/>
            </a:pPr>
            <a:r>
              <a:rPr lang="en-US" sz="2000" b="1" dirty="0" smtClean="0">
                <a:solidFill>
                  <a:srgbClr val="0070C0"/>
                </a:solidFill>
              </a:rPr>
              <a:t>	PVA</a:t>
            </a:r>
            <a:r>
              <a:rPr lang="en-US" sz="1600" b="1" dirty="0" smtClean="0">
                <a:solidFill>
                  <a:srgbClr val="0070C0"/>
                </a:solidFill>
              </a:rPr>
              <a:t>N</a:t>
            </a:r>
            <a:r>
              <a:rPr lang="en-US" sz="2000" b="1" dirty="0" smtClean="0">
                <a:solidFill>
                  <a:srgbClr val="0070C0"/>
                </a:solidFill>
              </a:rPr>
              <a:t>   =  PMT   1  -</a:t>
            </a:r>
          </a:p>
          <a:p>
            <a:pPr>
              <a:buNone/>
            </a:pPr>
            <a:endParaRPr lang="en-US" sz="2000" b="1" dirty="0" smtClean="0">
              <a:solidFill>
                <a:srgbClr val="0070C0"/>
              </a:solidFill>
            </a:endParaRPr>
          </a:p>
          <a:p>
            <a:pPr>
              <a:buNone/>
            </a:pPr>
            <a:endParaRPr lang="en-US" sz="2000" b="1" dirty="0" smtClean="0">
              <a:solidFill>
                <a:srgbClr val="0070C0"/>
              </a:solidFill>
            </a:endParaRPr>
          </a:p>
          <a:p>
            <a:pPr>
              <a:buNone/>
            </a:pPr>
            <a:r>
              <a:rPr lang="en-US" sz="2000" b="1" dirty="0" smtClean="0">
                <a:solidFill>
                  <a:srgbClr val="0070C0"/>
                </a:solidFill>
              </a:rPr>
              <a:t>	PVA₃₀   =  $1,000,000   1 -  1/(1.06)³⁰</a:t>
            </a:r>
          </a:p>
          <a:p>
            <a:pPr>
              <a:buNone/>
            </a:pPr>
            <a:endParaRPr lang="en-US" sz="2000" b="1" dirty="0" smtClean="0">
              <a:solidFill>
                <a:srgbClr val="0070C0"/>
              </a:solidFill>
            </a:endParaRPr>
          </a:p>
          <a:p>
            <a:pPr>
              <a:buNone/>
            </a:pPr>
            <a:r>
              <a:rPr lang="en-US" sz="2000" b="1" dirty="0" smtClean="0">
                <a:solidFill>
                  <a:srgbClr val="0070C0"/>
                </a:solidFill>
              </a:rPr>
              <a:t>      </a:t>
            </a:r>
            <a:endParaRPr lang="en-MY" sz="2000" b="1" dirty="0">
              <a:solidFill>
                <a:srgbClr val="0070C0"/>
              </a:solidFill>
            </a:endParaRPr>
          </a:p>
        </p:txBody>
      </p:sp>
      <p:sp>
        <p:nvSpPr>
          <p:cNvPr id="4" name="TextBox 3"/>
          <p:cNvSpPr txBox="1"/>
          <p:nvPr/>
        </p:nvSpPr>
        <p:spPr>
          <a:xfrm>
            <a:off x="2627784" y="3140968"/>
            <a:ext cx="1368152" cy="400110"/>
          </a:xfrm>
          <a:prstGeom prst="rect">
            <a:avLst/>
          </a:prstGeom>
          <a:noFill/>
        </p:spPr>
        <p:txBody>
          <a:bodyPr wrap="square" rtlCol="0">
            <a:spAutoFit/>
          </a:bodyPr>
          <a:lstStyle/>
          <a:p>
            <a:r>
              <a:rPr lang="en-US" sz="2000" b="1" dirty="0" smtClean="0">
                <a:solidFill>
                  <a:srgbClr val="0070C0"/>
                </a:solidFill>
              </a:rPr>
              <a:t> 1 /(1+I)ᶰ</a:t>
            </a:r>
            <a:endParaRPr lang="en-MY" sz="2000" b="1" dirty="0">
              <a:solidFill>
                <a:srgbClr val="0070C0"/>
              </a:solidFill>
            </a:endParaRPr>
          </a:p>
        </p:txBody>
      </p:sp>
      <p:cxnSp>
        <p:nvCxnSpPr>
          <p:cNvPr id="6" name="Straight Connector 5"/>
          <p:cNvCxnSpPr/>
          <p:nvPr/>
        </p:nvCxnSpPr>
        <p:spPr>
          <a:xfrm>
            <a:off x="2267744" y="3501008"/>
            <a:ext cx="15121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195736" y="2996952"/>
            <a:ext cx="0" cy="86409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923928" y="3068960"/>
            <a:ext cx="0" cy="86409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195736" y="2996952"/>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707904" y="3068960"/>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195736" y="3861048"/>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707904" y="3933056"/>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71800" y="3501008"/>
            <a:ext cx="576064" cy="461665"/>
          </a:xfrm>
          <a:prstGeom prst="rect">
            <a:avLst/>
          </a:prstGeom>
          <a:noFill/>
        </p:spPr>
        <p:txBody>
          <a:bodyPr wrap="square" rtlCol="0">
            <a:spAutoFit/>
          </a:bodyPr>
          <a:lstStyle/>
          <a:p>
            <a:r>
              <a:rPr lang="en-US" sz="2400" b="1" dirty="0" smtClean="0">
                <a:solidFill>
                  <a:srgbClr val="0070C0"/>
                </a:solidFill>
              </a:rPr>
              <a:t>I</a:t>
            </a:r>
            <a:endParaRPr lang="en-MY" sz="2400" b="1" dirty="0">
              <a:solidFill>
                <a:srgbClr val="0070C0"/>
              </a:solidFill>
            </a:endParaRPr>
          </a:p>
        </p:txBody>
      </p:sp>
      <p:sp>
        <p:nvSpPr>
          <p:cNvPr id="24" name="TextBox 23"/>
          <p:cNvSpPr txBox="1"/>
          <p:nvPr/>
        </p:nvSpPr>
        <p:spPr>
          <a:xfrm>
            <a:off x="1475656" y="5373216"/>
            <a:ext cx="2304256" cy="400110"/>
          </a:xfrm>
          <a:prstGeom prst="rect">
            <a:avLst/>
          </a:prstGeom>
          <a:noFill/>
        </p:spPr>
        <p:txBody>
          <a:bodyPr wrap="square" rtlCol="0">
            <a:spAutoFit/>
          </a:bodyPr>
          <a:lstStyle/>
          <a:p>
            <a:r>
              <a:rPr lang="en-US" sz="2000" b="1" dirty="0" smtClean="0">
                <a:solidFill>
                  <a:srgbClr val="0070C0"/>
                </a:solidFill>
              </a:rPr>
              <a:t>= $ 13,764,831.15</a:t>
            </a:r>
            <a:endParaRPr lang="en-MY" sz="2000" b="1" dirty="0">
              <a:solidFill>
                <a:srgbClr val="0070C0"/>
              </a:solidFill>
            </a:endParaRPr>
          </a:p>
        </p:txBody>
      </p:sp>
      <p:cxnSp>
        <p:nvCxnSpPr>
          <p:cNvPr id="35" name="Straight Connector 34"/>
          <p:cNvCxnSpPr/>
          <p:nvPr/>
        </p:nvCxnSpPr>
        <p:spPr>
          <a:xfrm>
            <a:off x="2915816" y="4221088"/>
            <a:ext cx="0" cy="86409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499992" y="4221088"/>
            <a:ext cx="0" cy="86409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283968" y="4221088"/>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915816" y="5085184"/>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283968" y="5085184"/>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915816" y="4221088"/>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915816" y="4653136"/>
            <a:ext cx="15121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203848" y="4653136"/>
            <a:ext cx="864096" cy="400110"/>
          </a:xfrm>
          <a:prstGeom prst="rect">
            <a:avLst/>
          </a:prstGeom>
          <a:noFill/>
        </p:spPr>
        <p:txBody>
          <a:bodyPr wrap="square" rtlCol="0">
            <a:spAutoFit/>
          </a:bodyPr>
          <a:lstStyle/>
          <a:p>
            <a:r>
              <a:rPr lang="en-US" sz="2000" b="1" dirty="0" smtClean="0">
                <a:solidFill>
                  <a:srgbClr val="0070C0"/>
                </a:solidFill>
              </a:rPr>
              <a:t>0.06</a:t>
            </a:r>
            <a:endParaRPr lang="en-MY" sz="2000" b="1" dirty="0">
              <a:solidFill>
                <a:srgbClr val="0070C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US" b="1" dirty="0" smtClean="0"/>
              <a:t>Self-test Question</a:t>
            </a:r>
            <a:endParaRPr lang="en-MY" dirty="0"/>
          </a:p>
        </p:txBody>
      </p:sp>
      <p:sp>
        <p:nvSpPr>
          <p:cNvPr id="3" name="Content Placeholder 2"/>
          <p:cNvSpPr>
            <a:spLocks noGrp="1"/>
          </p:cNvSpPr>
          <p:nvPr>
            <p:ph idx="1"/>
          </p:nvPr>
        </p:nvSpPr>
        <p:spPr>
          <a:xfrm>
            <a:off x="457200" y="764704"/>
            <a:ext cx="8229600" cy="5361459"/>
          </a:xfrm>
        </p:spPr>
        <p:txBody>
          <a:bodyPr>
            <a:normAutofit/>
          </a:bodyPr>
          <a:lstStyle/>
          <a:p>
            <a:pPr marL="457200" indent="-457200">
              <a:buFont typeface="+mj-lt"/>
              <a:buAutoNum type="arabicPeriod"/>
            </a:pPr>
            <a:r>
              <a:rPr lang="en-US" sz="2400" dirty="0" smtClean="0"/>
              <a:t>Why does an annuity due have a higher PV than a similar ordinary annuity?</a:t>
            </a:r>
          </a:p>
          <a:p>
            <a:pPr marL="457200" indent="-457200">
              <a:buNone/>
            </a:pPr>
            <a:endParaRPr lang="en-US" sz="2400" dirty="0" smtClean="0"/>
          </a:p>
          <a:p>
            <a:pPr marL="457200" indent="-457200">
              <a:buAutoNum type="arabicPeriod" startAt="2"/>
            </a:pPr>
            <a:r>
              <a:rPr lang="en-US" sz="2400" dirty="0" smtClean="0"/>
              <a:t>What is the PVA of an ordinary annuity with 10 payments of $100 if the appropriate interest rate is 10%? What would be the PVA be if the interest rate was 4%? What if the interest rate was 0%? How would the PVA values differ if we were dealing with annuities due?</a:t>
            </a:r>
          </a:p>
          <a:p>
            <a:pPr marL="457200" indent="-457200">
              <a:buNone/>
            </a:pPr>
            <a:r>
              <a:rPr lang="en-US" sz="2400" dirty="0" smtClean="0"/>
              <a:t>	</a:t>
            </a:r>
            <a:r>
              <a:rPr lang="en-US" sz="2000" b="1" dirty="0" smtClean="0"/>
              <a:t>($614.46;  $811.09;  $1,000.00;   $675.90;  $843.53;  $1,000.00)</a:t>
            </a:r>
            <a:endParaRPr lang="en-MY" sz="2000" b="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1196752"/>
          </a:xfrm>
          <a:solidFill>
            <a:schemeClr val="accent4">
              <a:lumMod val="20000"/>
              <a:lumOff val="80000"/>
            </a:schemeClr>
          </a:solidFill>
        </p:spPr>
        <p:txBody>
          <a:bodyPr>
            <a:noAutofit/>
          </a:bodyPr>
          <a:lstStyle/>
          <a:p>
            <a:r>
              <a:rPr lang="en-US" sz="3200" dirty="0" smtClean="0"/>
              <a:t/>
            </a:r>
            <a:br>
              <a:rPr lang="en-US" sz="3200" dirty="0" smtClean="0"/>
            </a:br>
            <a:r>
              <a:rPr lang="en-US" sz="3200" dirty="0" smtClean="0"/>
              <a:t>6-10: FINDING ANNUITY PAYMENTS, PERIODS, AND INTEREST RATES</a:t>
            </a:r>
            <a:br>
              <a:rPr lang="en-US" sz="3200" dirty="0" smtClean="0"/>
            </a:br>
            <a:endParaRPr lang="en-MY" sz="3200" dirty="0"/>
          </a:p>
        </p:txBody>
      </p:sp>
      <p:sp>
        <p:nvSpPr>
          <p:cNvPr id="3" name="Content Placeholder 2"/>
          <p:cNvSpPr>
            <a:spLocks noGrp="1"/>
          </p:cNvSpPr>
          <p:nvPr>
            <p:ph idx="1"/>
          </p:nvPr>
        </p:nvSpPr>
        <p:spPr>
          <a:xfrm>
            <a:off x="457200" y="1268760"/>
            <a:ext cx="8229600" cy="5589240"/>
          </a:xfrm>
        </p:spPr>
        <p:txBody>
          <a:bodyPr>
            <a:normAutofit/>
          </a:bodyPr>
          <a:lstStyle/>
          <a:p>
            <a:pPr>
              <a:buNone/>
            </a:pPr>
            <a:r>
              <a:rPr lang="en-US" sz="2800" dirty="0" smtClean="0"/>
              <a:t>6-10a: Finding Annuity Payments, PMT</a:t>
            </a:r>
          </a:p>
          <a:p>
            <a:pPr>
              <a:buNone/>
            </a:pPr>
            <a:r>
              <a:rPr lang="en-US" sz="2400" dirty="0" smtClean="0"/>
              <a:t>	Formula used:</a:t>
            </a:r>
          </a:p>
          <a:p>
            <a:pPr>
              <a:buNone/>
            </a:pPr>
            <a:endParaRPr lang="en-US" sz="2400" dirty="0" smtClean="0"/>
          </a:p>
          <a:p>
            <a:pPr>
              <a:buNone/>
            </a:pPr>
            <a:endParaRPr lang="en-US" sz="2400" dirty="0" smtClean="0"/>
          </a:p>
          <a:p>
            <a:pPr>
              <a:buNone/>
            </a:pPr>
            <a:r>
              <a:rPr lang="en-US" sz="2400" dirty="0" smtClean="0"/>
              <a:t>	Example: </a:t>
            </a:r>
          </a:p>
          <a:p>
            <a:pPr>
              <a:buNone/>
            </a:pPr>
            <a:r>
              <a:rPr lang="en-US" sz="2400" dirty="0" smtClean="0"/>
              <a:t>	Suppose we need to accumulate $10,000 and have it available 5 years from now. And we can earn a return of 6% on our savings, which are currently zero</a:t>
            </a:r>
          </a:p>
          <a:p>
            <a:pPr>
              <a:buNone/>
            </a:pPr>
            <a:r>
              <a:rPr lang="en-US" sz="2400" dirty="0" smtClean="0"/>
              <a:t>			FV=$10,000,    PV=0,  N=5,	   I/Yr=6%</a:t>
            </a:r>
          </a:p>
          <a:p>
            <a:pPr>
              <a:buNone/>
            </a:pPr>
            <a:endParaRPr lang="en-US" sz="2400" dirty="0" smtClean="0"/>
          </a:p>
          <a:p>
            <a:pPr>
              <a:buFont typeface="Arial" charset="0"/>
              <a:buChar char="•"/>
            </a:pPr>
            <a:r>
              <a:rPr lang="en-US" sz="2400" b="1" dirty="0" smtClean="0">
                <a:solidFill>
                  <a:srgbClr val="FF0000"/>
                </a:solidFill>
              </a:rPr>
              <a:t>the answer will depends on whether we make deposits at the end of each year (ordinary annuity) or at the beginning (annuity due). </a:t>
            </a:r>
          </a:p>
          <a:p>
            <a:pPr>
              <a:buNone/>
            </a:pPr>
            <a:endParaRPr lang="en-US" sz="2400" dirty="0" smtClean="0">
              <a:solidFill>
                <a:srgbClr val="FF0000"/>
              </a:solidFill>
            </a:endParaRPr>
          </a:p>
          <a:p>
            <a:pPr>
              <a:buNone/>
            </a:pPr>
            <a:endParaRPr lang="en-US" sz="2400" dirty="0" smtClean="0"/>
          </a:p>
          <a:p>
            <a:pPr>
              <a:buFont typeface="Arial" charset="0"/>
              <a:buChar char="•"/>
            </a:pPr>
            <a:endParaRPr lang="en-US" sz="2400" dirty="0" smtClean="0">
              <a:solidFill>
                <a:srgbClr val="FF0000"/>
              </a:solidFill>
            </a:endParaRPr>
          </a:p>
          <a:p>
            <a:pPr>
              <a:buNone/>
            </a:pPr>
            <a:endParaRPr lang="en-US" sz="2400" dirty="0" smtClean="0"/>
          </a:p>
        </p:txBody>
      </p:sp>
      <p:sp>
        <p:nvSpPr>
          <p:cNvPr id="4" name="TextBox 3"/>
          <p:cNvSpPr txBox="1"/>
          <p:nvPr/>
        </p:nvSpPr>
        <p:spPr>
          <a:xfrm>
            <a:off x="1475656" y="2492896"/>
            <a:ext cx="6984776" cy="461665"/>
          </a:xfrm>
          <a:prstGeom prst="rect">
            <a:avLst/>
          </a:prstGeom>
          <a:solidFill>
            <a:srgbClr val="FFCCFF"/>
          </a:solidFill>
          <a:ln w="57150">
            <a:solidFill>
              <a:srgbClr val="FF6600"/>
            </a:solidFill>
          </a:ln>
        </p:spPr>
        <p:txBody>
          <a:bodyPr wrap="square" rtlCol="0">
            <a:spAutoFit/>
          </a:bodyPr>
          <a:lstStyle/>
          <a:p>
            <a:pPr algn="ctr"/>
            <a:r>
              <a:rPr lang="en-US" sz="2400" b="1" dirty="0" smtClean="0"/>
              <a:t>PMT annuity due = PMT ordinary annuity / (1+I)</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408712"/>
          </a:xfrm>
        </p:spPr>
        <p:txBody>
          <a:bodyPr>
            <a:normAutofit lnSpcReduction="10000"/>
          </a:bodyPr>
          <a:lstStyle/>
          <a:p>
            <a:pPr>
              <a:buNone/>
            </a:pPr>
            <a:r>
              <a:rPr lang="en-US" sz="2400" dirty="0" smtClean="0"/>
              <a:t>FV=$10,000,    PV=0,  N=5,	   I/Yr=6%</a:t>
            </a:r>
          </a:p>
          <a:p>
            <a:pPr>
              <a:buNone/>
            </a:pPr>
            <a:endParaRPr lang="en-US" sz="2400" dirty="0" smtClean="0"/>
          </a:p>
          <a:p>
            <a:pPr>
              <a:buNone/>
            </a:pPr>
            <a:r>
              <a:rPr lang="en-US" sz="2400" u="sng" dirty="0" smtClean="0"/>
              <a:t>Using the formula to calculate:</a:t>
            </a:r>
          </a:p>
          <a:p>
            <a:pPr>
              <a:buNone/>
            </a:pPr>
            <a:endParaRPr lang="en-US" sz="2400" dirty="0" smtClean="0"/>
          </a:p>
          <a:p>
            <a:pPr>
              <a:buNone/>
            </a:pPr>
            <a:endParaRPr lang="en-US" sz="2400" dirty="0" smtClean="0"/>
          </a:p>
          <a:p>
            <a:pPr>
              <a:buNone/>
            </a:pPr>
            <a:r>
              <a:rPr lang="en-US" sz="2400" dirty="0" smtClean="0"/>
              <a:t>Therefore, FVA ₅</a:t>
            </a:r>
            <a:r>
              <a:rPr lang="en-US" sz="1400" dirty="0" smtClean="0"/>
              <a:t>(ordinary) </a:t>
            </a:r>
            <a:r>
              <a:rPr lang="en-US" sz="2400" dirty="0" smtClean="0"/>
              <a:t> = PMT (1+I)ᶰ - 1</a:t>
            </a:r>
            <a:endParaRPr lang="en-MY" sz="1400" dirty="0" smtClean="0"/>
          </a:p>
          <a:p>
            <a:pPr>
              <a:buNone/>
            </a:pPr>
            <a:r>
              <a:rPr lang="en-US" dirty="0" smtClean="0"/>
              <a:t>	</a:t>
            </a:r>
          </a:p>
          <a:p>
            <a:pPr>
              <a:buNone/>
            </a:pPr>
            <a:r>
              <a:rPr lang="en-US" sz="2400" dirty="0" smtClean="0"/>
              <a:t>			$10,000 = PMT   (1.06)⁵ -1</a:t>
            </a:r>
          </a:p>
          <a:p>
            <a:pPr>
              <a:buNone/>
            </a:pPr>
            <a:r>
              <a:rPr lang="en-US" sz="2400" dirty="0" smtClean="0"/>
              <a:t>		</a:t>
            </a:r>
          </a:p>
          <a:p>
            <a:pPr>
              <a:buNone/>
            </a:pPr>
            <a:r>
              <a:rPr lang="en-US" sz="2400" dirty="0" smtClean="0"/>
              <a:t>                    </a:t>
            </a:r>
            <a:r>
              <a:rPr lang="en-US" sz="2400" b="1" dirty="0" smtClean="0"/>
              <a:t>PMT ordinary annuity = </a:t>
            </a:r>
            <a:r>
              <a:rPr lang="en-US" sz="2400" b="1" u="sng" dirty="0" smtClean="0"/>
              <a:t>$1,773.96</a:t>
            </a:r>
          </a:p>
          <a:p>
            <a:pPr>
              <a:buNone/>
            </a:pPr>
            <a:endParaRPr lang="en-US" sz="2400" dirty="0" smtClean="0"/>
          </a:p>
          <a:p>
            <a:pPr>
              <a:buNone/>
            </a:pPr>
            <a:r>
              <a:rPr lang="en-US" sz="2400" b="1" dirty="0" smtClean="0"/>
              <a:t>PMT annuity due </a:t>
            </a:r>
            <a:r>
              <a:rPr lang="en-US" sz="2400" dirty="0" smtClean="0"/>
              <a:t>= PMT ordinary annuity / (1+I)</a:t>
            </a:r>
          </a:p>
          <a:p>
            <a:pPr>
              <a:buNone/>
            </a:pPr>
            <a:r>
              <a:rPr lang="en-US" sz="2400" dirty="0" smtClean="0"/>
              <a:t>			     = $1,773.96 / (1.06)</a:t>
            </a:r>
          </a:p>
          <a:p>
            <a:pPr>
              <a:buNone/>
            </a:pPr>
            <a:r>
              <a:rPr lang="en-US" sz="2400" dirty="0" smtClean="0"/>
              <a:t>			     </a:t>
            </a:r>
            <a:r>
              <a:rPr lang="en-US" sz="2400" b="1" dirty="0" smtClean="0"/>
              <a:t>= </a:t>
            </a:r>
            <a:r>
              <a:rPr lang="en-US" sz="2400" b="1" u="sng" dirty="0" smtClean="0"/>
              <a:t>$1,673.55</a:t>
            </a:r>
          </a:p>
          <a:p>
            <a:pPr>
              <a:buNone/>
            </a:pPr>
            <a:r>
              <a:rPr lang="en-US" dirty="0" smtClean="0"/>
              <a:t>			</a:t>
            </a:r>
            <a:endParaRPr lang="en-MY" sz="2400" dirty="0"/>
          </a:p>
        </p:txBody>
      </p:sp>
      <p:cxnSp>
        <p:nvCxnSpPr>
          <p:cNvPr id="5" name="Straight Connector 4"/>
          <p:cNvCxnSpPr/>
          <p:nvPr/>
        </p:nvCxnSpPr>
        <p:spPr>
          <a:xfrm>
            <a:off x="4283968" y="2564904"/>
            <a:ext cx="9361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644008" y="2492896"/>
            <a:ext cx="288032" cy="461665"/>
          </a:xfrm>
          <a:prstGeom prst="rect">
            <a:avLst/>
          </a:prstGeom>
          <a:noFill/>
        </p:spPr>
        <p:txBody>
          <a:bodyPr wrap="square" rtlCol="0">
            <a:spAutoFit/>
          </a:bodyPr>
          <a:lstStyle/>
          <a:p>
            <a:r>
              <a:rPr lang="en-US" sz="2400" dirty="0" smtClean="0"/>
              <a:t>I</a:t>
            </a:r>
            <a:endParaRPr lang="en-MY" sz="2400" dirty="0"/>
          </a:p>
        </p:txBody>
      </p:sp>
      <p:cxnSp>
        <p:nvCxnSpPr>
          <p:cNvPr id="8" name="Straight Connector 7"/>
          <p:cNvCxnSpPr/>
          <p:nvPr/>
        </p:nvCxnSpPr>
        <p:spPr>
          <a:xfrm>
            <a:off x="4211960" y="2060848"/>
            <a:ext cx="0"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364088" y="2132856"/>
            <a:ext cx="0"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211960" y="20608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20072" y="213285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211960" y="278092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20072" y="285293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499992" y="3501008"/>
            <a:ext cx="10801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427984" y="3140968"/>
            <a:ext cx="0"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652120" y="3140968"/>
            <a:ext cx="0"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508104" y="314096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427984" y="3861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427984" y="314096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5508104" y="3861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499992" y="3501008"/>
            <a:ext cx="936104" cy="461665"/>
          </a:xfrm>
          <a:prstGeom prst="rect">
            <a:avLst/>
          </a:prstGeom>
          <a:noFill/>
        </p:spPr>
        <p:txBody>
          <a:bodyPr wrap="square" rtlCol="0">
            <a:spAutoFit/>
          </a:bodyPr>
          <a:lstStyle/>
          <a:p>
            <a:r>
              <a:rPr lang="en-US" sz="2400" dirty="0" smtClean="0"/>
              <a:t>0.06</a:t>
            </a:r>
            <a:endParaRPr lang="en-MY"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pPr algn="l"/>
            <a:r>
              <a:rPr lang="en-US" sz="3100" dirty="0" smtClean="0"/>
              <a:t>6-10b: Finding the Number of Periods, N</a:t>
            </a:r>
            <a:endParaRPr lang="en-MY" dirty="0"/>
          </a:p>
        </p:txBody>
      </p:sp>
      <p:sp>
        <p:nvSpPr>
          <p:cNvPr id="3" name="Content Placeholder 2"/>
          <p:cNvSpPr>
            <a:spLocks noGrp="1"/>
          </p:cNvSpPr>
          <p:nvPr>
            <p:ph idx="1"/>
          </p:nvPr>
        </p:nvSpPr>
        <p:spPr>
          <a:xfrm>
            <a:off x="457200" y="1340768"/>
            <a:ext cx="8229600" cy="4785395"/>
          </a:xfrm>
        </p:spPr>
        <p:txBody>
          <a:bodyPr>
            <a:normAutofit/>
          </a:bodyPr>
          <a:lstStyle/>
          <a:p>
            <a:r>
              <a:rPr lang="en-US" sz="2400" dirty="0" smtClean="0"/>
              <a:t>Suppose you decide to make end-of-year deposits, but you can save only $1,200 per year. Assuming you will earn 6%, how long would it take to reach your $10,000 goal?</a:t>
            </a:r>
          </a:p>
          <a:p>
            <a:pPr>
              <a:buNone/>
            </a:pPr>
            <a:endParaRPr lang="en-US" sz="2400" dirty="0" smtClean="0"/>
          </a:p>
          <a:p>
            <a:r>
              <a:rPr lang="en-US" sz="2400" dirty="0" smtClean="0"/>
              <a:t>Find N.</a:t>
            </a:r>
          </a:p>
          <a:p>
            <a:pPr>
              <a:buNone/>
            </a:pPr>
            <a:endParaRPr lang="en-US" sz="2400"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12968" cy="6408712"/>
          </a:xfrm>
        </p:spPr>
        <p:txBody>
          <a:bodyPr>
            <a:normAutofit fontScale="92500" lnSpcReduction="10000"/>
          </a:bodyPr>
          <a:lstStyle/>
          <a:p>
            <a:pPr>
              <a:buNone/>
            </a:pPr>
            <a:r>
              <a:rPr lang="en-US" sz="2400" dirty="0" smtClean="0"/>
              <a:t>FVA</a:t>
            </a:r>
            <a:r>
              <a:rPr lang="en-US" sz="1400" dirty="0" smtClean="0"/>
              <a:t>ordinary	</a:t>
            </a:r>
            <a:r>
              <a:rPr lang="en-US" sz="2400" dirty="0" smtClean="0"/>
              <a:t>= PMT  (1+I)ᶰ-1</a:t>
            </a:r>
          </a:p>
          <a:p>
            <a:pPr>
              <a:buNone/>
            </a:pPr>
            <a:r>
              <a:rPr lang="en-US" sz="2400" dirty="0" smtClean="0"/>
              <a:t>				    I</a:t>
            </a:r>
          </a:p>
          <a:p>
            <a:pPr>
              <a:buNone/>
            </a:pPr>
            <a:r>
              <a:rPr lang="en-US" sz="2400" dirty="0" smtClean="0"/>
              <a:t> $10,000 	=  $1,200  (1.06)ᶰ -1</a:t>
            </a:r>
          </a:p>
          <a:p>
            <a:pPr>
              <a:buNone/>
            </a:pPr>
            <a:r>
              <a:rPr lang="en-US" sz="2400" dirty="0" smtClean="0"/>
              <a:t>				          0.06</a:t>
            </a:r>
          </a:p>
          <a:p>
            <a:pPr>
              <a:buNone/>
            </a:pPr>
            <a:r>
              <a:rPr lang="en-US" sz="2400" dirty="0" smtClean="0"/>
              <a:t>(1.06)ᶰ - 1	= $10,000</a:t>
            </a:r>
          </a:p>
          <a:p>
            <a:pPr>
              <a:buNone/>
            </a:pPr>
            <a:r>
              <a:rPr lang="en-US" sz="2400" dirty="0" smtClean="0"/>
              <a:t>     0.06		    $ 1,200</a:t>
            </a:r>
          </a:p>
          <a:p>
            <a:pPr>
              <a:buNone/>
            </a:pPr>
            <a:r>
              <a:rPr lang="en-US" sz="2400" dirty="0" smtClean="0"/>
              <a:t>	(1.06)ᶰ - 1	= 8.3333 X 0.06    </a:t>
            </a:r>
          </a:p>
          <a:p>
            <a:pPr>
              <a:buNone/>
            </a:pPr>
            <a:r>
              <a:rPr lang="en-US" sz="2400" dirty="0" smtClean="0"/>
              <a:t>			= 0.5</a:t>
            </a:r>
          </a:p>
          <a:p>
            <a:pPr>
              <a:buNone/>
            </a:pPr>
            <a:r>
              <a:rPr lang="en-US" sz="2400" dirty="0" smtClean="0"/>
              <a:t>	(1.06)ᶰ	= 0.5 +1	     </a:t>
            </a:r>
          </a:p>
          <a:p>
            <a:pPr>
              <a:buNone/>
            </a:pPr>
            <a:r>
              <a:rPr lang="en-US" sz="2400" dirty="0" smtClean="0"/>
              <a:t>			= 1.5</a:t>
            </a:r>
          </a:p>
          <a:p>
            <a:pPr>
              <a:buNone/>
            </a:pPr>
            <a:r>
              <a:rPr lang="en-US" sz="2400" dirty="0" smtClean="0"/>
              <a:t>Log</a:t>
            </a:r>
            <a:r>
              <a:rPr lang="en-US" sz="1600" dirty="0" smtClean="0"/>
              <a:t>1.06</a:t>
            </a:r>
            <a:r>
              <a:rPr lang="en-US" sz="2400" dirty="0" smtClean="0"/>
              <a:t> (1.06)ᶰ	= log</a:t>
            </a:r>
            <a:r>
              <a:rPr lang="en-US" sz="1600" dirty="0" smtClean="0"/>
              <a:t>1.06</a:t>
            </a:r>
            <a:r>
              <a:rPr lang="en-US" sz="2400" dirty="0" smtClean="0"/>
              <a:t> (1.5)</a:t>
            </a:r>
          </a:p>
          <a:p>
            <a:pPr>
              <a:buNone/>
            </a:pPr>
            <a:r>
              <a:rPr lang="en-US" sz="2400" dirty="0" smtClean="0"/>
              <a:t>N log</a:t>
            </a:r>
            <a:r>
              <a:rPr lang="en-US" sz="1600" dirty="0" smtClean="0"/>
              <a:t>1.06</a:t>
            </a:r>
            <a:r>
              <a:rPr lang="en-US" sz="2400" dirty="0" smtClean="0"/>
              <a:t> (1.06)	= log</a:t>
            </a:r>
            <a:r>
              <a:rPr lang="en-US" sz="1600" dirty="0" smtClean="0"/>
              <a:t>1.06</a:t>
            </a:r>
            <a:r>
              <a:rPr lang="en-US" sz="2400" dirty="0" smtClean="0"/>
              <a:t> (1.5)</a:t>
            </a:r>
          </a:p>
          <a:p>
            <a:pPr>
              <a:buNone/>
            </a:pPr>
            <a:r>
              <a:rPr lang="en-US" sz="2400" dirty="0" smtClean="0"/>
              <a:t>		N (1)	= log</a:t>
            </a:r>
            <a:r>
              <a:rPr lang="en-US" sz="1600" dirty="0" smtClean="0"/>
              <a:t>1.06</a:t>
            </a:r>
            <a:r>
              <a:rPr lang="en-US" sz="2400" dirty="0" smtClean="0"/>
              <a:t> (1.5)</a:t>
            </a:r>
          </a:p>
          <a:p>
            <a:pPr>
              <a:buNone/>
            </a:pPr>
            <a:r>
              <a:rPr lang="en-US" sz="2400" dirty="0" smtClean="0"/>
              <a:t>		N	= ln (1.5)</a:t>
            </a:r>
          </a:p>
          <a:p>
            <a:pPr>
              <a:buNone/>
            </a:pPr>
            <a:r>
              <a:rPr lang="en-US" sz="2400" dirty="0" smtClean="0"/>
              <a:t>			   ln (1.06)</a:t>
            </a:r>
          </a:p>
          <a:p>
            <a:pPr>
              <a:buNone/>
            </a:pPr>
            <a:r>
              <a:rPr lang="en-US" sz="2400" dirty="0" smtClean="0"/>
              <a:t>		N	= 6.958</a:t>
            </a:r>
          </a:p>
          <a:p>
            <a:pPr>
              <a:buNone/>
            </a:pPr>
            <a:r>
              <a:rPr lang="en-US" sz="2400" dirty="0" smtClean="0"/>
              <a:t>			= </a:t>
            </a:r>
            <a:r>
              <a:rPr lang="en-US" sz="2400" b="1" dirty="0" smtClean="0"/>
              <a:t>6.96 years</a:t>
            </a:r>
          </a:p>
          <a:p>
            <a:pPr>
              <a:buNone/>
            </a:pPr>
            <a:endParaRPr lang="en-US" sz="2400" dirty="0" smtClean="0"/>
          </a:p>
          <a:p>
            <a:pPr>
              <a:buNone/>
            </a:pPr>
            <a:endParaRPr lang="en-MY" sz="1400" dirty="0"/>
          </a:p>
        </p:txBody>
      </p:sp>
      <p:cxnSp>
        <p:nvCxnSpPr>
          <p:cNvPr id="5" name="Straight Connector 4"/>
          <p:cNvCxnSpPr/>
          <p:nvPr/>
        </p:nvCxnSpPr>
        <p:spPr>
          <a:xfrm>
            <a:off x="3059832" y="620688"/>
            <a:ext cx="93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987824" y="188640"/>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987824" y="188640"/>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987824" y="908720"/>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139952" y="188640"/>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995936" y="188640"/>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995936" y="908720"/>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347864" y="1340768"/>
            <a:ext cx="11521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275856" y="980728"/>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572000" y="980728"/>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275856" y="170080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3275856" y="98072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427984" y="170080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427984" y="98072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411760" y="2060848"/>
            <a:ext cx="93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95536" y="2060848"/>
            <a:ext cx="11521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267744" y="5445224"/>
            <a:ext cx="93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220072" y="404664"/>
            <a:ext cx="3672408" cy="830997"/>
          </a:xfrm>
          <a:prstGeom prst="rect">
            <a:avLst/>
          </a:prstGeom>
          <a:noFill/>
          <a:ln w="57150">
            <a:solidFill>
              <a:srgbClr val="FF66FF"/>
            </a:solidFill>
          </a:ln>
        </p:spPr>
        <p:txBody>
          <a:bodyPr wrap="square" rtlCol="0">
            <a:spAutoFit/>
          </a:bodyPr>
          <a:lstStyle/>
          <a:p>
            <a:pPr algn="ctr"/>
            <a:r>
              <a:rPr lang="en-US" sz="2400" b="1" dirty="0" smtClean="0">
                <a:solidFill>
                  <a:srgbClr val="0070C0"/>
                </a:solidFill>
              </a:rPr>
              <a:t>Finding N years using </a:t>
            </a:r>
          </a:p>
          <a:p>
            <a:pPr algn="ctr"/>
            <a:r>
              <a:rPr lang="en-US" sz="2400" b="1" dirty="0" smtClean="0">
                <a:solidFill>
                  <a:srgbClr val="0070C0"/>
                </a:solidFill>
              </a:rPr>
              <a:t>FVA ordinary formula</a:t>
            </a:r>
            <a:endParaRPr lang="en-MY" sz="2400" b="1" dirty="0">
              <a:solidFill>
                <a:srgbClr val="0070C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0"/>
            <a:ext cx="6336704" cy="6858000"/>
          </a:xfrm>
        </p:spPr>
        <p:txBody>
          <a:bodyPr>
            <a:noAutofit/>
          </a:bodyPr>
          <a:lstStyle/>
          <a:p>
            <a:pPr>
              <a:buNone/>
            </a:pPr>
            <a:endParaRPr lang="en-US" sz="2000" dirty="0" smtClean="0"/>
          </a:p>
          <a:p>
            <a:pPr>
              <a:buNone/>
            </a:pPr>
            <a:r>
              <a:rPr lang="en-US" sz="2400" dirty="0" smtClean="0"/>
              <a:t>FVA due = (1+I) x PMT  (1+I) -1</a:t>
            </a:r>
          </a:p>
          <a:p>
            <a:pPr>
              <a:buNone/>
            </a:pPr>
            <a:r>
              <a:rPr lang="en-US" sz="2400" dirty="0" smtClean="0"/>
              <a:t>	           	                    I  </a:t>
            </a:r>
          </a:p>
          <a:p>
            <a:pPr>
              <a:buNone/>
            </a:pPr>
            <a:endParaRPr lang="en-US" sz="2400" dirty="0" smtClean="0"/>
          </a:p>
          <a:p>
            <a:pPr>
              <a:buNone/>
            </a:pPr>
            <a:r>
              <a:rPr lang="en-US" sz="2400" dirty="0" smtClean="0"/>
              <a:t>$10,000 = (1.06) ($1,200) (1.06)ᶰ -1</a:t>
            </a:r>
          </a:p>
          <a:p>
            <a:pPr>
              <a:buNone/>
            </a:pPr>
            <a:r>
              <a:rPr lang="en-US" sz="2400" dirty="0" smtClean="0"/>
              <a:t>			         	   	0.06</a:t>
            </a:r>
          </a:p>
          <a:p>
            <a:pPr>
              <a:buNone/>
            </a:pPr>
            <a:r>
              <a:rPr lang="en-US" sz="2400" dirty="0" smtClean="0"/>
              <a:t>		  </a:t>
            </a:r>
          </a:p>
          <a:p>
            <a:pPr>
              <a:buNone/>
            </a:pPr>
            <a:r>
              <a:rPr lang="en-US" sz="2400" dirty="0" smtClean="0"/>
              <a:t>		= $1,272    (1.06)ᶰ - 1</a:t>
            </a:r>
          </a:p>
          <a:p>
            <a:pPr>
              <a:buNone/>
            </a:pPr>
            <a:r>
              <a:rPr lang="en-US" sz="2400" dirty="0" smtClean="0"/>
              <a:t>			         0.06</a:t>
            </a:r>
          </a:p>
          <a:p>
            <a:pPr>
              <a:buNone/>
            </a:pPr>
            <a:r>
              <a:rPr lang="en-US" sz="2400" dirty="0" smtClean="0"/>
              <a:t>	</a:t>
            </a:r>
          </a:p>
          <a:p>
            <a:pPr>
              <a:buNone/>
            </a:pPr>
            <a:r>
              <a:rPr lang="en-US" sz="2400" dirty="0" smtClean="0"/>
              <a:t>(1.06)ᶰ -1 	=  $10,000		</a:t>
            </a:r>
          </a:p>
          <a:p>
            <a:pPr>
              <a:buNone/>
            </a:pPr>
            <a:r>
              <a:rPr lang="en-US" sz="2400" dirty="0" smtClean="0"/>
              <a:t>	  0.06	     $ 1,272</a:t>
            </a:r>
          </a:p>
          <a:p>
            <a:pPr>
              <a:buNone/>
            </a:pPr>
            <a:r>
              <a:rPr lang="en-US" sz="2400" dirty="0" smtClean="0"/>
              <a:t>			 = 7.8616</a:t>
            </a:r>
          </a:p>
          <a:p>
            <a:pPr>
              <a:buNone/>
            </a:pPr>
            <a:endParaRPr lang="en-US" sz="2400" dirty="0" smtClean="0"/>
          </a:p>
          <a:p>
            <a:pPr>
              <a:buNone/>
            </a:pPr>
            <a:endParaRPr lang="en-US" sz="2000" dirty="0" smtClean="0"/>
          </a:p>
          <a:p>
            <a:pPr>
              <a:buNone/>
            </a:pPr>
            <a:endParaRPr lang="en-MY" sz="2000" dirty="0"/>
          </a:p>
        </p:txBody>
      </p:sp>
      <p:cxnSp>
        <p:nvCxnSpPr>
          <p:cNvPr id="6" name="Straight Connector 5"/>
          <p:cNvCxnSpPr/>
          <p:nvPr/>
        </p:nvCxnSpPr>
        <p:spPr>
          <a:xfrm>
            <a:off x="3347864" y="764704"/>
            <a:ext cx="792088"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211960" y="404664"/>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203848" y="404664"/>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203848" y="404664"/>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44008" y="2420888"/>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644008" y="1772816"/>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995936" y="404664"/>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635896" y="2132856"/>
            <a:ext cx="1080120" cy="0"/>
          </a:xfrm>
          <a:prstGeom prst="line">
            <a:avLst/>
          </a:prstGeom>
          <a:ln w="63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555776" y="3140968"/>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860032" y="1772816"/>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555776" y="3789040"/>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203848" y="1052736"/>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995936" y="1052736"/>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563888" y="1772816"/>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771800" y="3429000"/>
            <a:ext cx="864096" cy="0"/>
          </a:xfrm>
          <a:prstGeom prst="line">
            <a:avLst/>
          </a:prstGeom>
          <a:ln w="63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923928" y="3068960"/>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563888" y="1772816"/>
            <a:ext cx="0" cy="64807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707904" y="3068960"/>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563888" y="2420888"/>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555776" y="3140968"/>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707904" y="3717032"/>
            <a:ext cx="21602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627784" y="4797152"/>
            <a:ext cx="864096" cy="0"/>
          </a:xfrm>
          <a:prstGeom prst="line">
            <a:avLst/>
          </a:prstGeom>
          <a:ln w="63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39552" y="4797152"/>
            <a:ext cx="1080120" cy="0"/>
          </a:xfrm>
          <a:prstGeom prst="line">
            <a:avLst/>
          </a:prstGeom>
          <a:ln w="6350">
            <a:solidFill>
              <a:srgbClr val="002060"/>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5220072" y="404664"/>
            <a:ext cx="3672408" cy="830997"/>
          </a:xfrm>
          <a:prstGeom prst="rect">
            <a:avLst/>
          </a:prstGeom>
          <a:noFill/>
          <a:ln w="57150">
            <a:solidFill>
              <a:srgbClr val="66FF33"/>
            </a:solidFill>
          </a:ln>
        </p:spPr>
        <p:txBody>
          <a:bodyPr wrap="square" rtlCol="0">
            <a:spAutoFit/>
          </a:bodyPr>
          <a:lstStyle/>
          <a:p>
            <a:pPr algn="ctr"/>
            <a:r>
              <a:rPr lang="en-US" sz="2400" b="1" dirty="0" smtClean="0">
                <a:solidFill>
                  <a:srgbClr val="0070C0"/>
                </a:solidFill>
              </a:rPr>
              <a:t>Finding N years using </a:t>
            </a:r>
          </a:p>
          <a:p>
            <a:pPr algn="ctr"/>
            <a:r>
              <a:rPr lang="en-US" sz="2400" b="1" dirty="0" smtClean="0">
                <a:solidFill>
                  <a:srgbClr val="0070C0"/>
                </a:solidFill>
              </a:rPr>
              <a:t>FVA due formula</a:t>
            </a:r>
            <a:endParaRPr lang="en-MY" sz="2400" b="1" dirty="0">
              <a:solidFill>
                <a:srgbClr val="0070C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760640"/>
          </a:xfrm>
        </p:spPr>
        <p:txBody>
          <a:bodyPr>
            <a:normAutofit fontScale="92500" lnSpcReduction="10000"/>
          </a:bodyPr>
          <a:lstStyle/>
          <a:p>
            <a:pPr>
              <a:buNone/>
            </a:pPr>
            <a:r>
              <a:rPr lang="en-US" sz="2600" dirty="0" smtClean="0"/>
              <a:t>(1.06)ᶰ - 1	= 7.8616 x 0.06	</a:t>
            </a:r>
          </a:p>
          <a:p>
            <a:pPr>
              <a:buNone/>
            </a:pPr>
            <a:r>
              <a:rPr lang="en-US" sz="2600" dirty="0" smtClean="0"/>
              <a:t>			= 0.4717</a:t>
            </a:r>
          </a:p>
          <a:p>
            <a:pPr>
              <a:buNone/>
            </a:pPr>
            <a:r>
              <a:rPr lang="en-US" sz="2600" dirty="0" smtClean="0"/>
              <a:t>	</a:t>
            </a:r>
          </a:p>
          <a:p>
            <a:pPr>
              <a:buNone/>
            </a:pPr>
            <a:r>
              <a:rPr lang="en-US" sz="2600" dirty="0" smtClean="0"/>
              <a:t>(1.06)ᶰ	 	= 0.4717 + 1	</a:t>
            </a:r>
          </a:p>
          <a:p>
            <a:pPr>
              <a:buNone/>
            </a:pPr>
            <a:r>
              <a:rPr lang="en-US" sz="2600" dirty="0" smtClean="0"/>
              <a:t>			= 1.4717</a:t>
            </a:r>
          </a:p>
          <a:p>
            <a:pPr>
              <a:buNone/>
            </a:pPr>
            <a:r>
              <a:rPr lang="en-US" sz="2600" dirty="0" smtClean="0"/>
              <a:t>	</a:t>
            </a:r>
          </a:p>
          <a:p>
            <a:pPr>
              <a:buNone/>
            </a:pPr>
            <a:r>
              <a:rPr lang="en-US" sz="2600" dirty="0" smtClean="0"/>
              <a:t>Log 1.06 (1.06)ᶰ  	 =  log 1.06 (</a:t>
            </a:r>
            <a:r>
              <a:rPr lang="en-US" sz="2400" dirty="0" smtClean="0"/>
              <a:t>1.4717</a:t>
            </a:r>
            <a:r>
              <a:rPr lang="en-US" sz="2600" dirty="0" smtClean="0"/>
              <a:t>)</a:t>
            </a:r>
          </a:p>
          <a:p>
            <a:pPr>
              <a:buNone/>
            </a:pPr>
            <a:r>
              <a:rPr lang="en-US" sz="2600" dirty="0" smtClean="0"/>
              <a:t>N log 1.06 (1.06)	 = log 1.06 (1.4717)</a:t>
            </a:r>
          </a:p>
          <a:p>
            <a:pPr>
              <a:buNone/>
            </a:pPr>
            <a:r>
              <a:rPr lang="en-US" sz="2600" dirty="0" smtClean="0"/>
              <a:t>		N (1)	 	 = log 1.06 (1.4717)</a:t>
            </a:r>
          </a:p>
          <a:p>
            <a:pPr>
              <a:buNone/>
            </a:pPr>
            <a:r>
              <a:rPr lang="en-US" sz="2600" dirty="0" smtClean="0"/>
              <a:t>		N	  	 = ln (1.4717)</a:t>
            </a:r>
          </a:p>
          <a:p>
            <a:pPr>
              <a:buNone/>
            </a:pPr>
            <a:r>
              <a:rPr lang="en-US" sz="2600" dirty="0" smtClean="0"/>
              <a:t>			    	      ln (1.06)</a:t>
            </a:r>
          </a:p>
          <a:p>
            <a:pPr>
              <a:buNone/>
            </a:pPr>
            <a:r>
              <a:rPr lang="en-US" sz="2600" dirty="0" smtClean="0"/>
              <a:t>			  	= 6.6316</a:t>
            </a:r>
          </a:p>
          <a:p>
            <a:pPr>
              <a:buNone/>
            </a:pPr>
            <a:r>
              <a:rPr lang="en-US" sz="2600" dirty="0" smtClean="0"/>
              <a:t>		N		= </a:t>
            </a:r>
            <a:r>
              <a:rPr lang="en-US" sz="2600" b="1" dirty="0" smtClean="0"/>
              <a:t>6.63 years</a:t>
            </a:r>
          </a:p>
          <a:p>
            <a:pPr>
              <a:buNone/>
            </a:pPr>
            <a:r>
              <a:rPr lang="en-US" dirty="0" smtClean="0"/>
              <a:t>	</a:t>
            </a:r>
          </a:p>
          <a:p>
            <a:endParaRPr lang="en-MY" dirty="0"/>
          </a:p>
        </p:txBody>
      </p:sp>
      <p:cxnSp>
        <p:nvCxnSpPr>
          <p:cNvPr id="4" name="Straight Connector 3"/>
          <p:cNvCxnSpPr/>
          <p:nvPr/>
        </p:nvCxnSpPr>
        <p:spPr>
          <a:xfrm>
            <a:off x="3563888" y="4797152"/>
            <a:ext cx="1368152" cy="0"/>
          </a:xfrm>
          <a:prstGeom prst="line">
            <a:avLst/>
          </a:prstGeom>
          <a:ln w="6350">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836712"/>
            <a:ext cx="7704856" cy="4525963"/>
          </a:xfrm>
        </p:spPr>
        <p:txBody>
          <a:bodyPr/>
          <a:lstStyle/>
          <a:p>
            <a:pPr>
              <a:buNone/>
            </a:pPr>
            <a:r>
              <a:rPr lang="en-US" sz="2400" dirty="0" smtClean="0"/>
              <a:t>therefore;</a:t>
            </a:r>
          </a:p>
          <a:p>
            <a:r>
              <a:rPr lang="en-US" sz="2400" dirty="0" smtClean="0"/>
              <a:t>With these smaller deposits, it would take 6.96 years to reach your $10,000 goal.</a:t>
            </a:r>
          </a:p>
          <a:p>
            <a:pPr>
              <a:buNone/>
            </a:pPr>
            <a:endParaRPr lang="en-US" sz="2400" dirty="0" smtClean="0"/>
          </a:p>
          <a:p>
            <a:r>
              <a:rPr lang="en-US" sz="2400" dirty="0" smtClean="0"/>
              <a:t>If you began the deposit immediately, you would have an annuity due and N would be a bit smaller, 6.63 years</a:t>
            </a:r>
            <a:endParaRPr lang="en-MY" sz="2400" dirty="0" smtClean="0"/>
          </a:p>
          <a:p>
            <a:endParaRPr lang="en-MY"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l"/>
            <a:r>
              <a:rPr lang="en-US" sz="3200" dirty="0" smtClean="0"/>
              <a:t>6-10c: Finding the Interest Rate, I</a:t>
            </a:r>
            <a:endParaRPr lang="en-MY" sz="3200" dirty="0"/>
          </a:p>
        </p:txBody>
      </p:sp>
      <p:sp>
        <p:nvSpPr>
          <p:cNvPr id="3" name="Content Placeholder 2"/>
          <p:cNvSpPr>
            <a:spLocks noGrp="1"/>
          </p:cNvSpPr>
          <p:nvPr>
            <p:ph idx="1"/>
          </p:nvPr>
        </p:nvSpPr>
        <p:spPr>
          <a:xfrm>
            <a:off x="457200" y="1340768"/>
            <a:ext cx="8229600" cy="4785395"/>
          </a:xfrm>
        </p:spPr>
        <p:txBody>
          <a:bodyPr>
            <a:normAutofit/>
          </a:bodyPr>
          <a:lstStyle/>
          <a:p>
            <a:r>
              <a:rPr lang="en-US" sz="2400" dirty="0" smtClean="0"/>
              <a:t>Suppose you can only save $1,200 annually, but you still need the $10,000 in 5 years. What rate of return would enable you to achieve your goal?</a:t>
            </a:r>
          </a:p>
          <a:p>
            <a:pPr>
              <a:buNone/>
            </a:pPr>
            <a:endParaRPr lang="en-US" sz="2400" dirty="0" smtClean="0"/>
          </a:p>
          <a:p>
            <a:r>
              <a:rPr lang="en-US" sz="2400" dirty="0" smtClean="0"/>
              <a:t>Find I</a:t>
            </a:r>
          </a:p>
          <a:p>
            <a:pPr>
              <a:buNone/>
            </a:pPr>
            <a:endParaRPr lang="en-US" sz="2400" dirty="0" smtClean="0"/>
          </a:p>
          <a:p>
            <a:r>
              <a:rPr lang="en-US" sz="2400" dirty="0" smtClean="0">
                <a:solidFill>
                  <a:srgbClr val="FF0000"/>
                </a:solidFill>
              </a:rPr>
              <a:t>We can not use the formula to solve for interest rate, it is an iterative process (trial and error).</a:t>
            </a:r>
          </a:p>
          <a:p>
            <a:pPr>
              <a:buNone/>
            </a:pPr>
            <a:endParaRPr lang="en-US" sz="2400" dirty="0" smtClean="0">
              <a:solidFill>
                <a:srgbClr val="FF0000"/>
              </a:solidFill>
            </a:endParaRPr>
          </a:p>
          <a:p>
            <a:r>
              <a:rPr lang="en-US" sz="2400" dirty="0" smtClean="0"/>
              <a:t>The Interest that we are looking for is known as IRR (Internal rate of return).</a:t>
            </a:r>
          </a:p>
          <a:p>
            <a:endParaRPr lang="en-US" sz="2400" dirty="0"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b="1" dirty="0" smtClean="0"/>
              <a:t/>
            </a:r>
            <a:br>
              <a:rPr lang="en-US" sz="3100" b="1" dirty="0" smtClean="0"/>
            </a:br>
            <a:r>
              <a:rPr lang="en-US" sz="3100" b="1" dirty="0" smtClean="0"/>
              <a:t>To calculate interest rate (I) using trial and error method:</a:t>
            </a:r>
            <a:r>
              <a:rPr lang="en-US" b="1" dirty="0" smtClean="0"/>
              <a:t/>
            </a:r>
            <a:br>
              <a:rPr lang="en-US" b="1" dirty="0" smtClean="0"/>
            </a:br>
            <a:endParaRPr lang="en-MY" dirty="0"/>
          </a:p>
        </p:txBody>
      </p:sp>
      <p:sp>
        <p:nvSpPr>
          <p:cNvPr id="3" name="Content Placeholder 2"/>
          <p:cNvSpPr>
            <a:spLocks noGrp="1"/>
          </p:cNvSpPr>
          <p:nvPr>
            <p:ph idx="1"/>
          </p:nvPr>
        </p:nvSpPr>
        <p:spPr>
          <a:xfrm>
            <a:off x="457200" y="1340768"/>
            <a:ext cx="8229600" cy="4785395"/>
          </a:xfrm>
        </p:spPr>
        <p:txBody>
          <a:bodyPr/>
          <a:lstStyle/>
          <a:p>
            <a:pPr>
              <a:buNone/>
            </a:pPr>
            <a:r>
              <a:rPr lang="en-US" sz="2400" dirty="0" smtClean="0"/>
              <a:t>FVA</a:t>
            </a:r>
            <a:r>
              <a:rPr lang="en-US" sz="1800" dirty="0" smtClean="0"/>
              <a:t>ordinary</a:t>
            </a:r>
            <a:r>
              <a:rPr lang="en-US" sz="2400" dirty="0" smtClean="0"/>
              <a:t>	= PMT  (1+I)ᶰ-1</a:t>
            </a:r>
          </a:p>
          <a:p>
            <a:pPr>
              <a:buNone/>
            </a:pPr>
            <a:r>
              <a:rPr lang="en-US" sz="2400" dirty="0" smtClean="0"/>
              <a:t>				        I</a:t>
            </a:r>
          </a:p>
          <a:p>
            <a:pPr>
              <a:buNone/>
            </a:pPr>
            <a:r>
              <a:rPr lang="en-US" sz="2400" dirty="0" smtClean="0"/>
              <a:t>FVA</a:t>
            </a:r>
            <a:r>
              <a:rPr lang="en-US" sz="1800" dirty="0" smtClean="0"/>
              <a:t>5	= $10,000 = $1,200 [ (1+I)⁵-1] /1</a:t>
            </a:r>
          </a:p>
          <a:p>
            <a:pPr>
              <a:buNone/>
            </a:pPr>
            <a:r>
              <a:rPr lang="en-US" sz="2400" dirty="0" smtClean="0"/>
              <a:t>	</a:t>
            </a:r>
          </a:p>
          <a:p>
            <a:pPr>
              <a:buFont typeface="Wingdings" pitchFamily="2" charset="2"/>
              <a:buChar char="§"/>
            </a:pPr>
            <a:r>
              <a:rPr lang="en-US" sz="2400" dirty="0" smtClean="0"/>
              <a:t>Try to find the </a:t>
            </a:r>
            <a:r>
              <a:rPr lang="en-US" sz="2400" u="sng" dirty="0" smtClean="0"/>
              <a:t>two interest rates </a:t>
            </a:r>
            <a:r>
              <a:rPr lang="en-US" sz="2400" dirty="0" smtClean="0"/>
              <a:t>which bring values close to FVA</a:t>
            </a:r>
            <a:r>
              <a:rPr lang="en-US" sz="1800" dirty="0" smtClean="0"/>
              <a:t>N</a:t>
            </a:r>
            <a:r>
              <a:rPr lang="en-US" sz="2400" dirty="0" smtClean="0"/>
              <a:t> = $10,000. </a:t>
            </a:r>
          </a:p>
          <a:p>
            <a:pPr>
              <a:buFont typeface="Wingdings" pitchFamily="2" charset="2"/>
              <a:buChar char="§"/>
            </a:pPr>
            <a:r>
              <a:rPr lang="en-US" sz="2400" dirty="0" smtClean="0"/>
              <a:t>Here the Interest or IRR should be in between that the two rates</a:t>
            </a:r>
          </a:p>
          <a:p>
            <a:pPr>
              <a:buNone/>
            </a:pPr>
            <a:endParaRPr lang="en-US" sz="2400" dirty="0" smtClean="0"/>
          </a:p>
        </p:txBody>
      </p:sp>
      <p:cxnSp>
        <p:nvCxnSpPr>
          <p:cNvPr id="5" name="Straight Connector 4"/>
          <p:cNvCxnSpPr/>
          <p:nvPr/>
        </p:nvCxnSpPr>
        <p:spPr>
          <a:xfrm>
            <a:off x="3347864" y="1772816"/>
            <a:ext cx="93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275856" y="1196752"/>
            <a:ext cx="0" cy="8640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275856" y="1196752"/>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275856" y="206084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355976" y="1268760"/>
            <a:ext cx="0" cy="792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211960" y="1196752"/>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211960" y="2060848"/>
            <a:ext cx="1440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563888" y="4653136"/>
            <a:ext cx="2520280" cy="369332"/>
          </a:xfrm>
          <a:prstGeom prst="rect">
            <a:avLst/>
          </a:prstGeom>
          <a:solidFill>
            <a:srgbClr val="FFFF00"/>
          </a:solidFill>
          <a:ln>
            <a:solidFill>
              <a:srgbClr val="FF6600"/>
            </a:solidFill>
          </a:ln>
        </p:spPr>
        <p:txBody>
          <a:bodyPr wrap="square" rtlCol="0">
            <a:spAutoFit/>
          </a:bodyPr>
          <a:lstStyle/>
          <a:p>
            <a:pPr algn="ctr"/>
            <a:r>
              <a:rPr lang="en-US" dirty="0" smtClean="0"/>
              <a:t>x% &lt; IRR &lt;y%</a:t>
            </a:r>
            <a:endParaRPr lang="en-MY"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548680"/>
            <a:ext cx="8568952" cy="5577483"/>
          </a:xfrm>
        </p:spPr>
        <p:txBody>
          <a:bodyPr>
            <a:normAutofit/>
          </a:bodyPr>
          <a:lstStyle/>
          <a:p>
            <a:pPr>
              <a:buNone/>
            </a:pPr>
            <a:r>
              <a:rPr lang="en-US" sz="2400" u="sng" dirty="0" smtClean="0"/>
              <a:t>Try I= 20%</a:t>
            </a:r>
            <a:endParaRPr lang="en-MY" sz="2400" u="sng" dirty="0" smtClean="0"/>
          </a:p>
          <a:p>
            <a:pPr>
              <a:buNone/>
            </a:pPr>
            <a:r>
              <a:rPr lang="en-US" sz="2400" dirty="0" smtClean="0"/>
              <a:t>$10,000   =  $1,200 (1.2)⁵-1</a:t>
            </a:r>
          </a:p>
          <a:p>
            <a:pPr>
              <a:buNone/>
            </a:pPr>
            <a:r>
              <a:rPr lang="en-US" sz="2400" dirty="0" smtClean="0"/>
              <a:t>				0.2</a:t>
            </a:r>
          </a:p>
          <a:p>
            <a:pPr>
              <a:buNone/>
            </a:pPr>
            <a:r>
              <a:rPr lang="en-US" sz="2400" dirty="0" smtClean="0"/>
              <a:t>$10,000   ≠    </a:t>
            </a:r>
            <a:r>
              <a:rPr lang="en-US" sz="2400" b="1" dirty="0" smtClean="0"/>
              <a:t>$8,929.92</a:t>
            </a:r>
          </a:p>
          <a:p>
            <a:pPr>
              <a:buNone/>
            </a:pPr>
            <a:endParaRPr lang="en-US" sz="2400" b="1" dirty="0" smtClean="0"/>
          </a:p>
          <a:p>
            <a:pPr>
              <a:buNone/>
            </a:pPr>
            <a:r>
              <a:rPr lang="en-US" sz="2400" u="sng" dirty="0" smtClean="0"/>
              <a:t>Try I= 30%</a:t>
            </a:r>
            <a:endParaRPr lang="en-MY" sz="2400" u="sng" dirty="0" smtClean="0"/>
          </a:p>
          <a:p>
            <a:pPr>
              <a:buNone/>
            </a:pPr>
            <a:r>
              <a:rPr lang="en-US" sz="2400" dirty="0" smtClean="0"/>
              <a:t>$10,000   =  $1,200 (1.3)⁵-1</a:t>
            </a:r>
          </a:p>
          <a:p>
            <a:pPr>
              <a:buNone/>
            </a:pPr>
            <a:r>
              <a:rPr lang="en-US" sz="2400" dirty="0" smtClean="0"/>
              <a:t>				0.3</a:t>
            </a:r>
          </a:p>
          <a:p>
            <a:pPr>
              <a:buNone/>
            </a:pPr>
            <a:r>
              <a:rPr lang="en-US" sz="2400" dirty="0" smtClean="0"/>
              <a:t>$10,000   ≠    </a:t>
            </a:r>
            <a:r>
              <a:rPr lang="en-US" sz="2400" b="1" dirty="0" smtClean="0"/>
              <a:t>$10,851.72</a:t>
            </a:r>
          </a:p>
          <a:p>
            <a:pPr>
              <a:buNone/>
            </a:pPr>
            <a:endParaRPr lang="en-US" sz="2400" dirty="0" smtClean="0"/>
          </a:p>
          <a:p>
            <a:pPr>
              <a:buNone/>
            </a:pPr>
            <a:endParaRPr lang="en-MY" sz="2400" b="1" dirty="0"/>
          </a:p>
        </p:txBody>
      </p:sp>
      <p:cxnSp>
        <p:nvCxnSpPr>
          <p:cNvPr id="5" name="Straight Connector 4"/>
          <p:cNvCxnSpPr/>
          <p:nvPr/>
        </p:nvCxnSpPr>
        <p:spPr>
          <a:xfrm>
            <a:off x="2843808" y="1484784"/>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699792" y="1052736"/>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707904" y="1052736"/>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699792" y="1052736"/>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3563888" y="105273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3635896" y="1700808"/>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699792" y="1700808"/>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843808" y="3645024"/>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779912" y="3284984"/>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699792" y="3212976"/>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699792" y="3212976"/>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699792" y="3861048"/>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635896" y="393305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635896" y="3284984"/>
            <a:ext cx="144016"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156176" y="1340768"/>
            <a:ext cx="2448272" cy="2677656"/>
          </a:xfrm>
          <a:prstGeom prst="rect">
            <a:avLst/>
          </a:prstGeom>
          <a:solidFill>
            <a:srgbClr val="FFFF00"/>
          </a:solidFill>
          <a:ln w="57150">
            <a:solidFill>
              <a:srgbClr val="FF0000"/>
            </a:solidFill>
          </a:ln>
        </p:spPr>
        <p:txBody>
          <a:bodyPr wrap="square" rtlCol="0">
            <a:spAutoFit/>
          </a:bodyPr>
          <a:lstStyle/>
          <a:p>
            <a:pPr algn="ctr"/>
            <a:r>
              <a:rPr lang="en-US" sz="2400" dirty="0" smtClean="0"/>
              <a:t>Both rates give values far away from $10,000.</a:t>
            </a:r>
          </a:p>
          <a:p>
            <a:pPr algn="ctr"/>
            <a:r>
              <a:rPr lang="en-US" sz="2400" dirty="0" smtClean="0"/>
              <a:t>So, try other rates, until you get 2 closest value to $10,000</a:t>
            </a:r>
            <a:endParaRPr lang="en-MY" sz="2400" dirty="0"/>
          </a:p>
        </p:txBody>
      </p:sp>
      <p:cxnSp>
        <p:nvCxnSpPr>
          <p:cNvPr id="26" name="Straight Arrow Connector 25"/>
          <p:cNvCxnSpPr>
            <a:stCxn id="24" idx="1"/>
          </p:cNvCxnSpPr>
          <p:nvPr/>
        </p:nvCxnSpPr>
        <p:spPr>
          <a:xfrm flipH="1" flipV="1">
            <a:off x="3203848" y="2060848"/>
            <a:ext cx="2952328" cy="61874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4" idx="1"/>
          </p:cNvCxnSpPr>
          <p:nvPr/>
        </p:nvCxnSpPr>
        <p:spPr>
          <a:xfrm flipH="1">
            <a:off x="3419872" y="2679596"/>
            <a:ext cx="2736304" cy="154149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normAutofit/>
          </a:bodyPr>
          <a:lstStyle/>
          <a:p>
            <a:pPr>
              <a:buNone/>
            </a:pPr>
            <a:r>
              <a:rPr lang="en-US" sz="2400" u="sng" dirty="0" smtClean="0"/>
              <a:t>Try I= 25%</a:t>
            </a:r>
            <a:endParaRPr lang="en-MY" sz="2400" u="sng" dirty="0" smtClean="0"/>
          </a:p>
          <a:p>
            <a:pPr>
              <a:buNone/>
            </a:pPr>
            <a:r>
              <a:rPr lang="en-US" sz="2400" dirty="0" smtClean="0"/>
              <a:t>$10,000   =  $1,200 (1.25)⁵-1</a:t>
            </a:r>
          </a:p>
          <a:p>
            <a:pPr>
              <a:buNone/>
            </a:pPr>
            <a:r>
              <a:rPr lang="en-US" sz="2400" dirty="0" smtClean="0"/>
              <a:t>				0.25</a:t>
            </a:r>
          </a:p>
          <a:p>
            <a:pPr>
              <a:buNone/>
            </a:pPr>
            <a:r>
              <a:rPr lang="en-US" sz="2400" dirty="0" smtClean="0"/>
              <a:t>$10,000   ≠    </a:t>
            </a:r>
            <a:r>
              <a:rPr lang="en-US" sz="2400" b="1" dirty="0" smtClean="0"/>
              <a:t>$9,848.44</a:t>
            </a:r>
          </a:p>
          <a:p>
            <a:pPr>
              <a:buNone/>
            </a:pPr>
            <a:endParaRPr lang="en-US" sz="2400" b="1" dirty="0" smtClean="0"/>
          </a:p>
          <a:p>
            <a:pPr>
              <a:buNone/>
            </a:pPr>
            <a:r>
              <a:rPr lang="en-US" sz="2400" u="sng" dirty="0" smtClean="0"/>
              <a:t>Try I= 26%</a:t>
            </a:r>
            <a:endParaRPr lang="en-MY" sz="2400" u="sng" dirty="0" smtClean="0"/>
          </a:p>
          <a:p>
            <a:pPr>
              <a:buNone/>
            </a:pPr>
            <a:r>
              <a:rPr lang="en-US" sz="2400" dirty="0" smtClean="0"/>
              <a:t>$10,000   =  $1,200 (1.26)⁵-1</a:t>
            </a:r>
          </a:p>
          <a:p>
            <a:pPr>
              <a:buNone/>
            </a:pPr>
            <a:r>
              <a:rPr lang="en-US" sz="2400" dirty="0" smtClean="0"/>
              <a:t>				0.26</a:t>
            </a:r>
          </a:p>
          <a:p>
            <a:pPr>
              <a:buNone/>
            </a:pPr>
            <a:r>
              <a:rPr lang="en-US" sz="2400" dirty="0" smtClean="0"/>
              <a:t>$10,000   ≠    </a:t>
            </a:r>
            <a:r>
              <a:rPr lang="en-US" sz="2400" b="1" dirty="0" smtClean="0"/>
              <a:t>$10,042.14</a:t>
            </a:r>
          </a:p>
          <a:p>
            <a:pPr>
              <a:buNone/>
            </a:pPr>
            <a:endParaRPr lang="en-US" sz="2400" u="sng" dirty="0" smtClean="0"/>
          </a:p>
          <a:p>
            <a:pPr>
              <a:buNone/>
            </a:pPr>
            <a:r>
              <a:rPr lang="en-US" sz="2400" u="sng" dirty="0" smtClean="0"/>
              <a:t>Try I= 27%</a:t>
            </a:r>
            <a:endParaRPr lang="en-MY" sz="2400" u="sng" dirty="0" smtClean="0"/>
          </a:p>
          <a:p>
            <a:pPr>
              <a:buNone/>
            </a:pPr>
            <a:r>
              <a:rPr lang="en-US" sz="2400" dirty="0" smtClean="0"/>
              <a:t>$10,000   =  $1,200 (1.27)⁵-1</a:t>
            </a:r>
          </a:p>
          <a:p>
            <a:pPr>
              <a:buNone/>
            </a:pPr>
            <a:r>
              <a:rPr lang="en-US" sz="2400" dirty="0" smtClean="0"/>
              <a:t>				0.27</a:t>
            </a:r>
          </a:p>
          <a:p>
            <a:pPr>
              <a:buNone/>
            </a:pPr>
            <a:r>
              <a:rPr lang="en-US" sz="2400" dirty="0" smtClean="0"/>
              <a:t>$10,000   ≠    </a:t>
            </a:r>
            <a:r>
              <a:rPr lang="en-US" sz="2400" b="1" dirty="0" smtClean="0"/>
              <a:t>$10,239.28</a:t>
            </a:r>
            <a:endParaRPr lang="en-MY" sz="2400" dirty="0" smtClean="0"/>
          </a:p>
          <a:p>
            <a:pPr>
              <a:buNone/>
            </a:pPr>
            <a:endParaRPr lang="en-MY" sz="2400" dirty="0"/>
          </a:p>
        </p:txBody>
      </p:sp>
      <p:cxnSp>
        <p:nvCxnSpPr>
          <p:cNvPr id="5" name="Straight Connector 4"/>
          <p:cNvCxnSpPr/>
          <p:nvPr/>
        </p:nvCxnSpPr>
        <p:spPr>
          <a:xfrm>
            <a:off x="3131840" y="1196752"/>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915816" y="692696"/>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067944" y="692696"/>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915816" y="69269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3995936" y="692696"/>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915816" y="148478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3995936" y="1484784"/>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059832" y="3356992"/>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067944" y="292494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915816" y="292494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915816" y="292494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915816" y="371703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923928" y="292494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923928" y="371703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059832" y="5517232"/>
            <a:ext cx="8640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067944" y="508518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915816" y="508518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915816" y="587727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923928" y="587727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923928" y="508518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915816" y="5085184"/>
            <a:ext cx="144016"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652120" y="1124744"/>
            <a:ext cx="2952328" cy="3416320"/>
          </a:xfrm>
          <a:prstGeom prst="rect">
            <a:avLst/>
          </a:prstGeom>
          <a:solidFill>
            <a:srgbClr val="FFFF00"/>
          </a:solidFill>
          <a:ln w="57150">
            <a:solidFill>
              <a:srgbClr val="00B0F0"/>
            </a:solidFill>
          </a:ln>
        </p:spPr>
        <p:txBody>
          <a:bodyPr wrap="square" rtlCol="0">
            <a:spAutoFit/>
          </a:bodyPr>
          <a:lstStyle/>
          <a:p>
            <a:pPr algn="ctr"/>
            <a:r>
              <a:rPr lang="en-US" sz="2400" dirty="0" smtClean="0"/>
              <a:t>Among these 3 rates, choose 2 the closest to PVA</a:t>
            </a:r>
            <a:r>
              <a:rPr lang="en-US" sz="1600" dirty="0" smtClean="0"/>
              <a:t>5</a:t>
            </a:r>
            <a:r>
              <a:rPr lang="en-US" sz="2400" dirty="0" smtClean="0"/>
              <a:t>=$10,000.</a:t>
            </a:r>
          </a:p>
          <a:p>
            <a:pPr algn="ctr"/>
            <a:endParaRPr lang="en-US" sz="2400" dirty="0" smtClean="0"/>
          </a:p>
          <a:p>
            <a:pPr algn="ctr"/>
            <a:r>
              <a:rPr lang="en-US" sz="2400" dirty="0" smtClean="0"/>
              <a:t>Here, the closest are :</a:t>
            </a:r>
          </a:p>
          <a:p>
            <a:pPr algn="ctr"/>
            <a:r>
              <a:rPr lang="en-US" sz="2400" b="1" dirty="0" smtClean="0"/>
              <a:t>I=25% </a:t>
            </a:r>
            <a:r>
              <a:rPr lang="en-US" sz="2400" dirty="0" smtClean="0"/>
              <a:t>with </a:t>
            </a:r>
            <a:r>
              <a:rPr lang="en-US" sz="2400" b="1" dirty="0" smtClean="0"/>
              <a:t>value=$9,848.44 </a:t>
            </a:r>
          </a:p>
          <a:p>
            <a:pPr algn="ctr"/>
            <a:r>
              <a:rPr lang="en-US" sz="2400" dirty="0" smtClean="0"/>
              <a:t>and </a:t>
            </a:r>
            <a:r>
              <a:rPr lang="en-US" sz="2400" b="1" dirty="0" smtClean="0"/>
              <a:t>I=26% </a:t>
            </a:r>
            <a:r>
              <a:rPr lang="en-US" sz="2400" dirty="0" smtClean="0"/>
              <a:t>with </a:t>
            </a:r>
            <a:r>
              <a:rPr lang="en-US" sz="2400" b="1" dirty="0" smtClean="0"/>
              <a:t>value=$10,042.14</a:t>
            </a:r>
            <a:endParaRPr lang="en-MY" sz="2400" b="1" dirty="0"/>
          </a:p>
        </p:txBody>
      </p:sp>
      <p:cxnSp>
        <p:nvCxnSpPr>
          <p:cNvPr id="36" name="Straight Arrow Connector 35"/>
          <p:cNvCxnSpPr>
            <a:stCxn id="34" idx="1"/>
          </p:cNvCxnSpPr>
          <p:nvPr/>
        </p:nvCxnSpPr>
        <p:spPr>
          <a:xfrm flipH="1" flipV="1">
            <a:off x="3419872" y="1844824"/>
            <a:ext cx="2232248" cy="988080"/>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4" idx="1"/>
          </p:cNvCxnSpPr>
          <p:nvPr/>
        </p:nvCxnSpPr>
        <p:spPr>
          <a:xfrm flipH="1">
            <a:off x="3635896" y="2832904"/>
            <a:ext cx="2016224" cy="1172160"/>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648072"/>
          </a:xfrm>
        </p:spPr>
        <p:txBody>
          <a:bodyPr>
            <a:normAutofit/>
          </a:bodyPr>
          <a:lstStyle/>
          <a:p>
            <a:pPr algn="l"/>
            <a:r>
              <a:rPr lang="en-US" sz="2800" dirty="0" smtClean="0"/>
              <a:t>To calculate interest rate  using interpolation method:</a:t>
            </a:r>
            <a:endParaRPr lang="en-MY" sz="2800" dirty="0"/>
          </a:p>
        </p:txBody>
      </p:sp>
      <p:sp>
        <p:nvSpPr>
          <p:cNvPr id="3" name="Content Placeholder 2"/>
          <p:cNvSpPr>
            <a:spLocks noGrp="1"/>
          </p:cNvSpPr>
          <p:nvPr>
            <p:ph idx="1"/>
          </p:nvPr>
        </p:nvSpPr>
        <p:spPr>
          <a:xfrm>
            <a:off x="457200" y="3140968"/>
            <a:ext cx="8229600" cy="2985195"/>
          </a:xfrm>
        </p:spPr>
        <p:txBody>
          <a:bodyPr>
            <a:normAutofit/>
          </a:bodyPr>
          <a:lstStyle/>
          <a:p>
            <a:pPr>
              <a:buNone/>
            </a:pPr>
            <a:r>
              <a:rPr lang="en-US" sz="2400" dirty="0" smtClean="0"/>
              <a:t>Therefore,</a:t>
            </a:r>
          </a:p>
          <a:p>
            <a:pPr>
              <a:buNone/>
            </a:pPr>
            <a:r>
              <a:rPr lang="en-US" sz="2400" dirty="0" smtClean="0"/>
              <a:t>IRR=25% + $9,848.44 x (0.26-0.25)</a:t>
            </a:r>
          </a:p>
          <a:p>
            <a:pPr>
              <a:buNone/>
            </a:pPr>
            <a:r>
              <a:rPr lang="en-US" sz="2400" dirty="0" smtClean="0"/>
              <a:t>		       $9,848.44 - $10,042.14</a:t>
            </a:r>
          </a:p>
          <a:p>
            <a:pPr>
              <a:buNone/>
            </a:pPr>
            <a:r>
              <a:rPr lang="en-US" sz="2400" dirty="0" smtClean="0"/>
              <a:t>	  = 25%+ ($98.4844 / -$193.7)</a:t>
            </a:r>
          </a:p>
          <a:p>
            <a:pPr>
              <a:buNone/>
            </a:pPr>
            <a:r>
              <a:rPr lang="en-US" sz="2400" dirty="0" smtClean="0"/>
              <a:t>        = -0.2584</a:t>
            </a:r>
          </a:p>
          <a:p>
            <a:pPr>
              <a:buNone/>
            </a:pPr>
            <a:r>
              <a:rPr lang="en-US" sz="2400" dirty="0" smtClean="0"/>
              <a:t>	   = </a:t>
            </a:r>
            <a:r>
              <a:rPr lang="en-US" sz="2400" b="1" u="sng" dirty="0" smtClean="0"/>
              <a:t>25.8%</a:t>
            </a:r>
            <a:endParaRPr lang="en-MY" sz="2400" b="1" u="sng" dirty="0"/>
          </a:p>
        </p:txBody>
      </p:sp>
      <p:sp>
        <p:nvSpPr>
          <p:cNvPr id="4" name="TextBox 3"/>
          <p:cNvSpPr txBox="1"/>
          <p:nvPr/>
        </p:nvSpPr>
        <p:spPr>
          <a:xfrm>
            <a:off x="323528" y="1196752"/>
            <a:ext cx="8496944" cy="1323439"/>
          </a:xfrm>
          <a:prstGeom prst="rect">
            <a:avLst/>
          </a:prstGeom>
          <a:solidFill>
            <a:schemeClr val="accent5">
              <a:lumMod val="20000"/>
              <a:lumOff val="80000"/>
            </a:schemeClr>
          </a:solidFill>
          <a:ln w="57150">
            <a:solidFill>
              <a:schemeClr val="accent6"/>
            </a:solidFill>
          </a:ln>
        </p:spPr>
        <p:txBody>
          <a:bodyPr wrap="square" rtlCol="0">
            <a:spAutoFit/>
          </a:bodyPr>
          <a:lstStyle/>
          <a:p>
            <a:endParaRPr lang="en-US" sz="2000" dirty="0" smtClean="0"/>
          </a:p>
          <a:p>
            <a:r>
              <a:rPr lang="en-US" sz="2000" dirty="0" smtClean="0"/>
              <a:t>IRR        = Lowest discount rate  +  PV at lower rate  x (Higher rate – Lower rate)</a:t>
            </a:r>
          </a:p>
          <a:p>
            <a:r>
              <a:rPr lang="en-US" sz="2000" dirty="0" smtClean="0"/>
              <a:t>			                   PV at lower rate  - PV higher rate</a:t>
            </a:r>
          </a:p>
          <a:p>
            <a:r>
              <a:rPr lang="en-US" sz="2000" dirty="0" smtClean="0"/>
              <a:t> </a:t>
            </a:r>
            <a:endParaRPr lang="en-MY" sz="2000" dirty="0"/>
          </a:p>
        </p:txBody>
      </p:sp>
      <p:cxnSp>
        <p:nvCxnSpPr>
          <p:cNvPr id="6" name="Straight Connector 5"/>
          <p:cNvCxnSpPr/>
          <p:nvPr/>
        </p:nvCxnSpPr>
        <p:spPr>
          <a:xfrm>
            <a:off x="3851920" y="1844824"/>
            <a:ext cx="46805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851920" y="1484784"/>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604448" y="1484784"/>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851920" y="148478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8460432" y="148478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8460432" y="213285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851920" y="213285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907704" y="4005064"/>
            <a:ext cx="28803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835696" y="364502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835696" y="3645024"/>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835696" y="4437112"/>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32040" y="3573016"/>
            <a:ext cx="0" cy="936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788024" y="3573016"/>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4860032" y="4509120"/>
            <a:ext cx="7200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a:bodyPr>
          <a:lstStyle/>
          <a:p>
            <a:r>
              <a:rPr lang="en-US" sz="2400" dirty="0" smtClean="0"/>
              <a:t>You must earn 25.78% to reach your goal.</a:t>
            </a:r>
          </a:p>
          <a:p>
            <a:pPr>
              <a:buNone/>
            </a:pPr>
            <a:endParaRPr lang="en-US" sz="2400" dirty="0" smtClean="0"/>
          </a:p>
          <a:p>
            <a:r>
              <a:rPr lang="en-US" sz="2400" dirty="0" smtClean="0"/>
              <a:t>So here, you might consider changing your plan ----save more, lower your $10,000 target or extend your time horizon.</a:t>
            </a:r>
            <a:endParaRPr lang="en-MY" sz="2400" dirty="0" smtClean="0"/>
          </a:p>
          <a:p>
            <a:endParaRPr lang="en-MY"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b="1" dirty="0" smtClean="0"/>
              <a:t>Self-test Question</a:t>
            </a:r>
            <a:endParaRPr lang="en-MY" dirty="0"/>
          </a:p>
        </p:txBody>
      </p:sp>
      <p:sp>
        <p:nvSpPr>
          <p:cNvPr id="3" name="Content Placeholder 2"/>
          <p:cNvSpPr>
            <a:spLocks noGrp="1"/>
          </p:cNvSpPr>
          <p:nvPr>
            <p:ph idx="1"/>
          </p:nvPr>
        </p:nvSpPr>
        <p:spPr/>
        <p:txBody>
          <a:bodyPr>
            <a:normAutofit/>
          </a:bodyPr>
          <a:lstStyle/>
          <a:p>
            <a:pPr marL="514350" indent="-514350">
              <a:buAutoNum type="arabicPeriod"/>
            </a:pPr>
            <a:r>
              <a:rPr lang="en-US" sz="2400" dirty="0" smtClean="0"/>
              <a:t>Your rich uncle named you beneficiary of his life insurance policy. The insurance company gives you of choice $100,000 today or a 12-year annuity of $12,000 at the end of each year. What rate of return is the company offering?</a:t>
            </a:r>
          </a:p>
          <a:p>
            <a:pPr marL="514350" indent="-514350">
              <a:buNone/>
            </a:pPr>
            <a:r>
              <a:rPr lang="en-US" sz="2400" dirty="0" smtClean="0"/>
              <a:t>	</a:t>
            </a:r>
            <a:r>
              <a:rPr lang="en-US" sz="2000" b="1" dirty="0" smtClean="0"/>
              <a:t>(6.11%)</a:t>
            </a:r>
            <a:endParaRPr lang="en-MY" sz="2000"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a:solidFill>
            <a:srgbClr val="FFFF99"/>
          </a:solidFill>
        </p:spPr>
        <p:txBody>
          <a:bodyPr>
            <a:normAutofit/>
          </a:bodyPr>
          <a:lstStyle/>
          <a:p>
            <a:r>
              <a:rPr lang="en-US" sz="2000" b="1" dirty="0" smtClean="0"/>
              <a:t>Answer to Self-test Question</a:t>
            </a:r>
            <a:endParaRPr lang="en-MY" sz="2000" dirty="0"/>
          </a:p>
        </p:txBody>
      </p:sp>
      <p:sp>
        <p:nvSpPr>
          <p:cNvPr id="3" name="Content Placeholder 2"/>
          <p:cNvSpPr>
            <a:spLocks noGrp="1"/>
          </p:cNvSpPr>
          <p:nvPr>
            <p:ph idx="1"/>
          </p:nvPr>
        </p:nvSpPr>
        <p:spPr>
          <a:xfrm>
            <a:off x="457200" y="1052736"/>
            <a:ext cx="8229600" cy="5073427"/>
          </a:xfrm>
        </p:spPr>
        <p:txBody>
          <a:bodyPr/>
          <a:lstStyle/>
          <a:p>
            <a:pPr marL="514350" indent="-514350">
              <a:buAutoNum type="arabicPeriod"/>
            </a:pPr>
            <a:r>
              <a:rPr lang="en-US" sz="1800" dirty="0" smtClean="0"/>
              <a:t>Your rich uncle named you beneficiary of his life insurance policy. The insurance company gives you of choice $100,000 today or a 12-year annuity of $12,000 at the end of each year. What rate of return is the company offering?</a:t>
            </a:r>
          </a:p>
          <a:p>
            <a:pPr marL="514350" indent="-514350">
              <a:buNone/>
            </a:pPr>
            <a:r>
              <a:rPr lang="en-US" sz="1100" dirty="0" smtClean="0"/>
              <a:t>	</a:t>
            </a:r>
            <a:r>
              <a:rPr lang="en-US" sz="1100" b="1" dirty="0" smtClean="0"/>
              <a:t>(6.11%)</a:t>
            </a:r>
            <a:endParaRPr lang="en-MY" sz="1100" b="1" dirty="0" smtClean="0"/>
          </a:p>
          <a:p>
            <a:pPr>
              <a:buNone/>
            </a:pPr>
            <a:endParaRPr lang="en-US" sz="2000" u="sng" dirty="0" smtClean="0"/>
          </a:p>
          <a:p>
            <a:pPr>
              <a:buNone/>
            </a:pPr>
            <a:r>
              <a:rPr lang="en-US" sz="2000" dirty="0" smtClean="0"/>
              <a:t>Given option:	a) PV=$100,000</a:t>
            </a:r>
          </a:p>
          <a:p>
            <a:pPr>
              <a:buNone/>
            </a:pPr>
            <a:r>
              <a:rPr lang="en-US" sz="2000" dirty="0" smtClean="0"/>
              <a:t>			b) PMT=$12,000 	N=12,	I=?</a:t>
            </a:r>
          </a:p>
          <a:p>
            <a:pPr>
              <a:buNone/>
            </a:pPr>
            <a:endParaRPr lang="en-US" sz="2000" dirty="0" smtClean="0"/>
          </a:p>
          <a:p>
            <a:pPr>
              <a:buNone/>
            </a:pPr>
            <a:r>
              <a:rPr lang="en-US" sz="2000" u="sng" dirty="0" smtClean="0"/>
              <a:t>Solution:</a:t>
            </a:r>
          </a:p>
          <a:p>
            <a:pPr>
              <a:buNone/>
            </a:pPr>
            <a:r>
              <a:rPr lang="en-US" sz="2000" dirty="0" smtClean="0"/>
              <a:t>PVA</a:t>
            </a:r>
            <a:r>
              <a:rPr lang="en-US" sz="1600" dirty="0" smtClean="0"/>
              <a:t>N</a:t>
            </a:r>
            <a:r>
              <a:rPr lang="en-US" sz="2000" dirty="0" smtClean="0"/>
              <a:t>=PMT 1- (1/1+I)ᶰ</a:t>
            </a:r>
          </a:p>
          <a:p>
            <a:pPr>
              <a:buNone/>
            </a:pPr>
            <a:r>
              <a:rPr lang="en-US" sz="2000" dirty="0" smtClean="0"/>
              <a:t>                             I</a:t>
            </a:r>
          </a:p>
          <a:p>
            <a:pPr>
              <a:buNone/>
            </a:pPr>
            <a:endParaRPr lang="en-US" sz="2000" dirty="0" smtClean="0"/>
          </a:p>
          <a:p>
            <a:pPr>
              <a:buNone/>
            </a:pPr>
            <a:endParaRPr lang="en-US" sz="2000" dirty="0" smtClean="0"/>
          </a:p>
          <a:p>
            <a:pPr>
              <a:buNone/>
            </a:pPr>
            <a:endParaRPr lang="en-MY" sz="2000" u="sng" dirty="0"/>
          </a:p>
        </p:txBody>
      </p:sp>
      <p:cxnSp>
        <p:nvCxnSpPr>
          <p:cNvPr id="5" name="Straight Connector 4"/>
          <p:cNvCxnSpPr/>
          <p:nvPr/>
        </p:nvCxnSpPr>
        <p:spPr>
          <a:xfrm>
            <a:off x="1835696" y="4365104"/>
            <a:ext cx="936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91680" y="4005064"/>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843808" y="4005064"/>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691680" y="400506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2699792" y="4005064"/>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691680" y="4581128"/>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699792" y="4581128"/>
            <a:ext cx="14401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a:solidFill>
            <a:schemeClr val="accent4">
              <a:lumMod val="40000"/>
              <a:lumOff val="60000"/>
            </a:schemeClr>
          </a:solidFill>
        </p:spPr>
        <p:txBody>
          <a:bodyPr>
            <a:normAutofit fontScale="90000"/>
          </a:bodyPr>
          <a:lstStyle/>
          <a:p>
            <a:r>
              <a:rPr lang="en-US" b="1" dirty="0" smtClean="0"/>
              <a:t/>
            </a:r>
            <a:br>
              <a:rPr lang="en-US" b="1" dirty="0" smtClean="0"/>
            </a:br>
            <a:r>
              <a:rPr lang="en-US" b="1" dirty="0" smtClean="0"/>
              <a:t>6-11: Perpetuities</a:t>
            </a:r>
            <a:br>
              <a:rPr lang="en-US" b="1" dirty="0" smtClean="0"/>
            </a:br>
            <a:endParaRPr lang="en-MY" dirty="0"/>
          </a:p>
        </p:txBody>
      </p:sp>
      <p:sp>
        <p:nvSpPr>
          <p:cNvPr id="3" name="Content Placeholder 2"/>
          <p:cNvSpPr>
            <a:spLocks noGrp="1"/>
          </p:cNvSpPr>
          <p:nvPr>
            <p:ph idx="1"/>
          </p:nvPr>
        </p:nvSpPr>
        <p:spPr>
          <a:xfrm>
            <a:off x="539552" y="1340768"/>
            <a:ext cx="8064896" cy="5256584"/>
          </a:xfrm>
        </p:spPr>
        <p:txBody>
          <a:bodyPr>
            <a:normAutofit lnSpcReduction="10000"/>
          </a:bodyPr>
          <a:lstStyle/>
          <a:p>
            <a:r>
              <a:rPr lang="en-US" sz="2400" b="1" dirty="0" smtClean="0"/>
              <a:t>A perpetuity is an annuity with an extended life</a:t>
            </a:r>
            <a:r>
              <a:rPr lang="en-US" sz="2400" dirty="0" smtClean="0"/>
              <a:t>. Because the payments go on forever, you can’t apply the step-by-step approach.</a:t>
            </a:r>
          </a:p>
          <a:p>
            <a:pPr>
              <a:buNone/>
            </a:pPr>
            <a:endParaRPr lang="en-US" sz="2400" dirty="0" smtClean="0"/>
          </a:p>
          <a:p>
            <a:r>
              <a:rPr lang="en-US" sz="2400" dirty="0" smtClean="0"/>
              <a:t>In other words, </a:t>
            </a:r>
            <a:r>
              <a:rPr lang="en-US" sz="2400" b="1" dirty="0" smtClean="0"/>
              <a:t>perpetuity is a stream of equal payments at fixed intervals expected to continue forever.</a:t>
            </a:r>
          </a:p>
          <a:p>
            <a:pPr>
              <a:buNone/>
            </a:pPr>
            <a:endParaRPr lang="en-US" sz="2400" b="1" dirty="0" smtClean="0"/>
          </a:p>
          <a:p>
            <a:r>
              <a:rPr lang="en-US" sz="2400" dirty="0" smtClean="0"/>
              <a:t>The first and famous perpetuities in modern history was the massive “consol” bond issue sold by British government after the Napoleonic Wars ended in 1815.</a:t>
            </a:r>
          </a:p>
          <a:p>
            <a:pPr>
              <a:buNone/>
            </a:pPr>
            <a:endParaRPr lang="en-US" sz="2400" dirty="0" smtClean="0"/>
          </a:p>
          <a:p>
            <a:r>
              <a:rPr lang="en-US" sz="2400" dirty="0" smtClean="0"/>
              <a:t>This bond issue got its name because it consolidated all the existing British war debts into a single issue that paid a constant amount of interest into a perpetuity.</a:t>
            </a:r>
          </a:p>
          <a:p>
            <a:pPr>
              <a:buNone/>
            </a:pPr>
            <a:endParaRPr lang="en-US" sz="2400" dirty="0"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a:bodyPr>
          <a:lstStyle/>
          <a:p>
            <a:r>
              <a:rPr lang="en-US" sz="2400" dirty="0" smtClean="0"/>
              <a:t>The </a:t>
            </a:r>
            <a:r>
              <a:rPr lang="en-US" sz="2400" b="1" dirty="0" smtClean="0"/>
              <a:t>issue itself never matured, meaning that the principal was never be repaid.</a:t>
            </a:r>
          </a:p>
          <a:p>
            <a:pPr>
              <a:buNone/>
            </a:pPr>
            <a:endParaRPr lang="en-US" sz="2400" dirty="0" smtClean="0"/>
          </a:p>
          <a:p>
            <a:r>
              <a:rPr lang="en-US" sz="2400" dirty="0" smtClean="0"/>
              <a:t>Nowadays, not many corporations or governments issue perpetual bonds.</a:t>
            </a:r>
          </a:p>
          <a:p>
            <a:pPr>
              <a:buNone/>
            </a:pPr>
            <a:endParaRPr lang="en-US" sz="2400" dirty="0" smtClean="0"/>
          </a:p>
          <a:p>
            <a:r>
              <a:rPr lang="en-US" sz="2400" dirty="0" smtClean="0"/>
              <a:t>The simplest modern example of a perpetuity is preferred stock issued by corporations.</a:t>
            </a:r>
          </a:p>
          <a:p>
            <a:pPr>
              <a:buNone/>
            </a:pPr>
            <a:endParaRPr lang="en-US" sz="2400" dirty="0" smtClean="0"/>
          </a:p>
          <a:p>
            <a:r>
              <a:rPr lang="en-US" sz="2400" dirty="0" smtClean="0"/>
              <a:t>Preferred shares promise investors a constant annual (or quarterly) dividend payment forever.</a:t>
            </a:r>
            <a:endParaRPr lang="en-MY" sz="2400" dirty="0" smtClean="0"/>
          </a:p>
          <a:p>
            <a:endParaRPr lang="en-MY" sz="24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US" sz="2400" dirty="0" smtClean="0"/>
              <a:t>The formula used:</a:t>
            </a:r>
          </a:p>
          <a:p>
            <a:pPr lvl="1"/>
            <a:r>
              <a:rPr lang="en-US" sz="2000" dirty="0" smtClean="0"/>
              <a:t>For PMT made at the end of year:</a:t>
            </a:r>
          </a:p>
          <a:p>
            <a:pPr lvl="1">
              <a:buNone/>
            </a:pPr>
            <a:endParaRPr lang="en-US" sz="2000" dirty="0" smtClean="0"/>
          </a:p>
          <a:p>
            <a:pPr>
              <a:buNone/>
            </a:pPr>
            <a:r>
              <a:rPr lang="en-US" sz="2400" dirty="0" smtClean="0"/>
              <a:t> </a:t>
            </a:r>
          </a:p>
          <a:p>
            <a:pPr>
              <a:buNone/>
            </a:pPr>
            <a:r>
              <a:rPr lang="en-US" sz="2400" dirty="0" smtClean="0"/>
              <a:t>  </a:t>
            </a:r>
          </a:p>
          <a:p>
            <a:pPr marL="342900" lvl="1" indent="-342900">
              <a:buNone/>
            </a:pPr>
            <a:r>
              <a:rPr lang="en-US" sz="2000" dirty="0" smtClean="0"/>
              <a:t>	- For PMT made at the beginning of year:</a:t>
            </a:r>
          </a:p>
          <a:p>
            <a:pPr>
              <a:buNone/>
            </a:pPr>
            <a:endParaRPr lang="en-MY" sz="2400" dirty="0"/>
          </a:p>
        </p:txBody>
      </p:sp>
      <p:sp>
        <p:nvSpPr>
          <p:cNvPr id="4" name="Rectangle 3"/>
          <p:cNvSpPr/>
          <p:nvPr/>
        </p:nvSpPr>
        <p:spPr>
          <a:xfrm>
            <a:off x="1403648" y="1484784"/>
            <a:ext cx="2952328" cy="648072"/>
          </a:xfrm>
          <a:prstGeom prst="rect">
            <a:avLst/>
          </a:prstGeom>
          <a:solidFill>
            <a:srgbClr val="FFFF99"/>
          </a:solidFill>
          <a:ln w="5715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PV of perpetuity = </a:t>
            </a:r>
            <a:r>
              <a:rPr lang="en-US" b="1" u="sng" dirty="0" smtClean="0">
                <a:solidFill>
                  <a:schemeClr val="tx1"/>
                </a:solidFill>
              </a:rPr>
              <a:t>PMT</a:t>
            </a:r>
          </a:p>
          <a:p>
            <a:pPr algn="ctr"/>
            <a:r>
              <a:rPr lang="en-US" b="1" dirty="0" smtClean="0">
                <a:solidFill>
                  <a:schemeClr val="tx1"/>
                </a:solidFill>
              </a:rPr>
              <a:t>                 		I</a:t>
            </a:r>
            <a:endParaRPr lang="en-MY" b="1" dirty="0">
              <a:solidFill>
                <a:schemeClr val="tx1"/>
              </a:solidFill>
            </a:endParaRPr>
          </a:p>
        </p:txBody>
      </p:sp>
      <p:sp>
        <p:nvSpPr>
          <p:cNvPr id="5" name="Rectangle 4"/>
          <p:cNvSpPr/>
          <p:nvPr/>
        </p:nvSpPr>
        <p:spPr>
          <a:xfrm>
            <a:off x="1403648" y="3212976"/>
            <a:ext cx="4032448" cy="648072"/>
          </a:xfrm>
          <a:prstGeom prst="rect">
            <a:avLst/>
          </a:prstGeom>
          <a:solidFill>
            <a:srgbClr val="FFFF99"/>
          </a:solidFill>
          <a:ln w="5715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PV of perpetuity = </a:t>
            </a:r>
            <a:r>
              <a:rPr lang="en-US" b="1" u="sng" dirty="0" smtClean="0">
                <a:solidFill>
                  <a:schemeClr val="tx1"/>
                </a:solidFill>
              </a:rPr>
              <a:t>PMT</a:t>
            </a:r>
            <a:r>
              <a:rPr lang="en-US" b="1" dirty="0" smtClean="0">
                <a:solidFill>
                  <a:schemeClr val="tx1"/>
                </a:solidFill>
              </a:rPr>
              <a:t>   +   PMT</a:t>
            </a:r>
            <a:r>
              <a:rPr lang="en-US" b="1" u="sng" dirty="0" smtClean="0">
                <a:solidFill>
                  <a:schemeClr val="tx1"/>
                </a:solidFill>
              </a:rPr>
              <a:t>   </a:t>
            </a:r>
          </a:p>
          <a:p>
            <a:pPr algn="ctr"/>
            <a:r>
              <a:rPr lang="en-US" b="1" dirty="0" smtClean="0">
                <a:solidFill>
                  <a:schemeClr val="tx1"/>
                </a:solidFill>
              </a:rPr>
              <a:t>                 	I</a:t>
            </a:r>
            <a:endParaRPr lang="en-MY" b="1" dirty="0">
              <a:solidFill>
                <a:schemeClr val="tx1"/>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2800" b="1" dirty="0" smtClean="0"/>
              <a:t>Self-test Question</a:t>
            </a:r>
            <a:endParaRPr lang="en-MY" sz="2800" dirty="0"/>
          </a:p>
        </p:txBody>
      </p:sp>
      <p:sp>
        <p:nvSpPr>
          <p:cNvPr id="3" name="Content Placeholder 2"/>
          <p:cNvSpPr>
            <a:spLocks noGrp="1"/>
          </p:cNvSpPr>
          <p:nvPr>
            <p:ph idx="1"/>
          </p:nvPr>
        </p:nvSpPr>
        <p:spPr/>
        <p:txBody>
          <a:bodyPr/>
          <a:lstStyle/>
          <a:p>
            <a:r>
              <a:rPr lang="en-US" dirty="0" smtClean="0"/>
              <a:t>What is the PV of perpetuity that pays $1,000 beginning a year from now if the appropriate interest rate is 5%? What would be the value if the payments on the annuity began immediately?</a:t>
            </a:r>
          </a:p>
          <a:p>
            <a:pPr>
              <a:buNone/>
            </a:pPr>
            <a:r>
              <a:rPr lang="en-US" dirty="0" smtClean="0"/>
              <a:t>		</a:t>
            </a:r>
            <a:r>
              <a:rPr lang="en-US" sz="2400" b="1" dirty="0" smtClean="0"/>
              <a:t>($20,000;   $21,000)</a:t>
            </a:r>
            <a:endParaRPr lang="en-MY" sz="2400" b="1"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a:solidFill>
            <a:schemeClr val="accent4">
              <a:lumMod val="60000"/>
              <a:lumOff val="40000"/>
            </a:schemeClr>
          </a:solidFill>
        </p:spPr>
        <p:txBody>
          <a:bodyPr>
            <a:normAutofit fontScale="90000"/>
          </a:bodyPr>
          <a:lstStyle/>
          <a:p>
            <a:r>
              <a:rPr lang="en-US" sz="4000" b="1" dirty="0" smtClean="0"/>
              <a:t/>
            </a:r>
            <a:br>
              <a:rPr lang="en-US" sz="4000" b="1" dirty="0" smtClean="0"/>
            </a:br>
            <a:r>
              <a:rPr lang="en-US" sz="4000" b="1" dirty="0" smtClean="0"/>
              <a:t>6-12: UNEVEN CASH FLOWS</a:t>
            </a:r>
            <a:r>
              <a:rPr lang="en-US" b="1" dirty="0" smtClean="0"/>
              <a:t/>
            </a:r>
            <a:br>
              <a:rPr lang="en-US" b="1" dirty="0" smtClean="0"/>
            </a:br>
            <a:endParaRPr lang="en-MY" dirty="0"/>
          </a:p>
        </p:txBody>
      </p:sp>
      <p:sp>
        <p:nvSpPr>
          <p:cNvPr id="3" name="Content Placeholder 2"/>
          <p:cNvSpPr>
            <a:spLocks noGrp="1"/>
          </p:cNvSpPr>
          <p:nvPr>
            <p:ph idx="1"/>
          </p:nvPr>
        </p:nvSpPr>
        <p:spPr>
          <a:xfrm>
            <a:off x="457200" y="1196752"/>
            <a:ext cx="8229600" cy="4929411"/>
          </a:xfrm>
        </p:spPr>
        <p:txBody>
          <a:bodyPr>
            <a:normAutofit lnSpcReduction="10000"/>
          </a:bodyPr>
          <a:lstStyle/>
          <a:p>
            <a:r>
              <a:rPr lang="en-US" sz="2800" dirty="0" smtClean="0"/>
              <a:t>The definition of </a:t>
            </a:r>
            <a:r>
              <a:rPr lang="en-US" sz="2800" b="1" dirty="0" smtClean="0"/>
              <a:t>annuity</a:t>
            </a:r>
            <a:r>
              <a:rPr lang="en-US" sz="2800" dirty="0" smtClean="0"/>
              <a:t> includes the words </a:t>
            </a:r>
            <a:r>
              <a:rPr lang="en-US" sz="2800" b="1" dirty="0" smtClean="0"/>
              <a:t>constant payment </a:t>
            </a:r>
            <a:r>
              <a:rPr lang="en-US" sz="2800" dirty="0" smtClean="0"/>
              <a:t>–&gt; payments that equal at every period.</a:t>
            </a:r>
          </a:p>
          <a:p>
            <a:pPr>
              <a:buNone/>
            </a:pPr>
            <a:endParaRPr lang="en-US" sz="2800" dirty="0" smtClean="0"/>
          </a:p>
          <a:p>
            <a:r>
              <a:rPr lang="en-US" sz="2800" dirty="0" smtClean="0"/>
              <a:t>However there are many financial decisions involve in </a:t>
            </a:r>
            <a:r>
              <a:rPr lang="en-US" sz="2800" b="1" dirty="0" smtClean="0"/>
              <a:t>uneven, or non-constant, Cashflows</a:t>
            </a:r>
            <a:r>
              <a:rPr lang="en-US" sz="2800" dirty="0" smtClean="0"/>
              <a:t>. </a:t>
            </a:r>
          </a:p>
          <a:p>
            <a:pPr>
              <a:buNone/>
            </a:pPr>
            <a:endParaRPr lang="en-US" sz="2800" dirty="0" smtClean="0"/>
          </a:p>
          <a:p>
            <a:r>
              <a:rPr lang="en-US" sz="2800" dirty="0" smtClean="0"/>
              <a:t>Example: the dividends on common stocks typically increase over time, and investments in capital equipment almost always generate uneven Cashflows.</a:t>
            </a:r>
            <a:endParaRPr lang="en-MY" sz="28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904656"/>
          </a:xfrm>
        </p:spPr>
        <p:txBody>
          <a:bodyPr>
            <a:normAutofit/>
          </a:bodyPr>
          <a:lstStyle/>
          <a:p>
            <a:r>
              <a:rPr lang="en-US" sz="2800" dirty="0" smtClean="0"/>
              <a:t>Here we </a:t>
            </a:r>
            <a:r>
              <a:rPr lang="en-US" sz="2800" b="1" dirty="0" smtClean="0"/>
              <a:t>use cash flow (CFt) to denote uneven cash flows,</a:t>
            </a:r>
            <a:r>
              <a:rPr lang="en-US" sz="2800" dirty="0" smtClean="0"/>
              <a:t> where t represents the period in which the cash flow occurs.</a:t>
            </a:r>
          </a:p>
          <a:p>
            <a:pPr>
              <a:buNone/>
            </a:pPr>
            <a:endParaRPr lang="en-US" sz="2800" dirty="0" smtClean="0"/>
          </a:p>
          <a:p>
            <a:r>
              <a:rPr lang="en-US" sz="2800" dirty="0" smtClean="0"/>
              <a:t>There are </a:t>
            </a:r>
            <a:r>
              <a:rPr lang="en-US" sz="2800" b="1" dirty="0" smtClean="0"/>
              <a:t>2 important types of uneven cash flows</a:t>
            </a:r>
            <a:r>
              <a:rPr lang="en-US" sz="2800" dirty="0" smtClean="0"/>
              <a:t>:</a:t>
            </a:r>
          </a:p>
          <a:p>
            <a:pPr>
              <a:buNone/>
            </a:pPr>
            <a:r>
              <a:rPr lang="en-US" sz="2800" dirty="0" smtClean="0"/>
              <a:t>	1.	</a:t>
            </a:r>
            <a:r>
              <a:rPr lang="en-US" sz="2800" b="1" dirty="0" smtClean="0"/>
              <a:t>a stream that consist of a series of annuity 	payments plus an additional final lump sum</a:t>
            </a:r>
            <a:r>
              <a:rPr lang="en-US" sz="2800" dirty="0" smtClean="0"/>
              <a:t>; </a:t>
            </a:r>
          </a:p>
          <a:p>
            <a:pPr>
              <a:buNone/>
            </a:pPr>
            <a:r>
              <a:rPr lang="en-US" sz="2800" dirty="0" smtClean="0"/>
              <a:t>		Example: Bonds</a:t>
            </a:r>
          </a:p>
          <a:p>
            <a:pPr>
              <a:buNone/>
            </a:pPr>
            <a:endParaRPr lang="en-US" sz="2800" dirty="0" smtClean="0"/>
          </a:p>
          <a:p>
            <a:pPr>
              <a:buNone/>
            </a:pPr>
            <a:r>
              <a:rPr lang="en-US" sz="2800" dirty="0" smtClean="0"/>
              <a:t>	2.	</a:t>
            </a:r>
            <a:r>
              <a:rPr lang="en-US" sz="2800" b="1" dirty="0" smtClean="0"/>
              <a:t>all other uneven streams.</a:t>
            </a:r>
          </a:p>
          <a:p>
            <a:pPr>
              <a:buNone/>
            </a:pPr>
            <a:r>
              <a:rPr lang="en-US" sz="2800" b="1" dirty="0" smtClean="0"/>
              <a:t>		</a:t>
            </a:r>
            <a:r>
              <a:rPr lang="en-US" sz="2800" dirty="0" smtClean="0"/>
              <a:t> Example: Stocks and capital investment</a:t>
            </a:r>
            <a:endParaRPr lang="en-MY" sz="2800" b="1"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976664"/>
          </a:xfrm>
        </p:spPr>
        <p:txBody>
          <a:bodyPr>
            <a:normAutofit/>
          </a:bodyPr>
          <a:lstStyle/>
          <a:p>
            <a:r>
              <a:rPr lang="en-US" sz="2800" dirty="0" smtClean="0"/>
              <a:t>The Time Line:</a:t>
            </a:r>
          </a:p>
          <a:p>
            <a:pPr>
              <a:buNone/>
            </a:pPr>
            <a:r>
              <a:rPr lang="en-US" sz="2800" dirty="0" smtClean="0"/>
              <a:t>	1. Annuity plus additional final payment:</a:t>
            </a:r>
          </a:p>
          <a:p>
            <a:endParaRPr lang="en-US" sz="2800" dirty="0" smtClean="0"/>
          </a:p>
          <a:p>
            <a:pPr>
              <a:buNone/>
            </a:pPr>
            <a:endParaRPr lang="en-US" sz="2800" dirty="0" smtClean="0"/>
          </a:p>
          <a:p>
            <a:pPr>
              <a:buNone/>
            </a:pPr>
            <a:endParaRPr lang="en-US" sz="2800" dirty="0" smtClean="0"/>
          </a:p>
          <a:p>
            <a:endParaRPr lang="en-US" sz="2800" dirty="0" smtClean="0"/>
          </a:p>
          <a:p>
            <a:pPr>
              <a:buNone/>
            </a:pPr>
            <a:r>
              <a:rPr lang="en-US" sz="2800" dirty="0" smtClean="0"/>
              <a:t>	2. Irregular cash flows:</a:t>
            </a:r>
            <a:endParaRPr lang="en-MY" sz="2800" dirty="0"/>
          </a:p>
        </p:txBody>
      </p:sp>
      <p:cxnSp>
        <p:nvCxnSpPr>
          <p:cNvPr id="5" name="Straight Connector 4"/>
          <p:cNvCxnSpPr/>
          <p:nvPr/>
        </p:nvCxnSpPr>
        <p:spPr>
          <a:xfrm>
            <a:off x="2411760" y="2132856"/>
            <a:ext cx="51845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564160" y="5085184"/>
            <a:ext cx="51845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1176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740352" y="494116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588224" y="494116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59633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51621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508104"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580112" y="494116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9188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72000" y="494116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635896" y="494116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555776" y="4941168"/>
            <a:ext cx="0" cy="288032"/>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339752" y="1484784"/>
            <a:ext cx="5904656" cy="369332"/>
          </a:xfrm>
          <a:prstGeom prst="rect">
            <a:avLst/>
          </a:prstGeom>
          <a:noFill/>
        </p:spPr>
        <p:txBody>
          <a:bodyPr wrap="square" rtlCol="0">
            <a:spAutoFit/>
          </a:bodyPr>
          <a:lstStyle/>
          <a:p>
            <a:r>
              <a:rPr lang="en-US" dirty="0" smtClean="0"/>
              <a:t>0	 1	     2	      3	       4	           5</a:t>
            </a:r>
            <a:endParaRPr lang="en-MY" dirty="0"/>
          </a:p>
        </p:txBody>
      </p:sp>
      <p:sp>
        <p:nvSpPr>
          <p:cNvPr id="21" name="TextBox 20"/>
          <p:cNvSpPr txBox="1"/>
          <p:nvPr/>
        </p:nvSpPr>
        <p:spPr>
          <a:xfrm>
            <a:off x="2483768" y="4437112"/>
            <a:ext cx="5904656" cy="369332"/>
          </a:xfrm>
          <a:prstGeom prst="rect">
            <a:avLst/>
          </a:prstGeom>
          <a:noFill/>
        </p:spPr>
        <p:txBody>
          <a:bodyPr wrap="square" rtlCol="0">
            <a:spAutoFit/>
          </a:bodyPr>
          <a:lstStyle/>
          <a:p>
            <a:r>
              <a:rPr lang="en-US" dirty="0" smtClean="0"/>
              <a:t>0	 1	     2	      3	       4	           5</a:t>
            </a:r>
            <a:endParaRPr lang="en-MY" dirty="0"/>
          </a:p>
        </p:txBody>
      </p:sp>
      <p:sp>
        <p:nvSpPr>
          <p:cNvPr id="22" name="TextBox 21"/>
          <p:cNvSpPr txBox="1"/>
          <p:nvPr/>
        </p:nvSpPr>
        <p:spPr>
          <a:xfrm>
            <a:off x="2267744" y="2420888"/>
            <a:ext cx="6408712" cy="1477328"/>
          </a:xfrm>
          <a:prstGeom prst="rect">
            <a:avLst/>
          </a:prstGeom>
          <a:noFill/>
        </p:spPr>
        <p:txBody>
          <a:bodyPr wrap="square" rtlCol="0">
            <a:spAutoFit/>
          </a:bodyPr>
          <a:lstStyle/>
          <a:p>
            <a:r>
              <a:rPr lang="en-US" dirty="0" smtClean="0"/>
              <a:t>$0	 $100	     $100	     $100          $100	          $   100</a:t>
            </a:r>
          </a:p>
          <a:p>
            <a:r>
              <a:rPr lang="en-US" dirty="0" smtClean="0"/>
              <a:t>					             1,000</a:t>
            </a:r>
          </a:p>
          <a:p>
            <a:r>
              <a:rPr lang="en-US" dirty="0" smtClean="0"/>
              <a:t>					           ----	---</a:t>
            </a:r>
          </a:p>
          <a:p>
            <a:r>
              <a:rPr lang="en-US" dirty="0" smtClean="0"/>
              <a:t>					           </a:t>
            </a:r>
            <a:r>
              <a:rPr lang="en-US" b="1" dirty="0" smtClean="0"/>
              <a:t>$1,100</a:t>
            </a:r>
          </a:p>
          <a:p>
            <a:r>
              <a:rPr lang="en-US" dirty="0" smtClean="0"/>
              <a:t>					           =====</a:t>
            </a:r>
            <a:endParaRPr lang="en-MY" dirty="0"/>
          </a:p>
        </p:txBody>
      </p:sp>
      <p:sp>
        <p:nvSpPr>
          <p:cNvPr id="23" name="TextBox 22"/>
          <p:cNvSpPr txBox="1"/>
          <p:nvPr/>
        </p:nvSpPr>
        <p:spPr>
          <a:xfrm>
            <a:off x="2411760" y="5157192"/>
            <a:ext cx="6408712" cy="646331"/>
          </a:xfrm>
          <a:prstGeom prst="rect">
            <a:avLst/>
          </a:prstGeom>
          <a:noFill/>
        </p:spPr>
        <p:txBody>
          <a:bodyPr wrap="square" rtlCol="0">
            <a:spAutoFit/>
          </a:bodyPr>
          <a:lstStyle/>
          <a:p>
            <a:r>
              <a:rPr lang="en-US" dirty="0" smtClean="0"/>
              <a:t>$0	 $100	     $300	     $300          $300	          $ 500</a:t>
            </a:r>
          </a:p>
          <a:p>
            <a:r>
              <a:rPr lang="en-US" dirty="0" smtClean="0"/>
              <a:t>			</a:t>
            </a:r>
            <a:endParaRPr lang="en-US" b="1" dirty="0" smtClean="0"/>
          </a:p>
        </p:txBody>
      </p:sp>
      <p:sp>
        <p:nvSpPr>
          <p:cNvPr id="25" name="TextBox 24"/>
          <p:cNvSpPr txBox="1"/>
          <p:nvPr/>
        </p:nvSpPr>
        <p:spPr>
          <a:xfrm>
            <a:off x="971600" y="1700808"/>
            <a:ext cx="1368152" cy="923330"/>
          </a:xfrm>
          <a:prstGeom prst="rect">
            <a:avLst/>
          </a:prstGeom>
          <a:noFill/>
        </p:spPr>
        <p:txBody>
          <a:bodyPr wrap="square" rtlCol="0">
            <a:spAutoFit/>
          </a:bodyPr>
          <a:lstStyle/>
          <a:p>
            <a:r>
              <a:rPr lang="en-US" dirty="0" smtClean="0"/>
              <a:t>Periods</a:t>
            </a:r>
          </a:p>
          <a:p>
            <a:endParaRPr lang="en-US" dirty="0" smtClean="0"/>
          </a:p>
          <a:p>
            <a:r>
              <a:rPr lang="en-US" dirty="0" smtClean="0"/>
              <a:t>Cash flows</a:t>
            </a:r>
            <a:endParaRPr lang="en-MY" dirty="0"/>
          </a:p>
        </p:txBody>
      </p:sp>
      <p:sp>
        <p:nvSpPr>
          <p:cNvPr id="26" name="TextBox 25"/>
          <p:cNvSpPr txBox="1"/>
          <p:nvPr/>
        </p:nvSpPr>
        <p:spPr>
          <a:xfrm>
            <a:off x="1043608" y="4437112"/>
            <a:ext cx="1368152" cy="923330"/>
          </a:xfrm>
          <a:prstGeom prst="rect">
            <a:avLst/>
          </a:prstGeom>
          <a:noFill/>
        </p:spPr>
        <p:txBody>
          <a:bodyPr wrap="square" rtlCol="0">
            <a:spAutoFit/>
          </a:bodyPr>
          <a:lstStyle/>
          <a:p>
            <a:r>
              <a:rPr lang="en-US" dirty="0" smtClean="0"/>
              <a:t>Periods</a:t>
            </a:r>
          </a:p>
          <a:p>
            <a:endParaRPr lang="en-US" dirty="0" smtClean="0"/>
          </a:p>
          <a:p>
            <a:r>
              <a:rPr lang="en-US" dirty="0" smtClean="0"/>
              <a:t>Cash flows</a:t>
            </a:r>
            <a:endParaRPr lang="en-MY" dirty="0"/>
          </a:p>
        </p:txBody>
      </p:sp>
      <p:sp>
        <p:nvSpPr>
          <p:cNvPr id="27" name="TextBox 26"/>
          <p:cNvSpPr txBox="1"/>
          <p:nvPr/>
        </p:nvSpPr>
        <p:spPr>
          <a:xfrm>
            <a:off x="2483768" y="1772816"/>
            <a:ext cx="936104" cy="369332"/>
          </a:xfrm>
          <a:prstGeom prst="rect">
            <a:avLst/>
          </a:prstGeom>
          <a:noFill/>
        </p:spPr>
        <p:txBody>
          <a:bodyPr wrap="square" rtlCol="0">
            <a:spAutoFit/>
          </a:bodyPr>
          <a:lstStyle/>
          <a:p>
            <a:r>
              <a:rPr lang="en-US" dirty="0" smtClean="0"/>
              <a:t>I=12%</a:t>
            </a:r>
            <a:endParaRPr lang="en-MY" dirty="0"/>
          </a:p>
        </p:txBody>
      </p:sp>
      <p:sp>
        <p:nvSpPr>
          <p:cNvPr id="28" name="TextBox 27"/>
          <p:cNvSpPr txBox="1"/>
          <p:nvPr/>
        </p:nvSpPr>
        <p:spPr>
          <a:xfrm>
            <a:off x="2699792" y="4725144"/>
            <a:ext cx="936104" cy="369332"/>
          </a:xfrm>
          <a:prstGeom prst="rect">
            <a:avLst/>
          </a:prstGeom>
          <a:noFill/>
        </p:spPr>
        <p:txBody>
          <a:bodyPr wrap="square" rtlCol="0">
            <a:spAutoFit/>
          </a:bodyPr>
          <a:lstStyle/>
          <a:p>
            <a:r>
              <a:rPr lang="en-US" dirty="0" smtClean="0"/>
              <a:t>I=12%</a:t>
            </a:r>
            <a:endParaRPr lang="en-MY"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US" sz="2800" dirty="0" smtClean="0"/>
              <a:t>The formula:</a:t>
            </a:r>
          </a:p>
          <a:p>
            <a:pPr>
              <a:buNone/>
            </a:pPr>
            <a:r>
              <a:rPr lang="en-US" sz="2800" dirty="0" smtClean="0"/>
              <a:t>	PV= CF</a:t>
            </a:r>
            <a:r>
              <a:rPr lang="en-US" sz="2000" dirty="0" smtClean="0"/>
              <a:t>1</a:t>
            </a:r>
            <a:r>
              <a:rPr lang="en-US" sz="1600" dirty="0" smtClean="0"/>
              <a:t> </a:t>
            </a:r>
            <a:r>
              <a:rPr lang="en-US" sz="2800" dirty="0" smtClean="0"/>
              <a:t>   +   CF</a:t>
            </a:r>
            <a:r>
              <a:rPr lang="en-US" sz="2000" dirty="0" smtClean="0"/>
              <a:t>2</a:t>
            </a:r>
            <a:r>
              <a:rPr lang="en-US" sz="2800" dirty="0" smtClean="0"/>
              <a:t>   +….+  CF</a:t>
            </a:r>
            <a:r>
              <a:rPr lang="en-US" sz="2000" dirty="0" smtClean="0"/>
              <a:t>N</a:t>
            </a:r>
            <a:r>
              <a:rPr lang="en-US" sz="2800" dirty="0" smtClean="0"/>
              <a:t> 	= 	CF</a:t>
            </a:r>
            <a:r>
              <a:rPr lang="en-US" sz="2000" dirty="0" smtClean="0"/>
              <a:t>t</a:t>
            </a:r>
            <a:endParaRPr lang="en-US" sz="2800" dirty="0" smtClean="0"/>
          </a:p>
          <a:p>
            <a:pPr>
              <a:buNone/>
            </a:pPr>
            <a:r>
              <a:rPr lang="en-US" sz="2800" dirty="0" smtClean="0"/>
              <a:t>	        (1+I)¹    (1+I)²           (1+I)ᶰ       	 (1+I)ᵗ</a:t>
            </a:r>
          </a:p>
          <a:p>
            <a:pPr>
              <a:buNone/>
            </a:pPr>
            <a:endParaRPr lang="en-US" sz="2800" dirty="0" smtClean="0"/>
          </a:p>
          <a:p>
            <a:pPr>
              <a:buNone/>
            </a:pPr>
            <a:r>
              <a:rPr lang="en-US" sz="2800" dirty="0" smtClean="0"/>
              <a:t>We would find PV of stream 1 is $927.90 and the PV of stream 2 is $1,016.35</a:t>
            </a:r>
            <a:endParaRPr lang="en-MY" sz="2800" dirty="0"/>
          </a:p>
        </p:txBody>
      </p:sp>
      <p:cxnSp>
        <p:nvCxnSpPr>
          <p:cNvPr id="5" name="Straight Connector 4"/>
          <p:cNvCxnSpPr/>
          <p:nvPr/>
        </p:nvCxnSpPr>
        <p:spPr>
          <a:xfrm>
            <a:off x="1403648" y="1556792"/>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699792" y="1556792"/>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211960" y="1556792"/>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012160" y="1556792"/>
            <a:ext cx="79208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364088" y="1052736"/>
            <a:ext cx="1080120" cy="830997"/>
          </a:xfrm>
          <a:prstGeom prst="rect">
            <a:avLst/>
          </a:prstGeom>
          <a:noFill/>
        </p:spPr>
        <p:txBody>
          <a:bodyPr wrap="square" rtlCol="0">
            <a:spAutoFit/>
          </a:bodyPr>
          <a:lstStyle/>
          <a:p>
            <a:r>
              <a:rPr lang="en-US" sz="4800" dirty="0" smtClean="0"/>
              <a:t>∑</a:t>
            </a:r>
            <a:endParaRPr lang="en-MY" sz="4800" dirty="0"/>
          </a:p>
        </p:txBody>
      </p:sp>
      <p:sp>
        <p:nvSpPr>
          <p:cNvPr id="10" name="TextBox 9"/>
          <p:cNvSpPr txBox="1"/>
          <p:nvPr/>
        </p:nvSpPr>
        <p:spPr>
          <a:xfrm>
            <a:off x="5436096" y="836712"/>
            <a:ext cx="432048" cy="369332"/>
          </a:xfrm>
          <a:prstGeom prst="rect">
            <a:avLst/>
          </a:prstGeom>
          <a:noFill/>
        </p:spPr>
        <p:txBody>
          <a:bodyPr wrap="square" rtlCol="0">
            <a:spAutoFit/>
          </a:bodyPr>
          <a:lstStyle/>
          <a:p>
            <a:r>
              <a:rPr lang="en-US" dirty="0" smtClean="0"/>
              <a:t>N</a:t>
            </a:r>
            <a:endParaRPr lang="en-MY" dirty="0"/>
          </a:p>
        </p:txBody>
      </p:sp>
      <p:sp>
        <p:nvSpPr>
          <p:cNvPr id="11" name="TextBox 10"/>
          <p:cNvSpPr txBox="1"/>
          <p:nvPr/>
        </p:nvSpPr>
        <p:spPr>
          <a:xfrm>
            <a:off x="5436096" y="1772816"/>
            <a:ext cx="648072" cy="369332"/>
          </a:xfrm>
          <a:prstGeom prst="rect">
            <a:avLst/>
          </a:prstGeom>
          <a:noFill/>
        </p:spPr>
        <p:txBody>
          <a:bodyPr wrap="square" rtlCol="0">
            <a:spAutoFit/>
          </a:bodyPr>
          <a:lstStyle/>
          <a:p>
            <a:r>
              <a:rPr lang="en-US" dirty="0" smtClean="0"/>
              <a:t>t=1</a:t>
            </a:r>
            <a:endParaRPr lang="en-MY"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976664"/>
          </a:xfrm>
        </p:spPr>
        <p:txBody>
          <a:bodyPr>
            <a:normAutofit/>
          </a:bodyPr>
          <a:lstStyle/>
          <a:p>
            <a:r>
              <a:rPr lang="en-US" sz="2800" dirty="0" smtClean="0"/>
              <a:t>PV of Uneven Cash Flow Stream:</a:t>
            </a:r>
          </a:p>
        </p:txBody>
      </p:sp>
      <p:cxnSp>
        <p:nvCxnSpPr>
          <p:cNvPr id="5" name="Straight Connector 4"/>
          <p:cNvCxnSpPr/>
          <p:nvPr/>
        </p:nvCxnSpPr>
        <p:spPr>
          <a:xfrm>
            <a:off x="2411760" y="2132856"/>
            <a:ext cx="51845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1176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59633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51621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508104"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91880" y="1988840"/>
            <a:ext cx="0" cy="288032"/>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339752" y="1484784"/>
            <a:ext cx="5904656" cy="369332"/>
          </a:xfrm>
          <a:prstGeom prst="rect">
            <a:avLst/>
          </a:prstGeom>
          <a:noFill/>
        </p:spPr>
        <p:txBody>
          <a:bodyPr wrap="square" rtlCol="0">
            <a:spAutoFit/>
          </a:bodyPr>
          <a:lstStyle/>
          <a:p>
            <a:r>
              <a:rPr lang="en-US" dirty="0" smtClean="0"/>
              <a:t>0	 1	     2	      3	       4	           5</a:t>
            </a:r>
            <a:endParaRPr lang="en-MY" dirty="0"/>
          </a:p>
        </p:txBody>
      </p:sp>
      <p:sp>
        <p:nvSpPr>
          <p:cNvPr id="22" name="TextBox 21"/>
          <p:cNvSpPr txBox="1"/>
          <p:nvPr/>
        </p:nvSpPr>
        <p:spPr>
          <a:xfrm>
            <a:off x="2267744" y="2420888"/>
            <a:ext cx="6408712" cy="646331"/>
          </a:xfrm>
          <a:prstGeom prst="rect">
            <a:avLst/>
          </a:prstGeom>
          <a:noFill/>
        </p:spPr>
        <p:txBody>
          <a:bodyPr wrap="square" rtlCol="0">
            <a:spAutoFit/>
          </a:bodyPr>
          <a:lstStyle/>
          <a:p>
            <a:r>
              <a:rPr lang="en-US" dirty="0" smtClean="0"/>
              <a:t>$0	 $100	     $300	     $300          $300	          $ 500</a:t>
            </a:r>
          </a:p>
          <a:p>
            <a:r>
              <a:rPr lang="en-US" dirty="0" smtClean="0"/>
              <a:t>					</a:t>
            </a:r>
            <a:endParaRPr lang="en-MY" dirty="0"/>
          </a:p>
        </p:txBody>
      </p:sp>
      <p:sp>
        <p:nvSpPr>
          <p:cNvPr id="25" name="TextBox 24"/>
          <p:cNvSpPr txBox="1"/>
          <p:nvPr/>
        </p:nvSpPr>
        <p:spPr>
          <a:xfrm>
            <a:off x="971600" y="1700808"/>
            <a:ext cx="1368152" cy="923330"/>
          </a:xfrm>
          <a:prstGeom prst="rect">
            <a:avLst/>
          </a:prstGeom>
          <a:noFill/>
        </p:spPr>
        <p:txBody>
          <a:bodyPr wrap="square" rtlCol="0">
            <a:spAutoFit/>
          </a:bodyPr>
          <a:lstStyle/>
          <a:p>
            <a:r>
              <a:rPr lang="en-US" dirty="0" smtClean="0"/>
              <a:t>Periods</a:t>
            </a:r>
          </a:p>
          <a:p>
            <a:endParaRPr lang="en-US" dirty="0" smtClean="0"/>
          </a:p>
          <a:p>
            <a:r>
              <a:rPr lang="en-US" dirty="0" smtClean="0"/>
              <a:t>Cash flows</a:t>
            </a:r>
            <a:endParaRPr lang="en-MY" dirty="0"/>
          </a:p>
        </p:txBody>
      </p:sp>
      <p:sp>
        <p:nvSpPr>
          <p:cNvPr id="27" name="TextBox 26"/>
          <p:cNvSpPr txBox="1"/>
          <p:nvPr/>
        </p:nvSpPr>
        <p:spPr>
          <a:xfrm>
            <a:off x="2483768" y="1772816"/>
            <a:ext cx="936104" cy="369332"/>
          </a:xfrm>
          <a:prstGeom prst="rect">
            <a:avLst/>
          </a:prstGeom>
          <a:noFill/>
        </p:spPr>
        <p:txBody>
          <a:bodyPr wrap="square" rtlCol="0">
            <a:spAutoFit/>
          </a:bodyPr>
          <a:lstStyle/>
          <a:p>
            <a:r>
              <a:rPr lang="en-US" dirty="0" smtClean="0"/>
              <a:t>I=12%</a:t>
            </a:r>
            <a:endParaRPr lang="en-MY" dirty="0"/>
          </a:p>
        </p:txBody>
      </p:sp>
      <p:sp>
        <p:nvSpPr>
          <p:cNvPr id="29" name="TextBox 28"/>
          <p:cNvSpPr txBox="1"/>
          <p:nvPr/>
        </p:nvSpPr>
        <p:spPr>
          <a:xfrm>
            <a:off x="1259632" y="2996952"/>
            <a:ext cx="1440160" cy="2585323"/>
          </a:xfrm>
          <a:prstGeom prst="rect">
            <a:avLst/>
          </a:prstGeom>
          <a:noFill/>
        </p:spPr>
        <p:txBody>
          <a:bodyPr wrap="square" rtlCol="0">
            <a:spAutoFit/>
          </a:bodyPr>
          <a:lstStyle/>
          <a:p>
            <a:r>
              <a:rPr lang="en-US" dirty="0" smtClean="0"/>
              <a:t>PV of CFs:</a:t>
            </a:r>
          </a:p>
          <a:p>
            <a:r>
              <a:rPr lang="en-US" dirty="0" smtClean="0"/>
              <a:t>$        89.29</a:t>
            </a:r>
          </a:p>
          <a:p>
            <a:r>
              <a:rPr lang="en-US" dirty="0" smtClean="0"/>
              <a:t>        239.16</a:t>
            </a:r>
          </a:p>
          <a:p>
            <a:r>
              <a:rPr lang="en-US" dirty="0" smtClean="0"/>
              <a:t>        213.53</a:t>
            </a:r>
          </a:p>
          <a:p>
            <a:r>
              <a:rPr lang="en-US" dirty="0" smtClean="0"/>
              <a:t>        190.66</a:t>
            </a:r>
          </a:p>
          <a:p>
            <a:r>
              <a:rPr lang="en-US" dirty="0" smtClean="0"/>
              <a:t>        283.71</a:t>
            </a:r>
          </a:p>
          <a:p>
            <a:r>
              <a:rPr lang="en-US" dirty="0" smtClean="0"/>
              <a:t>-----------------</a:t>
            </a:r>
          </a:p>
          <a:p>
            <a:r>
              <a:rPr lang="en-US" b="1" dirty="0" smtClean="0"/>
              <a:t>$   1,016.35</a:t>
            </a:r>
          </a:p>
          <a:p>
            <a:r>
              <a:rPr lang="en-US" dirty="0" smtClean="0"/>
              <a:t>==========</a:t>
            </a:r>
            <a:endParaRPr lang="en-MY" dirty="0"/>
          </a:p>
        </p:txBody>
      </p:sp>
      <p:sp>
        <p:nvSpPr>
          <p:cNvPr id="30" name="TextBox 29"/>
          <p:cNvSpPr txBox="1"/>
          <p:nvPr/>
        </p:nvSpPr>
        <p:spPr>
          <a:xfrm>
            <a:off x="2627784" y="4941168"/>
            <a:ext cx="5040560" cy="400110"/>
          </a:xfrm>
          <a:prstGeom prst="rect">
            <a:avLst/>
          </a:prstGeom>
          <a:noFill/>
        </p:spPr>
        <p:txBody>
          <a:bodyPr wrap="square" rtlCol="0">
            <a:spAutoFit/>
          </a:bodyPr>
          <a:lstStyle/>
          <a:p>
            <a:r>
              <a:rPr lang="en-US" sz="2000" b="1" dirty="0" smtClean="0"/>
              <a:t>= PV of cash flow stream = Value of the asset</a:t>
            </a:r>
            <a:endParaRPr lang="en-MY" sz="2000" b="1" dirty="0"/>
          </a:p>
        </p:txBody>
      </p:sp>
      <p:cxnSp>
        <p:nvCxnSpPr>
          <p:cNvPr id="34" name="Straight Connector 33"/>
          <p:cNvCxnSpPr/>
          <p:nvPr/>
        </p:nvCxnSpPr>
        <p:spPr>
          <a:xfrm>
            <a:off x="3491880" y="2852936"/>
            <a:ext cx="0" cy="576064"/>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572000" y="2780928"/>
            <a:ext cx="0" cy="936104"/>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5508104" y="2780928"/>
            <a:ext cx="0" cy="1224136"/>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588224" y="2852936"/>
            <a:ext cx="0" cy="144016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596336" y="2780928"/>
            <a:ext cx="0" cy="180020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2411760" y="3429000"/>
            <a:ext cx="1080120"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2411760" y="4005064"/>
            <a:ext cx="3096344"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a:off x="2411760" y="4293096"/>
            <a:ext cx="4176464"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2411760" y="3717032"/>
            <a:ext cx="2160240"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2411760" y="4581128"/>
            <a:ext cx="5184576"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dirty="0" smtClean="0"/>
              <a:t>Self-test Question</a:t>
            </a:r>
            <a:endParaRPr lang="en-MY" sz="3200" dirty="0"/>
          </a:p>
        </p:txBody>
      </p:sp>
      <p:sp>
        <p:nvSpPr>
          <p:cNvPr id="3" name="Content Placeholder 2"/>
          <p:cNvSpPr>
            <a:spLocks noGrp="1"/>
          </p:cNvSpPr>
          <p:nvPr>
            <p:ph idx="1"/>
          </p:nvPr>
        </p:nvSpPr>
        <p:spPr>
          <a:xfrm>
            <a:off x="457200" y="1196752"/>
            <a:ext cx="8229600" cy="4929411"/>
          </a:xfrm>
        </p:spPr>
        <p:txBody>
          <a:bodyPr>
            <a:normAutofit/>
          </a:bodyPr>
          <a:lstStyle/>
          <a:p>
            <a:pPr>
              <a:buNone/>
            </a:pPr>
            <a:r>
              <a:rPr lang="en-US" sz="2800" dirty="0" smtClean="0"/>
              <a:t>1.	What is the PV of a 5-year ordinary annuity of $100 plus an additional $500 at the end of the year if the interest rate is 6%? What is the PV if the $100 payments occur in Years 1 through 10 and the $500 comes at the end of Year 10?</a:t>
            </a:r>
          </a:p>
          <a:p>
            <a:pPr>
              <a:buNone/>
            </a:pPr>
            <a:r>
              <a:rPr lang="en-US" sz="2800" dirty="0" smtClean="0"/>
              <a:t>	</a:t>
            </a:r>
            <a:r>
              <a:rPr lang="en-US" sz="2400" b="1" dirty="0" smtClean="0"/>
              <a:t>($ 794.87;   $ 1,015.21)</a:t>
            </a:r>
          </a:p>
          <a:p>
            <a:pPr>
              <a:buNone/>
            </a:pPr>
            <a:endParaRPr lang="en-US" sz="2400" b="1" dirty="0" smtClean="0"/>
          </a:p>
          <a:p>
            <a:pPr>
              <a:buNone/>
            </a:pPr>
            <a:r>
              <a:rPr lang="en-US" sz="2800" dirty="0" smtClean="0"/>
              <a:t>2.	Would a typical common stock provides cash flows more like an annuity or more even like an uneven cash flow stream? Explain</a:t>
            </a:r>
            <a:endParaRPr lang="en-MY" sz="28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noAutofit/>
          </a:bodyPr>
          <a:lstStyle/>
          <a:p>
            <a:r>
              <a:rPr lang="en-US" sz="3600" b="1" dirty="0" smtClean="0"/>
              <a:t/>
            </a:r>
            <a:br>
              <a:rPr lang="en-US" sz="3600" b="1" dirty="0" smtClean="0"/>
            </a:br>
            <a:r>
              <a:rPr lang="en-US" sz="3600" b="1" dirty="0" smtClean="0"/>
              <a:t>6-13: FUTURE VALUE OF AN UNEVEN 	CASH FLOW STREAM</a:t>
            </a:r>
            <a:br>
              <a:rPr lang="en-US" sz="3600" b="1" dirty="0" smtClean="0"/>
            </a:br>
            <a:endParaRPr lang="en-MY" sz="3600" dirty="0"/>
          </a:p>
        </p:txBody>
      </p:sp>
      <p:sp>
        <p:nvSpPr>
          <p:cNvPr id="3" name="Content Placeholder 2"/>
          <p:cNvSpPr>
            <a:spLocks noGrp="1"/>
          </p:cNvSpPr>
          <p:nvPr>
            <p:ph idx="1"/>
          </p:nvPr>
        </p:nvSpPr>
        <p:spPr>
          <a:xfrm>
            <a:off x="467544" y="1556792"/>
            <a:ext cx="8229600" cy="4968552"/>
          </a:xfrm>
        </p:spPr>
        <p:txBody>
          <a:bodyPr>
            <a:normAutofit/>
          </a:bodyPr>
          <a:lstStyle/>
          <a:p>
            <a:r>
              <a:rPr lang="en-US" sz="2800" b="1" dirty="0" smtClean="0"/>
              <a:t>FV of uneven cash flow streams </a:t>
            </a:r>
            <a:r>
              <a:rPr lang="en-US" sz="2800" dirty="0" smtClean="0"/>
              <a:t>is calculated by </a:t>
            </a:r>
            <a:r>
              <a:rPr lang="en-US" sz="2800" b="1" dirty="0" smtClean="0"/>
              <a:t>compounding</a:t>
            </a:r>
            <a:r>
              <a:rPr lang="en-US" sz="2800" dirty="0" smtClean="0"/>
              <a:t> rather than discounting.</a:t>
            </a:r>
          </a:p>
          <a:p>
            <a:pPr>
              <a:buNone/>
            </a:pPr>
            <a:endParaRPr lang="en-US" sz="2800" dirty="0" smtClean="0"/>
          </a:p>
          <a:p>
            <a:r>
              <a:rPr lang="en-US" sz="2800" dirty="0" smtClean="0"/>
              <a:t>Here, the calculation in time line works for all cash flow streams, </a:t>
            </a:r>
            <a:r>
              <a:rPr lang="en-US" sz="2800" b="1" dirty="0" smtClean="0"/>
              <a:t>even those for which some cash floes are zero or negative. </a:t>
            </a:r>
          </a:p>
          <a:p>
            <a:r>
              <a:rPr lang="en-US" sz="2800" dirty="0" smtClean="0"/>
              <a:t>(see the time line in the next slide)</a:t>
            </a:r>
            <a:endParaRPr lang="en-MY" sz="28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976664"/>
          </a:xfrm>
        </p:spPr>
        <p:txBody>
          <a:bodyPr>
            <a:normAutofit/>
          </a:bodyPr>
          <a:lstStyle/>
          <a:p>
            <a:r>
              <a:rPr lang="en-US" sz="2800" dirty="0" smtClean="0"/>
              <a:t>FV of Uneven Cash Flow Stream:</a:t>
            </a:r>
          </a:p>
        </p:txBody>
      </p:sp>
      <p:cxnSp>
        <p:nvCxnSpPr>
          <p:cNvPr id="5" name="Straight Connector 4"/>
          <p:cNvCxnSpPr/>
          <p:nvPr/>
        </p:nvCxnSpPr>
        <p:spPr>
          <a:xfrm>
            <a:off x="2411760" y="2132856"/>
            <a:ext cx="51845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1176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59633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516216"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508104"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0" y="1988840"/>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91880" y="1988840"/>
            <a:ext cx="0" cy="288032"/>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339752" y="1484784"/>
            <a:ext cx="5904656" cy="369332"/>
          </a:xfrm>
          <a:prstGeom prst="rect">
            <a:avLst/>
          </a:prstGeom>
          <a:noFill/>
        </p:spPr>
        <p:txBody>
          <a:bodyPr wrap="square" rtlCol="0">
            <a:spAutoFit/>
          </a:bodyPr>
          <a:lstStyle/>
          <a:p>
            <a:r>
              <a:rPr lang="en-US" dirty="0" smtClean="0"/>
              <a:t>0	 1	     2	      3	       4	           5</a:t>
            </a:r>
            <a:endParaRPr lang="en-MY" dirty="0"/>
          </a:p>
        </p:txBody>
      </p:sp>
      <p:sp>
        <p:nvSpPr>
          <p:cNvPr id="22" name="TextBox 21"/>
          <p:cNvSpPr txBox="1"/>
          <p:nvPr/>
        </p:nvSpPr>
        <p:spPr>
          <a:xfrm>
            <a:off x="2267744" y="2420888"/>
            <a:ext cx="6408712" cy="646331"/>
          </a:xfrm>
          <a:prstGeom prst="rect">
            <a:avLst/>
          </a:prstGeom>
          <a:noFill/>
        </p:spPr>
        <p:txBody>
          <a:bodyPr wrap="square" rtlCol="0">
            <a:spAutoFit/>
          </a:bodyPr>
          <a:lstStyle/>
          <a:p>
            <a:r>
              <a:rPr lang="en-US" dirty="0" smtClean="0"/>
              <a:t>$0	 $100	     $300	     $300          $300	          $ 500</a:t>
            </a:r>
          </a:p>
          <a:p>
            <a:r>
              <a:rPr lang="en-US" dirty="0" smtClean="0"/>
              <a:t>					</a:t>
            </a:r>
            <a:endParaRPr lang="en-MY" dirty="0"/>
          </a:p>
        </p:txBody>
      </p:sp>
      <p:sp>
        <p:nvSpPr>
          <p:cNvPr id="25" name="TextBox 24"/>
          <p:cNvSpPr txBox="1"/>
          <p:nvPr/>
        </p:nvSpPr>
        <p:spPr>
          <a:xfrm>
            <a:off x="971600" y="1700808"/>
            <a:ext cx="1368152" cy="923330"/>
          </a:xfrm>
          <a:prstGeom prst="rect">
            <a:avLst/>
          </a:prstGeom>
          <a:noFill/>
        </p:spPr>
        <p:txBody>
          <a:bodyPr wrap="square" rtlCol="0">
            <a:spAutoFit/>
          </a:bodyPr>
          <a:lstStyle/>
          <a:p>
            <a:r>
              <a:rPr lang="en-US" dirty="0" smtClean="0"/>
              <a:t>Periods</a:t>
            </a:r>
          </a:p>
          <a:p>
            <a:endParaRPr lang="en-US" dirty="0" smtClean="0"/>
          </a:p>
          <a:p>
            <a:r>
              <a:rPr lang="en-US" dirty="0" smtClean="0"/>
              <a:t>Cash flows</a:t>
            </a:r>
            <a:endParaRPr lang="en-MY" dirty="0"/>
          </a:p>
        </p:txBody>
      </p:sp>
      <p:sp>
        <p:nvSpPr>
          <p:cNvPr id="27" name="TextBox 26"/>
          <p:cNvSpPr txBox="1"/>
          <p:nvPr/>
        </p:nvSpPr>
        <p:spPr>
          <a:xfrm>
            <a:off x="2483768" y="1772816"/>
            <a:ext cx="936104" cy="369332"/>
          </a:xfrm>
          <a:prstGeom prst="rect">
            <a:avLst/>
          </a:prstGeom>
          <a:noFill/>
        </p:spPr>
        <p:txBody>
          <a:bodyPr wrap="square" rtlCol="0">
            <a:spAutoFit/>
          </a:bodyPr>
          <a:lstStyle/>
          <a:p>
            <a:r>
              <a:rPr lang="en-US" dirty="0" smtClean="0"/>
              <a:t>I=12%</a:t>
            </a:r>
            <a:endParaRPr lang="en-MY" dirty="0"/>
          </a:p>
        </p:txBody>
      </p:sp>
      <p:sp>
        <p:nvSpPr>
          <p:cNvPr id="29" name="TextBox 28"/>
          <p:cNvSpPr txBox="1"/>
          <p:nvPr/>
        </p:nvSpPr>
        <p:spPr>
          <a:xfrm>
            <a:off x="7236296" y="2780928"/>
            <a:ext cx="1440160" cy="2862322"/>
          </a:xfrm>
          <a:prstGeom prst="rect">
            <a:avLst/>
          </a:prstGeom>
          <a:noFill/>
        </p:spPr>
        <p:txBody>
          <a:bodyPr wrap="square" rtlCol="0">
            <a:spAutoFit/>
          </a:bodyPr>
          <a:lstStyle/>
          <a:p>
            <a:r>
              <a:rPr lang="en-US" b="1" dirty="0" smtClean="0"/>
              <a:t>FV of CFs:</a:t>
            </a:r>
          </a:p>
          <a:p>
            <a:r>
              <a:rPr lang="en-US" dirty="0" smtClean="0"/>
              <a:t>$      500.00</a:t>
            </a:r>
          </a:p>
          <a:p>
            <a:r>
              <a:rPr lang="en-US" dirty="0" smtClean="0"/>
              <a:t>        336.00</a:t>
            </a:r>
          </a:p>
          <a:p>
            <a:r>
              <a:rPr lang="en-US" dirty="0" smtClean="0"/>
              <a:t>        376.32</a:t>
            </a:r>
          </a:p>
          <a:p>
            <a:r>
              <a:rPr lang="en-US" dirty="0" smtClean="0"/>
              <a:t>        421.48</a:t>
            </a:r>
          </a:p>
          <a:p>
            <a:r>
              <a:rPr lang="en-US" dirty="0" smtClean="0"/>
              <a:t>        157.35</a:t>
            </a:r>
          </a:p>
          <a:p>
            <a:r>
              <a:rPr lang="en-US" dirty="0" smtClean="0"/>
              <a:t>             0.00</a:t>
            </a:r>
          </a:p>
          <a:p>
            <a:r>
              <a:rPr lang="en-US" dirty="0" smtClean="0"/>
              <a:t>-----------------</a:t>
            </a:r>
          </a:p>
          <a:p>
            <a:r>
              <a:rPr lang="en-US" b="1" dirty="0" smtClean="0"/>
              <a:t>$   1,791.15</a:t>
            </a:r>
          </a:p>
          <a:p>
            <a:r>
              <a:rPr lang="en-US" dirty="0" smtClean="0"/>
              <a:t>==========</a:t>
            </a:r>
            <a:endParaRPr lang="en-MY" dirty="0"/>
          </a:p>
        </p:txBody>
      </p:sp>
      <p:sp>
        <p:nvSpPr>
          <p:cNvPr id="30" name="TextBox 29"/>
          <p:cNvSpPr txBox="1"/>
          <p:nvPr/>
        </p:nvSpPr>
        <p:spPr>
          <a:xfrm>
            <a:off x="4139952" y="4941168"/>
            <a:ext cx="3024336" cy="400110"/>
          </a:xfrm>
          <a:prstGeom prst="rect">
            <a:avLst/>
          </a:prstGeom>
          <a:noFill/>
        </p:spPr>
        <p:txBody>
          <a:bodyPr wrap="square" rtlCol="0">
            <a:spAutoFit/>
          </a:bodyPr>
          <a:lstStyle/>
          <a:p>
            <a:r>
              <a:rPr lang="en-US" sz="2000" b="1" dirty="0" smtClean="0"/>
              <a:t>FV of cash flow stream =</a:t>
            </a:r>
            <a:endParaRPr lang="en-MY" sz="2000" b="1" dirty="0"/>
          </a:p>
        </p:txBody>
      </p:sp>
      <p:cxnSp>
        <p:nvCxnSpPr>
          <p:cNvPr id="34" name="Straight Connector 33"/>
          <p:cNvCxnSpPr/>
          <p:nvPr/>
        </p:nvCxnSpPr>
        <p:spPr>
          <a:xfrm>
            <a:off x="6588224" y="2780928"/>
            <a:ext cx="0" cy="72008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580112" y="2780928"/>
            <a:ext cx="0" cy="1008112"/>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716016" y="2780928"/>
            <a:ext cx="0" cy="1296144"/>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491880" y="2780928"/>
            <a:ext cx="0" cy="1584176"/>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483768" y="2780928"/>
            <a:ext cx="0" cy="180020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6588224" y="3501008"/>
            <a:ext cx="1080120"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5580112" y="3789040"/>
            <a:ext cx="2160240"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716016" y="4077072"/>
            <a:ext cx="3024336"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491880" y="4365104"/>
            <a:ext cx="4248472"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2483768" y="4581128"/>
            <a:ext cx="5256584"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2800" b="1" dirty="0" smtClean="0"/>
              <a:t>Self-test Question</a:t>
            </a:r>
            <a:endParaRPr lang="en-MY" sz="2800" dirty="0"/>
          </a:p>
        </p:txBody>
      </p:sp>
      <p:sp>
        <p:nvSpPr>
          <p:cNvPr id="3" name="Content Placeholder 2"/>
          <p:cNvSpPr>
            <a:spLocks noGrp="1"/>
          </p:cNvSpPr>
          <p:nvPr>
            <p:ph idx="1"/>
          </p:nvPr>
        </p:nvSpPr>
        <p:spPr>
          <a:xfrm>
            <a:off x="457200" y="1196752"/>
            <a:ext cx="8229600" cy="4929411"/>
          </a:xfrm>
        </p:spPr>
        <p:txBody>
          <a:bodyPr>
            <a:normAutofit/>
          </a:bodyPr>
          <a:lstStyle/>
          <a:p>
            <a:r>
              <a:rPr lang="en-US" sz="2800" dirty="0" smtClean="0"/>
              <a:t>What is the FV of this cash flow stream: $100 at the end of 1 year, $150 due after 2 years, and $300 due after 3 years if the appropriate interest rate is 15%?</a:t>
            </a:r>
          </a:p>
          <a:p>
            <a:pPr lvl="1">
              <a:buNone/>
            </a:pPr>
            <a:r>
              <a:rPr lang="en-US" sz="2400" b="1" dirty="0" smtClean="0"/>
              <a:t>($604.75)</a:t>
            </a:r>
            <a:endParaRPr lang="en-MY"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496944" cy="1143000"/>
          </a:xfrm>
          <a:solidFill>
            <a:schemeClr val="accent5">
              <a:lumMod val="60000"/>
              <a:lumOff val="40000"/>
            </a:schemeClr>
          </a:solidFill>
        </p:spPr>
        <p:txBody>
          <a:bodyPr>
            <a:noAutofit/>
          </a:bodyPr>
          <a:lstStyle/>
          <a:p>
            <a:r>
              <a:rPr lang="en-US" sz="3600" b="1" dirty="0" smtClean="0"/>
              <a:t/>
            </a:r>
            <a:br>
              <a:rPr lang="en-US" sz="3600" b="1" dirty="0" smtClean="0"/>
            </a:br>
            <a:r>
              <a:rPr lang="en-US" sz="3600" b="1" dirty="0" smtClean="0"/>
              <a:t>6-14:SEMIANNUAL AND OTHER 	COMPOUNDING PERIODS</a:t>
            </a:r>
            <a:br>
              <a:rPr lang="en-US" sz="3600" b="1" dirty="0" smtClean="0"/>
            </a:br>
            <a:endParaRPr lang="en-MY" sz="3600" dirty="0"/>
          </a:p>
        </p:txBody>
      </p:sp>
      <p:sp>
        <p:nvSpPr>
          <p:cNvPr id="3" name="Content Placeholder 2"/>
          <p:cNvSpPr>
            <a:spLocks noGrp="1"/>
          </p:cNvSpPr>
          <p:nvPr>
            <p:ph idx="1"/>
          </p:nvPr>
        </p:nvSpPr>
        <p:spPr>
          <a:xfrm>
            <a:off x="457200" y="1484784"/>
            <a:ext cx="8435280" cy="5112568"/>
          </a:xfrm>
        </p:spPr>
        <p:txBody>
          <a:bodyPr>
            <a:normAutofit fontScale="92500" lnSpcReduction="10000"/>
          </a:bodyPr>
          <a:lstStyle/>
          <a:p>
            <a:r>
              <a:rPr lang="en-US" sz="2800" dirty="0" smtClean="0"/>
              <a:t>In all our examples, we assumed that interest was compounded once a year or annually.</a:t>
            </a:r>
          </a:p>
          <a:p>
            <a:pPr>
              <a:buNone/>
            </a:pPr>
            <a:endParaRPr lang="en-US" sz="2800" dirty="0" smtClean="0"/>
          </a:p>
          <a:p>
            <a:r>
              <a:rPr lang="en-US" sz="2800" dirty="0" smtClean="0"/>
              <a:t>However, suppose that you deposit $100 in a bank that </a:t>
            </a:r>
            <a:r>
              <a:rPr lang="en-US" sz="2800" b="1" dirty="0" smtClean="0"/>
              <a:t>pays a 5% annual interest rate but credits interest each 6 months.</a:t>
            </a:r>
          </a:p>
          <a:p>
            <a:pPr>
              <a:buNone/>
            </a:pPr>
            <a:endParaRPr lang="en-US" sz="2800" dirty="0" smtClean="0"/>
          </a:p>
          <a:p>
            <a:r>
              <a:rPr lang="en-US" sz="2800" dirty="0" smtClean="0"/>
              <a:t>So, in second 6-month period you earn interest on your original $100 plus interest on the interest earned during the first 6 months. </a:t>
            </a:r>
          </a:p>
          <a:p>
            <a:pPr>
              <a:buNone/>
            </a:pPr>
            <a:endParaRPr lang="en-US" sz="2800" dirty="0" smtClean="0"/>
          </a:p>
          <a:p>
            <a:r>
              <a:rPr lang="en-US" sz="2800" dirty="0" smtClean="0"/>
              <a:t>This is called </a:t>
            </a:r>
            <a:r>
              <a:rPr lang="en-US" sz="2800" b="1" dirty="0" smtClean="0"/>
              <a:t>semiannual compounding.</a:t>
            </a:r>
            <a:endParaRPr lang="en-MY" sz="2800" b="1"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92688"/>
          </a:xfrm>
        </p:spPr>
        <p:txBody>
          <a:bodyPr>
            <a:normAutofit/>
          </a:bodyPr>
          <a:lstStyle/>
          <a:p>
            <a:r>
              <a:rPr lang="en-US" sz="2800" dirty="0" smtClean="0"/>
              <a:t>Banks generally pay interest more than once a year; most all bonds pay interest semiannually; and most mortgages, student loans, and auto loans require monthly payments. </a:t>
            </a:r>
          </a:p>
          <a:p>
            <a:pPr>
              <a:buNone/>
            </a:pPr>
            <a:endParaRPr lang="en-US" sz="2800" dirty="0" smtClean="0"/>
          </a:p>
          <a:p>
            <a:r>
              <a:rPr lang="en-US" sz="2800" dirty="0" smtClean="0"/>
              <a:t>Therefore it is </a:t>
            </a:r>
            <a:r>
              <a:rPr lang="en-US" sz="2800" b="1" dirty="0" smtClean="0"/>
              <a:t>important to understand how to deal with non-annual compounding.</a:t>
            </a:r>
          </a:p>
          <a:p>
            <a:pPr>
              <a:buNone/>
            </a:pPr>
            <a:endParaRPr lang="en-US" sz="2800" b="1" dirty="0" smtClean="0"/>
          </a:p>
          <a:p>
            <a:r>
              <a:rPr lang="en-US" sz="2800" dirty="0" smtClean="0"/>
              <a:t>Example of semiannual compounding:</a:t>
            </a:r>
          </a:p>
          <a:p>
            <a:pPr>
              <a:buNone/>
            </a:pPr>
            <a:r>
              <a:rPr lang="en-US" sz="2800" dirty="0" smtClean="0"/>
              <a:t>	Assume that we deposit $100 in an account that pays 5% and leave it for 10 years. So , the FV would be;</a:t>
            </a:r>
          </a:p>
          <a:p>
            <a:pPr>
              <a:buNone/>
            </a:pPr>
            <a:r>
              <a:rPr lang="en-US" sz="2800" dirty="0" smtClean="0"/>
              <a:t>		</a:t>
            </a:r>
            <a:r>
              <a:rPr lang="en-US" sz="2800" b="1" dirty="0" smtClean="0">
                <a:solidFill>
                  <a:srgbClr val="7030A0"/>
                </a:solidFill>
              </a:rPr>
              <a:t>FV</a:t>
            </a:r>
            <a:r>
              <a:rPr lang="en-US" sz="2000" b="1" dirty="0" smtClean="0">
                <a:solidFill>
                  <a:srgbClr val="7030A0"/>
                </a:solidFill>
              </a:rPr>
              <a:t>N</a:t>
            </a:r>
            <a:r>
              <a:rPr lang="en-US" sz="2800" b="1" dirty="0" smtClean="0">
                <a:solidFill>
                  <a:srgbClr val="7030A0"/>
                </a:solidFill>
              </a:rPr>
              <a:t> = PV(1+I)ᶰ = $100(1.05)¹⁰  = $162.89</a:t>
            </a:r>
            <a:endParaRPr lang="en-MY" sz="2800" b="1" dirty="0">
              <a:solidFill>
                <a:srgbClr val="7030A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a:bodyPr>
          <a:lstStyle/>
          <a:p>
            <a:r>
              <a:rPr lang="en-US" sz="2800" dirty="0" smtClean="0"/>
              <a:t>What if interest rate was paid semiannually rather than annually?</a:t>
            </a:r>
          </a:p>
          <a:p>
            <a:pPr marL="914400" lvl="1" indent="-457200">
              <a:buAutoNum type="arabicPeriod"/>
            </a:pPr>
            <a:r>
              <a:rPr lang="en-US" sz="2400" dirty="0" smtClean="0"/>
              <a:t>Convert the stated interest rate into a “periodic rate” and</a:t>
            </a:r>
          </a:p>
          <a:p>
            <a:pPr marL="914400" lvl="1" indent="-457200">
              <a:buNone/>
            </a:pPr>
            <a:r>
              <a:rPr lang="en-US" sz="2400" dirty="0" smtClean="0"/>
              <a:t>	</a:t>
            </a:r>
          </a:p>
          <a:p>
            <a:pPr marL="914400" lvl="1" indent="-457200">
              <a:buNone/>
            </a:pPr>
            <a:endParaRPr lang="en-US" sz="2400" dirty="0" smtClean="0"/>
          </a:p>
          <a:p>
            <a:pPr marL="914400" lvl="1" indent="-457200">
              <a:buAutoNum type="arabicPeriod"/>
            </a:pPr>
            <a:endParaRPr lang="en-US" sz="2400" dirty="0" smtClean="0"/>
          </a:p>
          <a:p>
            <a:pPr marL="914400" lvl="1" indent="-457200">
              <a:buAutoNum type="arabicPeriod" startAt="2"/>
            </a:pPr>
            <a:r>
              <a:rPr lang="en-US" sz="2400" dirty="0" smtClean="0"/>
              <a:t>Convert the number of years into “number of periods”.</a:t>
            </a:r>
          </a:p>
          <a:p>
            <a:pPr marL="914400" lvl="1" indent="-457200">
              <a:buAutoNum type="arabicPeriod" startAt="2"/>
            </a:pPr>
            <a:endParaRPr lang="en-US" sz="2400" dirty="0" smtClean="0"/>
          </a:p>
          <a:p>
            <a:pPr marL="914400" lvl="1" indent="-457200">
              <a:buAutoNum type="arabicPeriod" startAt="2"/>
            </a:pPr>
            <a:endParaRPr lang="en-US" sz="2400" dirty="0" smtClean="0"/>
          </a:p>
          <a:p>
            <a:pPr marL="914400" lvl="1" indent="-457200">
              <a:buNone/>
            </a:pPr>
            <a:endParaRPr lang="en-US" sz="2400" dirty="0" smtClean="0"/>
          </a:p>
          <a:p>
            <a:pPr marL="914400" lvl="1" indent="-457200">
              <a:buNone/>
            </a:pPr>
            <a:endParaRPr lang="en-US" sz="2400" dirty="0" smtClean="0"/>
          </a:p>
          <a:p>
            <a:pPr marL="914400" lvl="1" indent="-457200">
              <a:buNone/>
            </a:pPr>
            <a:endParaRPr lang="en-MY" sz="2400" dirty="0"/>
          </a:p>
        </p:txBody>
      </p:sp>
      <p:sp>
        <p:nvSpPr>
          <p:cNvPr id="4" name="Rectangle 3"/>
          <p:cNvSpPr/>
          <p:nvPr/>
        </p:nvSpPr>
        <p:spPr>
          <a:xfrm>
            <a:off x="683568" y="2060848"/>
            <a:ext cx="7920880" cy="936104"/>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0" lvl="1" indent="-457200">
              <a:buNone/>
            </a:pPr>
            <a:endParaRPr lang="en-US" sz="2000" b="1" dirty="0" smtClean="0">
              <a:solidFill>
                <a:srgbClr val="7030A0"/>
              </a:solidFill>
            </a:endParaRPr>
          </a:p>
          <a:p>
            <a:pPr marL="914400" lvl="1" indent="-457200">
              <a:buNone/>
            </a:pPr>
            <a:r>
              <a:rPr lang="en-US" sz="2000" b="1" dirty="0" smtClean="0">
                <a:solidFill>
                  <a:srgbClr val="7030A0"/>
                </a:solidFill>
              </a:rPr>
              <a:t>Periodic rate (I</a:t>
            </a:r>
            <a:r>
              <a:rPr lang="en-US" sz="1400" b="1" dirty="0" smtClean="0">
                <a:solidFill>
                  <a:srgbClr val="7030A0"/>
                </a:solidFill>
              </a:rPr>
              <a:t>per</a:t>
            </a:r>
            <a:r>
              <a:rPr lang="en-US" sz="2000" b="1" dirty="0" smtClean="0">
                <a:solidFill>
                  <a:srgbClr val="7030A0"/>
                </a:solidFill>
              </a:rPr>
              <a:t>) = 	  Stated annual rate	      = I/M</a:t>
            </a:r>
          </a:p>
          <a:p>
            <a:pPr marL="914400" lvl="1" indent="-457200">
              <a:buNone/>
            </a:pPr>
            <a:r>
              <a:rPr lang="en-US" sz="2000" b="1" dirty="0" smtClean="0">
                <a:solidFill>
                  <a:srgbClr val="7030A0"/>
                </a:solidFill>
              </a:rPr>
              <a:t>		            Number of payments per year</a:t>
            </a:r>
          </a:p>
          <a:p>
            <a:pPr algn="ctr"/>
            <a:endParaRPr lang="en-MY" sz="2000" dirty="0"/>
          </a:p>
        </p:txBody>
      </p:sp>
      <p:cxnSp>
        <p:nvCxnSpPr>
          <p:cNvPr id="6" name="Straight Connector 5"/>
          <p:cNvCxnSpPr/>
          <p:nvPr/>
        </p:nvCxnSpPr>
        <p:spPr>
          <a:xfrm>
            <a:off x="3347864" y="2564904"/>
            <a:ext cx="29523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827584" y="3789040"/>
            <a:ext cx="7920880" cy="936104"/>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0" lvl="1" indent="-457200">
              <a:buNone/>
            </a:pPr>
            <a:r>
              <a:rPr lang="en-US" sz="2000" b="1" dirty="0" smtClean="0">
                <a:solidFill>
                  <a:srgbClr val="7030A0"/>
                </a:solidFill>
              </a:rPr>
              <a:t>Number of periods = 	 ( Number of years)  X (Periods per year) = NM </a:t>
            </a:r>
            <a:endParaRPr lang="en-MY"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363272" cy="5649491"/>
          </a:xfrm>
        </p:spPr>
        <p:txBody>
          <a:bodyPr>
            <a:normAutofit/>
          </a:bodyPr>
          <a:lstStyle/>
          <a:p>
            <a:pPr marL="342900" lvl="1" indent="-342900">
              <a:buFont typeface="Arial" pitchFamily="34" charset="0"/>
              <a:buChar char="•"/>
            </a:pPr>
            <a:r>
              <a:rPr lang="en-US" dirty="0" smtClean="0"/>
              <a:t>With a stated annual rate 5% compounded semiannually, the </a:t>
            </a:r>
            <a:r>
              <a:rPr lang="en-US" b="1" dirty="0" smtClean="0"/>
              <a:t>periodic rate is 5% /2 = 2.5%</a:t>
            </a:r>
          </a:p>
          <a:p>
            <a:pPr marL="342900" lvl="1" indent="-342900">
              <a:buNone/>
            </a:pPr>
            <a:endParaRPr lang="en-US" b="1" dirty="0" smtClean="0"/>
          </a:p>
          <a:p>
            <a:r>
              <a:rPr lang="en-US" sz="2800" b="1" dirty="0" smtClean="0"/>
              <a:t>Number of periods = 10(2) = 20 periods</a:t>
            </a:r>
          </a:p>
          <a:p>
            <a:pPr>
              <a:buNone/>
            </a:pPr>
            <a:endParaRPr lang="en-US" sz="2800" b="1" dirty="0" smtClean="0"/>
          </a:p>
          <a:p>
            <a:r>
              <a:rPr lang="en-US" sz="2800" dirty="0" smtClean="0"/>
              <a:t>Therefore, we can find the value of $100 after 10 years with annual interest of 5% compounded semiannually.</a:t>
            </a:r>
            <a:endParaRPr lang="en-MY" sz="2800" dirty="0"/>
          </a:p>
        </p:txBody>
      </p:sp>
      <p:cxnSp>
        <p:nvCxnSpPr>
          <p:cNvPr id="5" name="Straight Connector 4"/>
          <p:cNvCxnSpPr/>
          <p:nvPr/>
        </p:nvCxnSpPr>
        <p:spPr>
          <a:xfrm>
            <a:off x="1547664" y="4797152"/>
            <a:ext cx="25202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547664" y="4653136"/>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55776" y="4653136"/>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491880" y="4653136"/>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80312" y="4725144"/>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283968" y="479715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499992" y="479715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860032" y="4797152"/>
            <a:ext cx="1440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292080" y="4797152"/>
            <a:ext cx="2088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228184" y="4653136"/>
            <a:ext cx="0" cy="288032"/>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1520" y="4365104"/>
            <a:ext cx="1224136" cy="923330"/>
          </a:xfrm>
          <a:prstGeom prst="rect">
            <a:avLst/>
          </a:prstGeom>
          <a:noFill/>
        </p:spPr>
        <p:txBody>
          <a:bodyPr wrap="square" rtlCol="0">
            <a:spAutoFit/>
          </a:bodyPr>
          <a:lstStyle/>
          <a:p>
            <a:r>
              <a:rPr lang="en-US" dirty="0" smtClean="0"/>
              <a:t>Periods</a:t>
            </a:r>
          </a:p>
          <a:p>
            <a:endParaRPr lang="en-US" dirty="0" smtClean="0"/>
          </a:p>
          <a:p>
            <a:r>
              <a:rPr lang="en-US" dirty="0" smtClean="0"/>
              <a:t>Cash flows</a:t>
            </a:r>
            <a:endParaRPr lang="en-MY" dirty="0"/>
          </a:p>
        </p:txBody>
      </p:sp>
      <p:sp>
        <p:nvSpPr>
          <p:cNvPr id="24" name="TextBox 23"/>
          <p:cNvSpPr txBox="1"/>
          <p:nvPr/>
        </p:nvSpPr>
        <p:spPr>
          <a:xfrm>
            <a:off x="1403648" y="4221088"/>
            <a:ext cx="6480720" cy="369332"/>
          </a:xfrm>
          <a:prstGeom prst="rect">
            <a:avLst/>
          </a:prstGeom>
          <a:noFill/>
        </p:spPr>
        <p:txBody>
          <a:bodyPr wrap="square" rtlCol="0">
            <a:spAutoFit/>
          </a:bodyPr>
          <a:lstStyle/>
          <a:p>
            <a:r>
              <a:rPr lang="en-US" dirty="0" smtClean="0"/>
              <a:t>0	 1	   2	      	       	19	     20</a:t>
            </a:r>
            <a:endParaRPr lang="en-MY" dirty="0"/>
          </a:p>
        </p:txBody>
      </p:sp>
      <p:sp>
        <p:nvSpPr>
          <p:cNvPr id="25" name="TextBox 24"/>
          <p:cNvSpPr txBox="1"/>
          <p:nvPr/>
        </p:nvSpPr>
        <p:spPr>
          <a:xfrm>
            <a:off x="1259632" y="5085184"/>
            <a:ext cx="6480720" cy="369332"/>
          </a:xfrm>
          <a:prstGeom prst="rect">
            <a:avLst/>
          </a:prstGeom>
          <a:noFill/>
        </p:spPr>
        <p:txBody>
          <a:bodyPr wrap="square" rtlCol="0">
            <a:spAutoFit/>
          </a:bodyPr>
          <a:lstStyle/>
          <a:p>
            <a:r>
              <a:rPr lang="en-US" dirty="0" smtClean="0"/>
              <a:t>-$100 	</a:t>
            </a:r>
            <a:endParaRPr lang="en-MY" dirty="0"/>
          </a:p>
        </p:txBody>
      </p:sp>
      <p:sp>
        <p:nvSpPr>
          <p:cNvPr id="16" name="TextBox 15"/>
          <p:cNvSpPr txBox="1"/>
          <p:nvPr/>
        </p:nvSpPr>
        <p:spPr>
          <a:xfrm>
            <a:off x="6444208" y="5085184"/>
            <a:ext cx="2520280" cy="923330"/>
          </a:xfrm>
          <a:prstGeom prst="rect">
            <a:avLst/>
          </a:prstGeom>
          <a:noFill/>
        </p:spPr>
        <p:txBody>
          <a:bodyPr wrap="square" rtlCol="0">
            <a:spAutoFit/>
          </a:bodyPr>
          <a:lstStyle/>
          <a:p>
            <a:r>
              <a:rPr lang="en-US" b="1" dirty="0" smtClean="0"/>
              <a:t>FV₂₀ =PV(1+I)ᶰ  </a:t>
            </a:r>
          </a:p>
          <a:p>
            <a:r>
              <a:rPr lang="en-US" b="1" dirty="0" smtClean="0"/>
              <a:t>         = $100 (1.025)²</a:t>
            </a:r>
            <a:r>
              <a:rPr lang="en-US" dirty="0" smtClean="0"/>
              <a:t>⁰</a:t>
            </a:r>
          </a:p>
          <a:p>
            <a:r>
              <a:rPr lang="en-US" dirty="0" smtClean="0"/>
              <a:t>         </a:t>
            </a:r>
            <a:r>
              <a:rPr lang="en-US" b="1" dirty="0" smtClean="0"/>
              <a:t>= $163.86 </a:t>
            </a:r>
            <a:endParaRPr lang="en-MY" b="1" dirty="0"/>
          </a:p>
        </p:txBody>
      </p:sp>
      <p:cxnSp>
        <p:nvCxnSpPr>
          <p:cNvPr id="22" name="Straight Arrow Connector 21"/>
          <p:cNvCxnSpPr/>
          <p:nvPr/>
        </p:nvCxnSpPr>
        <p:spPr>
          <a:xfrm>
            <a:off x="1979712" y="5301208"/>
            <a:ext cx="4464496" cy="0"/>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043608" y="5661248"/>
            <a:ext cx="2520280" cy="646331"/>
          </a:xfrm>
          <a:prstGeom prst="rect">
            <a:avLst/>
          </a:prstGeom>
          <a:noFill/>
        </p:spPr>
        <p:txBody>
          <a:bodyPr wrap="square" rtlCol="0">
            <a:spAutoFit/>
          </a:bodyPr>
          <a:lstStyle/>
          <a:p>
            <a:r>
              <a:rPr lang="en-US" dirty="0" smtClean="0"/>
              <a:t>PV due = $100 /(1.025)²⁰</a:t>
            </a:r>
          </a:p>
          <a:p>
            <a:r>
              <a:rPr lang="en-US" dirty="0" smtClean="0"/>
              <a:t>              = $61.03</a:t>
            </a:r>
            <a:endParaRPr lang="en-MY"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289451"/>
          </a:xfrm>
        </p:spPr>
        <p:txBody>
          <a:bodyPr/>
          <a:lstStyle/>
          <a:p>
            <a:r>
              <a:rPr lang="en-US" dirty="0" smtClean="0"/>
              <a:t>Here, we can find  </a:t>
            </a:r>
            <a:r>
              <a:rPr lang="en-US" b="1" dirty="0" smtClean="0"/>
              <a:t>the PV of $100 due </a:t>
            </a:r>
            <a:r>
              <a:rPr lang="en-US" dirty="0" smtClean="0"/>
              <a:t>after 10 years when the stated annual rate is 5%, with semiannual compounding. </a:t>
            </a:r>
          </a:p>
          <a:p>
            <a:pPr>
              <a:buNone/>
            </a:pPr>
            <a:r>
              <a:rPr lang="en-US" dirty="0" smtClean="0"/>
              <a:t>		PV of $100 due = $100/ (1.025)²⁰</a:t>
            </a:r>
          </a:p>
          <a:p>
            <a:pPr>
              <a:buNone/>
            </a:pPr>
            <a:r>
              <a:rPr lang="en-US" dirty="0" smtClean="0"/>
              <a:t>				         = $61.03</a:t>
            </a:r>
          </a:p>
          <a:p>
            <a:endParaRPr lang="en-US" dirty="0" smtClean="0"/>
          </a:p>
          <a:p>
            <a:r>
              <a:rPr lang="en-US" dirty="0" smtClean="0"/>
              <a:t>What if the interest given was compounded quarterly or monthly or daily?</a:t>
            </a:r>
          </a:p>
          <a:p>
            <a:endParaRPr lang="en-US" dirty="0" smtClean="0"/>
          </a:p>
          <a:p>
            <a:endParaRPr lang="en-MY"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US" b="1" dirty="0" smtClean="0"/>
              <a:t>Self-test Question</a:t>
            </a:r>
            <a:endParaRPr lang="en-MY" dirty="0"/>
          </a:p>
        </p:txBody>
      </p:sp>
      <p:sp>
        <p:nvSpPr>
          <p:cNvPr id="3" name="Content Placeholder 2"/>
          <p:cNvSpPr>
            <a:spLocks noGrp="1"/>
          </p:cNvSpPr>
          <p:nvPr>
            <p:ph idx="1"/>
          </p:nvPr>
        </p:nvSpPr>
        <p:spPr/>
        <p:txBody>
          <a:bodyPr/>
          <a:lstStyle/>
          <a:p>
            <a:r>
              <a:rPr lang="en-US" dirty="0" smtClean="0"/>
              <a:t>What is the present value of $100 due in three years if the appropriate interest rate is 8% compounded annually? Compounded monthly?</a:t>
            </a:r>
          </a:p>
          <a:p>
            <a:pPr>
              <a:buNone/>
            </a:pPr>
            <a:r>
              <a:rPr lang="en-US" dirty="0" smtClean="0"/>
              <a:t>	</a:t>
            </a:r>
            <a:r>
              <a:rPr lang="en-US" sz="2000" b="1" dirty="0" smtClean="0"/>
              <a:t>($79.38;   $78.73)</a:t>
            </a:r>
            <a:endParaRPr lang="en-MY" sz="20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a:solidFill>
            <a:schemeClr val="accent6">
              <a:lumMod val="60000"/>
              <a:lumOff val="40000"/>
            </a:schemeClr>
          </a:solidFill>
        </p:spPr>
        <p:txBody>
          <a:bodyPr>
            <a:normAutofit fontScale="90000"/>
          </a:bodyPr>
          <a:lstStyle/>
          <a:p>
            <a:r>
              <a:rPr lang="en-US" b="1" dirty="0" smtClean="0"/>
              <a:t/>
            </a:r>
            <a:br>
              <a:rPr lang="en-US" b="1" dirty="0" smtClean="0"/>
            </a:br>
            <a:r>
              <a:rPr lang="en-US" b="1" dirty="0" smtClean="0"/>
              <a:t>6-15: Comparing Interest Rates</a:t>
            </a:r>
            <a:r>
              <a:rPr lang="en-US" b="1" cap="all" dirty="0" smtClean="0"/>
              <a:t/>
            </a:r>
            <a:br>
              <a:rPr lang="en-US" b="1" cap="all" dirty="0" smtClean="0"/>
            </a:br>
            <a:endParaRPr lang="en-MY" dirty="0"/>
          </a:p>
        </p:txBody>
      </p:sp>
      <p:sp>
        <p:nvSpPr>
          <p:cNvPr id="3" name="Content Placeholder 2"/>
          <p:cNvSpPr>
            <a:spLocks noGrp="1"/>
          </p:cNvSpPr>
          <p:nvPr>
            <p:ph idx="1"/>
          </p:nvPr>
        </p:nvSpPr>
        <p:spPr>
          <a:xfrm>
            <a:off x="457200" y="1196752"/>
            <a:ext cx="8229600" cy="5472608"/>
          </a:xfrm>
        </p:spPr>
        <p:txBody>
          <a:bodyPr>
            <a:normAutofit lnSpcReduction="10000"/>
          </a:bodyPr>
          <a:lstStyle/>
          <a:p>
            <a:r>
              <a:rPr lang="en-US" sz="2800" dirty="0" smtClean="0"/>
              <a:t>Different compounding periods are used for different types of investments.</a:t>
            </a:r>
          </a:p>
          <a:p>
            <a:pPr>
              <a:buNone/>
            </a:pPr>
            <a:endParaRPr lang="en-US" sz="2800" dirty="0" smtClean="0"/>
          </a:p>
          <a:p>
            <a:r>
              <a:rPr lang="en-US" sz="2800" dirty="0" smtClean="0"/>
              <a:t>For example: </a:t>
            </a:r>
          </a:p>
          <a:p>
            <a:pPr lvl="1"/>
            <a:r>
              <a:rPr lang="en-US" sz="2400" dirty="0" smtClean="0"/>
              <a:t>bank account generally pay interest daily;</a:t>
            </a:r>
          </a:p>
          <a:p>
            <a:pPr lvl="1"/>
            <a:r>
              <a:rPr lang="en-US" sz="2400" dirty="0" smtClean="0"/>
              <a:t> most bonds pay interest semiannually, </a:t>
            </a:r>
          </a:p>
          <a:p>
            <a:pPr lvl="1"/>
            <a:r>
              <a:rPr lang="en-US" sz="2400" dirty="0" smtClean="0"/>
              <a:t>stocks pay dividends quarterly; and </a:t>
            </a:r>
          </a:p>
          <a:p>
            <a:pPr lvl="1"/>
            <a:r>
              <a:rPr lang="en-US" sz="2400" dirty="0" smtClean="0"/>
              <a:t>mortgages, auto loans and other instruments require monthly payments.</a:t>
            </a:r>
          </a:p>
          <a:p>
            <a:pPr lvl="1">
              <a:buNone/>
            </a:pPr>
            <a:endParaRPr lang="en-US" sz="2400" dirty="0" smtClean="0"/>
          </a:p>
          <a:p>
            <a:r>
              <a:rPr lang="en-US" sz="2800" dirty="0" smtClean="0"/>
              <a:t>If we are </a:t>
            </a:r>
            <a:r>
              <a:rPr lang="en-US" sz="2800" b="1" dirty="0" smtClean="0"/>
              <a:t>to compare </a:t>
            </a:r>
            <a:r>
              <a:rPr lang="en-US" sz="2800" dirty="0" smtClean="0"/>
              <a:t>investments or loans with different compounding periods properly, </a:t>
            </a:r>
            <a:r>
              <a:rPr lang="en-US" sz="2800" b="1" dirty="0" smtClean="0"/>
              <a:t>we need to put them on a common basis</a:t>
            </a:r>
          </a:p>
          <a:p>
            <a:pPr lvl="1">
              <a:buNone/>
            </a:pPr>
            <a:endParaRPr lang="en-US" sz="2400" dirty="0" smtClean="0"/>
          </a:p>
          <a:p>
            <a:pPr lvl="1">
              <a:buNone/>
            </a:pPr>
            <a:endParaRPr lang="en-MY" sz="24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760640"/>
          </a:xfrm>
        </p:spPr>
        <p:txBody>
          <a:bodyPr>
            <a:normAutofit lnSpcReduction="10000"/>
          </a:bodyPr>
          <a:lstStyle/>
          <a:p>
            <a:pPr>
              <a:buNone/>
            </a:pPr>
            <a:r>
              <a:rPr lang="en-US" sz="2800" dirty="0" smtClean="0"/>
              <a:t>Some terms to understand:</a:t>
            </a:r>
          </a:p>
          <a:p>
            <a:r>
              <a:rPr lang="en-US" sz="2400" dirty="0" smtClean="0"/>
              <a:t>The </a:t>
            </a:r>
            <a:r>
              <a:rPr lang="en-US" sz="2400" b="1" dirty="0" smtClean="0"/>
              <a:t>Nominal Interest Rate (INOM) </a:t>
            </a:r>
            <a:r>
              <a:rPr lang="en-US" sz="2400" dirty="0" smtClean="0"/>
              <a:t>also </a:t>
            </a:r>
            <a:r>
              <a:rPr lang="en-US" sz="2400" b="1" dirty="0" smtClean="0"/>
              <a:t>called Annual or Quoted or Stated  Percentage Rate (APR) </a:t>
            </a:r>
            <a:r>
              <a:rPr lang="en-US" sz="2400" dirty="0" smtClean="0"/>
              <a:t> </a:t>
            </a:r>
          </a:p>
          <a:p>
            <a:pPr lvl="1"/>
            <a:r>
              <a:rPr lang="en-US" sz="2400" dirty="0" smtClean="0"/>
              <a:t>is the rate that credit card companies, student loan officers, auto dealers tell you the rate of interest that they are charging you. </a:t>
            </a:r>
          </a:p>
          <a:p>
            <a:pPr lvl="1"/>
            <a:r>
              <a:rPr lang="en-US" sz="2400" dirty="0" smtClean="0"/>
              <a:t>If banks offer loans with a stated rate of 8% but one requires monthly payments and the other requires quarterly payments-</a:t>
            </a:r>
            <a:r>
              <a:rPr lang="en-US" sz="2400" dirty="0" smtClean="0">
                <a:sym typeface="Wingdings" pitchFamily="2" charset="2"/>
              </a:rPr>
              <a:t> </a:t>
            </a:r>
            <a:r>
              <a:rPr lang="en-US" sz="2400" b="1" dirty="0" smtClean="0">
                <a:sym typeface="Wingdings" pitchFamily="2" charset="2"/>
              </a:rPr>
              <a:t>they are not charging the same “true rate”.</a:t>
            </a:r>
          </a:p>
          <a:p>
            <a:pPr lvl="1"/>
            <a:r>
              <a:rPr lang="en-US" sz="2400" dirty="0" smtClean="0">
                <a:sym typeface="Wingdings" pitchFamily="2" charset="2"/>
              </a:rPr>
              <a:t>The one requires </a:t>
            </a:r>
            <a:r>
              <a:rPr lang="en-US" sz="2400" b="1" dirty="0" smtClean="0">
                <a:sym typeface="Wingdings" pitchFamily="2" charset="2"/>
              </a:rPr>
              <a:t>monthly payments is charging more </a:t>
            </a:r>
            <a:r>
              <a:rPr lang="en-US" sz="2400" dirty="0" smtClean="0">
                <a:sym typeface="Wingdings" pitchFamily="2" charset="2"/>
              </a:rPr>
              <a:t>than the one with quarterly payments </a:t>
            </a:r>
            <a:r>
              <a:rPr lang="en-US" sz="2400" b="1" dirty="0" smtClean="0">
                <a:sym typeface="Wingdings" pitchFamily="2" charset="2"/>
              </a:rPr>
              <a:t>because it will receive your money sooner.</a:t>
            </a:r>
          </a:p>
          <a:p>
            <a:pPr lvl="1"/>
            <a:r>
              <a:rPr lang="en-US" sz="2400" b="1" dirty="0" smtClean="0">
                <a:sym typeface="Wingdings" pitchFamily="2" charset="2"/>
              </a:rPr>
              <a:t>So, to compare the loans across lenders, you should calculate Effective Annual  Rates (EAR).</a:t>
            </a:r>
            <a:endParaRPr lang="en-MY" sz="2400" b="1"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a:bodyPr>
          <a:lstStyle/>
          <a:p>
            <a:r>
              <a:rPr lang="en-US" sz="2800" dirty="0" smtClean="0"/>
              <a:t>Effective Annual Rate (EFF%) is also called Equivalent Annual Rate (EAR) </a:t>
            </a:r>
          </a:p>
          <a:p>
            <a:pPr lvl="1"/>
            <a:r>
              <a:rPr lang="en-US" sz="2400" dirty="0" smtClean="0"/>
              <a:t>This is the rate that would produce the same FV under annual compounding or more frequent compounding at a given nominal rate.</a:t>
            </a:r>
          </a:p>
          <a:p>
            <a:pPr lvl="1">
              <a:buNone/>
            </a:pPr>
            <a:endParaRPr lang="en-US" sz="2400" dirty="0" smtClean="0"/>
          </a:p>
          <a:p>
            <a:r>
              <a:rPr lang="en-US" sz="2800" dirty="0" smtClean="0"/>
              <a:t>If a loan or an investment uses annual compounding, its nominal rate is also its effective rate.</a:t>
            </a:r>
          </a:p>
          <a:p>
            <a:pPr>
              <a:buNone/>
            </a:pPr>
            <a:endParaRPr lang="en-US" sz="2800" dirty="0" smtClean="0"/>
          </a:p>
          <a:p>
            <a:r>
              <a:rPr lang="en-US" sz="2800" dirty="0" smtClean="0"/>
              <a:t>If compounding occurs more than once a year, the EFF% or EAR is higher than I</a:t>
            </a:r>
            <a:r>
              <a:rPr lang="en-US" sz="1800" dirty="0" smtClean="0"/>
              <a:t>NOM.</a:t>
            </a:r>
          </a:p>
          <a:p>
            <a:pPr lvl="1">
              <a:buNone/>
            </a:pPr>
            <a:endParaRPr lang="en-US" dirty="0" smtClean="0"/>
          </a:p>
          <a:p>
            <a:pPr lvl="1">
              <a:buNone/>
            </a:pPr>
            <a:endParaRPr lang="en-MY"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fontScale="92500" lnSpcReduction="10000"/>
          </a:bodyPr>
          <a:lstStyle/>
          <a:p>
            <a:r>
              <a:rPr lang="en-US" sz="2400" dirty="0" smtClean="0"/>
              <a:t>Example:</a:t>
            </a:r>
          </a:p>
          <a:p>
            <a:pPr>
              <a:buNone/>
            </a:pPr>
            <a:r>
              <a:rPr lang="en-US" sz="2400" dirty="0" smtClean="0"/>
              <a:t>	Given a nominal rate of 10% with semiannual compounding. What is EFF% or EAR?</a:t>
            </a:r>
          </a:p>
          <a:p>
            <a:pPr>
              <a:buNone/>
            </a:pPr>
            <a:r>
              <a:rPr lang="en-US" sz="2400" dirty="0" smtClean="0"/>
              <a:t>			</a:t>
            </a:r>
          </a:p>
          <a:p>
            <a:pPr>
              <a:buNone/>
            </a:pPr>
            <a:r>
              <a:rPr lang="en-US" sz="2400" dirty="0" smtClean="0"/>
              <a:t>		</a:t>
            </a:r>
          </a:p>
          <a:p>
            <a:pPr>
              <a:buNone/>
            </a:pPr>
            <a:endParaRPr lang="en-US" sz="2400" dirty="0" smtClean="0"/>
          </a:p>
          <a:p>
            <a:pPr>
              <a:buNone/>
            </a:pPr>
            <a:r>
              <a:rPr lang="en-US" sz="2400" dirty="0" smtClean="0"/>
              <a:t>	</a:t>
            </a:r>
          </a:p>
          <a:p>
            <a:pPr>
              <a:buNone/>
            </a:pPr>
            <a:r>
              <a:rPr lang="en-US" sz="2400" dirty="0" smtClean="0"/>
              <a:t>	M = number of compounding per year </a:t>
            </a:r>
          </a:p>
          <a:p>
            <a:pPr>
              <a:buNone/>
            </a:pPr>
            <a:endParaRPr lang="en-US" sz="2400" dirty="0" smtClean="0"/>
          </a:p>
          <a:p>
            <a:pPr>
              <a:buNone/>
            </a:pPr>
            <a:r>
              <a:rPr lang="en-US" sz="2400" dirty="0" smtClean="0"/>
              <a:t>   EFF% =[ 1 + 0.10/2]² - 1 </a:t>
            </a:r>
          </a:p>
          <a:p>
            <a:pPr>
              <a:buNone/>
            </a:pPr>
            <a:r>
              <a:rPr lang="en-US" sz="2400" dirty="0" smtClean="0"/>
              <a:t>             = 0.1025</a:t>
            </a:r>
          </a:p>
          <a:p>
            <a:pPr>
              <a:buNone/>
            </a:pPr>
            <a:r>
              <a:rPr lang="en-US" sz="2400" dirty="0" smtClean="0"/>
              <a:t>             = </a:t>
            </a:r>
            <a:r>
              <a:rPr lang="en-US" sz="2400" b="1" dirty="0" smtClean="0"/>
              <a:t>10.25%  </a:t>
            </a:r>
          </a:p>
          <a:p>
            <a:pPr>
              <a:buNone/>
            </a:pPr>
            <a:endParaRPr lang="en-US" sz="2400" dirty="0" smtClean="0"/>
          </a:p>
          <a:p>
            <a:pPr>
              <a:buNone/>
            </a:pPr>
            <a:endParaRPr lang="en-US" sz="2400" dirty="0" smtClean="0"/>
          </a:p>
          <a:p>
            <a:pPr>
              <a:buNone/>
            </a:pPr>
            <a:r>
              <a:rPr lang="en-US" sz="2400" dirty="0" smtClean="0"/>
              <a:t>		</a:t>
            </a:r>
            <a:endParaRPr lang="en-US" sz="1800" dirty="0" smtClean="0"/>
          </a:p>
          <a:p>
            <a:pPr>
              <a:buNone/>
            </a:pPr>
            <a:endParaRPr lang="en-MY" sz="2400" dirty="0"/>
          </a:p>
        </p:txBody>
      </p:sp>
      <p:sp>
        <p:nvSpPr>
          <p:cNvPr id="9" name="TextBox 8"/>
          <p:cNvSpPr txBox="1"/>
          <p:nvPr/>
        </p:nvSpPr>
        <p:spPr>
          <a:xfrm>
            <a:off x="1763688" y="1916832"/>
            <a:ext cx="5760640" cy="1015663"/>
          </a:xfrm>
          <a:prstGeom prst="rect">
            <a:avLst/>
          </a:prstGeom>
          <a:solidFill>
            <a:srgbClr val="FFFF99"/>
          </a:solidFill>
          <a:ln w="38100">
            <a:solidFill>
              <a:srgbClr val="00B0F0"/>
            </a:solidFill>
          </a:ln>
        </p:spPr>
        <p:txBody>
          <a:bodyPr wrap="square" rtlCol="0">
            <a:spAutoFit/>
          </a:bodyPr>
          <a:lstStyle/>
          <a:p>
            <a:pPr algn="ctr"/>
            <a:endParaRPr lang="en-US" sz="2000" dirty="0" smtClean="0"/>
          </a:p>
          <a:p>
            <a:pPr algn="ctr"/>
            <a:r>
              <a:rPr lang="en-US" sz="2000" b="1" dirty="0" smtClean="0"/>
              <a:t>Effective Annual Rate (EFF%) = [ 1 + I</a:t>
            </a:r>
            <a:r>
              <a:rPr lang="en-US" sz="1400" b="1" dirty="0" smtClean="0"/>
              <a:t>NOM</a:t>
            </a:r>
            <a:r>
              <a:rPr lang="en-US" sz="2000" b="1" dirty="0" smtClean="0"/>
              <a:t> / M ]ᴹ  - 1 </a:t>
            </a:r>
          </a:p>
          <a:p>
            <a:r>
              <a:rPr lang="en-US" sz="2000" dirty="0" smtClean="0"/>
              <a:t>		                                       </a:t>
            </a:r>
            <a:endParaRPr lang="en-MY"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US" b="1" dirty="0" smtClean="0"/>
              <a:t>Self-test Question</a:t>
            </a:r>
            <a:endParaRPr lang="en-MY" dirty="0"/>
          </a:p>
        </p:txBody>
      </p:sp>
      <p:sp>
        <p:nvSpPr>
          <p:cNvPr id="3" name="Content Placeholder 2"/>
          <p:cNvSpPr>
            <a:spLocks noGrp="1"/>
          </p:cNvSpPr>
          <p:nvPr>
            <p:ph idx="1"/>
          </p:nvPr>
        </p:nvSpPr>
        <p:spPr/>
        <p:txBody>
          <a:bodyPr/>
          <a:lstStyle/>
          <a:p>
            <a:r>
              <a:rPr lang="en-US" dirty="0" smtClean="0"/>
              <a:t>By law, credit card issuers must print their annual percentage rate on their monthly statements. A common APR is 18% with interest paid monthly. What is the EFF% on such loan?</a:t>
            </a:r>
          </a:p>
          <a:p>
            <a:pPr>
              <a:buNone/>
            </a:pPr>
            <a:r>
              <a:rPr lang="en-US" dirty="0" smtClean="0"/>
              <a:t>	</a:t>
            </a:r>
            <a:r>
              <a:rPr lang="en-US" sz="2000" b="1" dirty="0" smtClean="0"/>
              <a:t>(19.56%)</a:t>
            </a:r>
            <a:endParaRPr lang="en-MY" sz="20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sp>
        <p:nvSpPr>
          <p:cNvPr id="3" name="Content Placeholder 2"/>
          <p:cNvSpPr>
            <a:spLocks noGrp="1"/>
          </p:cNvSpPr>
          <p:nvPr>
            <p:ph idx="1"/>
          </p:nvPr>
        </p:nvSpPr>
        <p:spPr/>
        <p:txBody>
          <a:bodyPr/>
          <a:lstStyle/>
          <a:p>
            <a:pPr>
              <a:buNone/>
            </a:pPr>
            <a:r>
              <a:rPr lang="en-US" dirty="0" smtClean="0"/>
              <a:t>Thank you…and prepare for quiz next week. </a:t>
            </a:r>
            <a:endParaRPr lang="en-MY"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2486</TotalTime>
  <Words>3509</Words>
  <Application>Microsoft Office PowerPoint</Application>
  <PresentationFormat>On-screen Show (4:3)</PresentationFormat>
  <Paragraphs>853</Paragraphs>
  <Slides>85</Slides>
  <Notes>1</Notes>
  <HiddenSlides>0</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Office Theme</vt:lpstr>
      <vt:lpstr>Chapter 6: Time Value of Money</vt:lpstr>
      <vt:lpstr>In Perspective</vt:lpstr>
      <vt:lpstr> 6-1:time Lines </vt:lpstr>
      <vt:lpstr>Slide 4</vt:lpstr>
      <vt:lpstr>Slide 5</vt:lpstr>
      <vt:lpstr> 6-2:Future Value </vt:lpstr>
      <vt:lpstr>6-2a: Step-by-Step Approach</vt:lpstr>
      <vt:lpstr>Slide 8</vt:lpstr>
      <vt:lpstr>6-2b: Formula Approach</vt:lpstr>
      <vt:lpstr>Quick-Question</vt:lpstr>
      <vt:lpstr>6-2c: Future Value – Using Tables Approach</vt:lpstr>
      <vt:lpstr>Slide 12</vt:lpstr>
      <vt:lpstr> 6-3:Present Value </vt:lpstr>
      <vt:lpstr>Slide 14</vt:lpstr>
      <vt:lpstr>Slide 15</vt:lpstr>
      <vt:lpstr>Slide 16</vt:lpstr>
      <vt:lpstr> 6-4: Finding the Interest Rate, I </vt:lpstr>
      <vt:lpstr>Self-test Question</vt:lpstr>
      <vt:lpstr> 6-5:Finding the Number of Years, N </vt:lpstr>
      <vt:lpstr>Slide 20</vt:lpstr>
      <vt:lpstr>Self-test question</vt:lpstr>
      <vt:lpstr>Answer (Self-test) for Question 1a:</vt:lpstr>
      <vt:lpstr>Answer (Self-test) for Question 1b:</vt:lpstr>
      <vt:lpstr> 6-6: ANNUITIES </vt:lpstr>
      <vt:lpstr>Slide 25</vt:lpstr>
      <vt:lpstr>Slide 26</vt:lpstr>
      <vt:lpstr>6-7: FUTURE VALUE OF AN ORDINARY ANNUITY</vt:lpstr>
      <vt:lpstr>Slide 28</vt:lpstr>
      <vt:lpstr>6-7b: Using formula to calculate FVAN</vt:lpstr>
      <vt:lpstr>Slide 30</vt:lpstr>
      <vt:lpstr>Slide 31</vt:lpstr>
      <vt:lpstr>Self-Test Question</vt:lpstr>
      <vt:lpstr>Answer (Self-test) for Question 1:</vt:lpstr>
      <vt:lpstr>Slide 34</vt:lpstr>
      <vt:lpstr>Slide 35</vt:lpstr>
      <vt:lpstr>Answer (Self-test) for Question 2:</vt:lpstr>
      <vt:lpstr>Slide 37</vt:lpstr>
      <vt:lpstr> 6-8: FUTURE VALUE OF AN ANNUITY DUE </vt:lpstr>
      <vt:lpstr>Slide 39</vt:lpstr>
      <vt:lpstr>Self-test Question</vt:lpstr>
      <vt:lpstr> 6-9:  PRESENT VALUE OF AN ORDINARY ANNUITY </vt:lpstr>
      <vt:lpstr>Slide 42</vt:lpstr>
      <vt:lpstr>Quick Question:</vt:lpstr>
      <vt:lpstr>Answer:</vt:lpstr>
      <vt:lpstr>Self-test Question</vt:lpstr>
      <vt:lpstr> 6-10: FINDING ANNUITY PAYMENTS, PERIODS, AND INTEREST RATES </vt:lpstr>
      <vt:lpstr>Slide 47</vt:lpstr>
      <vt:lpstr>6-10b: Finding the Number of Periods, N</vt:lpstr>
      <vt:lpstr>Slide 49</vt:lpstr>
      <vt:lpstr>Slide 50</vt:lpstr>
      <vt:lpstr>Slide 51</vt:lpstr>
      <vt:lpstr>Slide 52</vt:lpstr>
      <vt:lpstr>6-10c: Finding the Interest Rate, I</vt:lpstr>
      <vt:lpstr> To calculate interest rate (I) using trial and error method: </vt:lpstr>
      <vt:lpstr>Slide 55</vt:lpstr>
      <vt:lpstr>Slide 56</vt:lpstr>
      <vt:lpstr>To calculate interest rate  using interpolation method:</vt:lpstr>
      <vt:lpstr>Slide 58</vt:lpstr>
      <vt:lpstr>Self-test Question</vt:lpstr>
      <vt:lpstr>Answer to Self-test Question</vt:lpstr>
      <vt:lpstr> 6-11: Perpetuities </vt:lpstr>
      <vt:lpstr>Slide 62</vt:lpstr>
      <vt:lpstr>Slide 63</vt:lpstr>
      <vt:lpstr>Self-test Question</vt:lpstr>
      <vt:lpstr> 6-12: UNEVEN CASH FLOWS </vt:lpstr>
      <vt:lpstr>Slide 66</vt:lpstr>
      <vt:lpstr>Slide 67</vt:lpstr>
      <vt:lpstr>Slide 68</vt:lpstr>
      <vt:lpstr>Slide 69</vt:lpstr>
      <vt:lpstr>Self-test Question</vt:lpstr>
      <vt:lpstr> 6-13: FUTURE VALUE OF AN UNEVEN  CASH FLOW STREAM </vt:lpstr>
      <vt:lpstr>Slide 72</vt:lpstr>
      <vt:lpstr>Self-test Question</vt:lpstr>
      <vt:lpstr> 6-14:SEMIANNUAL AND OTHER  COMPOUNDING PERIODS </vt:lpstr>
      <vt:lpstr>Slide 75</vt:lpstr>
      <vt:lpstr>Slide 76</vt:lpstr>
      <vt:lpstr>Slide 77</vt:lpstr>
      <vt:lpstr>Slide 78</vt:lpstr>
      <vt:lpstr>Self-test Question</vt:lpstr>
      <vt:lpstr> 6-15: Comparing Interest Rates </vt:lpstr>
      <vt:lpstr>Slide 81</vt:lpstr>
      <vt:lpstr>Slide 82</vt:lpstr>
      <vt:lpstr>Slide 83</vt:lpstr>
      <vt:lpstr>Self-test Question</vt:lpstr>
      <vt:lpstr>Slide 85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Time Value of Money</dc:title>
  <dc:creator>Acer</dc:creator>
  <cp:lastModifiedBy>Acer</cp:lastModifiedBy>
  <cp:revision>357</cp:revision>
  <dcterms:created xsi:type="dcterms:W3CDTF">2013-10-20T20:20:57Z</dcterms:created>
  <dcterms:modified xsi:type="dcterms:W3CDTF">2014-10-27T03:06:42Z</dcterms:modified>
</cp:coreProperties>
</file>